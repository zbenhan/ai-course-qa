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mp4" ContentType="video/mp4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73840" autoAdjust="0"/>
  </p:normalViewPr>
  <p:slideViewPr>
    <p:cSldViewPr snapToGrid="0" snapToObjects="1">
      <p:cViewPr varScale="1">
        <p:scale>
          <a:sx n="53" d="100"/>
          <a:sy n="53" d="100"/>
        </p:scale>
        <p:origin x="1392" y="72"/>
      </p:cViewPr>
      <p:guideLst/>
    </p:cSldViewPr>
  </p:slideViewPr>
  <p:notesTextViewPr>
    <p:cViewPr>
      <p:scale>
        <a:sx n="1" d="1"/>
        <a:sy n="1" d="1"/>
      </p:scale>
      <p:origin x="0" y="-84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各位领导、各位同事，大家好！今天很高兴有机会和大家一起交流 AI。今天的主题是《分行批发业务 AI 赋能与行内外系统实战》。（开场白，语气轻松，可先和大家寒暄两句再进入正题。）</a:t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44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在正式开始之前，我想先请大家想一个问题：如果你手头的工作中，有一项可以提高效率或者效果，你最希望是哪一件？
每个人的答案可能都不一样。但这些事情有一个共同点：它们都是我们每天真实面对的工作。有些事情很耗时间，有些事情不断重复，还有一些事情需要我们花费大量精力去思考和判断。
过去，我们可能觉得这些事情就是工作的一部分。但是，随着 AI 的快速发展，我们是不是可以重新想一想：这些工作，有没有一种可能以另外一种方式完成？这就是今天我想和大家交流的主要问题，希望交流结束后能给大家解决这个问题的新思路。
【演讲提示】互动提问，收集一两个现场回答。引出今天主题：重新审视工作方式。</a:t>
            </a:r>
            <a:endParaRPr dirty="0"/>
          </a:p>
        </p:txBody>
      </p:sp>
      <p:sp>
        <p:nvSpPr>
          <p:cNvPr id="45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84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今天的交流主线是五件事</a:t>
            </a:r>
            <a:r>
              <a:rPr lang="en-US" dirty="0"/>
              <a:t>：
</a:t>
            </a:r>
            <a:r>
              <a:rPr lang="en-US" dirty="0" err="1"/>
              <a:t>第一，认知</a:t>
            </a:r>
            <a:r>
              <a:rPr lang="en-US" dirty="0"/>
              <a:t> AI——</a:t>
            </a:r>
            <a:r>
              <a:rPr lang="en-US" dirty="0" err="1"/>
              <a:t>大模型、能力地图与主流品牌，先建立共同底座</a:t>
            </a:r>
            <a:r>
              <a:rPr lang="en-US" dirty="0"/>
              <a:t>；
</a:t>
            </a:r>
            <a:r>
              <a:rPr lang="en-US" dirty="0" err="1"/>
              <a:t>第二，应用</a:t>
            </a:r>
            <a:r>
              <a:rPr lang="en-US" dirty="0"/>
              <a:t> AI——</a:t>
            </a:r>
            <a:r>
              <a:rPr lang="en-US" dirty="0" err="1"/>
              <a:t>五步法：说困扰、追问、判路径、人选择、人验证</a:t>
            </a:r>
            <a:r>
              <a:rPr lang="en-US" dirty="0"/>
              <a:t>；
</a:t>
            </a:r>
            <a:r>
              <a:rPr lang="en-US" dirty="0" err="1"/>
              <a:t>第三，应用边界</a:t>
            </a:r>
            <a:r>
              <a:rPr lang="en-US" dirty="0"/>
              <a:t>——</a:t>
            </a:r>
            <a:r>
              <a:rPr lang="en-US" dirty="0" err="1"/>
              <a:t>数据、事实、决策、系统四道边界</a:t>
            </a:r>
            <a:r>
              <a:rPr lang="en-US" dirty="0"/>
              <a:t>；
</a:t>
            </a:r>
            <a:r>
              <a:rPr lang="en-US" dirty="0" err="1"/>
              <a:t>第四，行内</a:t>
            </a:r>
            <a:r>
              <a:rPr lang="en-US" dirty="0"/>
              <a:t> AI </a:t>
            </a:r>
            <a:r>
              <a:rPr lang="en-US" dirty="0" err="1"/>
              <a:t>产品</a:t>
            </a:r>
            <a:r>
              <a:rPr lang="en-US" dirty="0"/>
              <a:t>——</a:t>
            </a:r>
            <a:r>
              <a:rPr lang="en-US" dirty="0" err="1"/>
              <a:t>在边界之内，用好“自己人</a:t>
            </a:r>
            <a:r>
              <a:rPr lang="en-US" dirty="0"/>
              <a:t>”；
</a:t>
            </a:r>
            <a:r>
              <a:rPr lang="en-US" dirty="0" err="1"/>
              <a:t>第五，实战进阶</a:t>
            </a:r>
            <a:r>
              <a:rPr lang="en-US" dirty="0"/>
              <a:t>——</a:t>
            </a:r>
            <a:r>
              <a:rPr lang="en-US" dirty="0" err="1"/>
              <a:t>从一步步指挥，到让</a:t>
            </a:r>
            <a:r>
              <a:rPr lang="en-US" dirty="0"/>
              <a:t> AI </a:t>
            </a:r>
            <a:r>
              <a:rPr lang="en-US" dirty="0" err="1"/>
              <a:t>自己规划和执行</a:t>
            </a:r>
            <a:r>
              <a:rPr lang="en-US" dirty="0"/>
              <a:t>。
</a:t>
            </a:r>
            <a:r>
              <a:rPr lang="en-US" dirty="0" err="1"/>
              <a:t>前面认知部分是铺垫，后面几部分真正解决我们自己的问题</a:t>
            </a:r>
            <a:r>
              <a:rPr lang="en-US" dirty="0"/>
              <a:t>。</a:t>
            </a:r>
            <a:endParaRPr dirty="0"/>
          </a:p>
        </p:txBody>
      </p:sp>
      <p:sp>
        <p:nvSpPr>
          <p:cNvPr id="85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备注占位符 110"/>
          <p:cNvSpPr>
            <a:spLocks noGrp="1"/>
          </p:cNvSpPr>
          <p:nvPr>
            <p:ph type="body"/>
          </p:nvPr>
        </p:nvSpPr>
        <p:spPr>
          <a:xfrm>
            <a:off x="0" y="0"/>
            <a:ext cx="177800" cy="444500"/>
          </a:xfrm>
        </p:spPr>
        <p:txBody>
          <a:bodyPr/>
          <a:lstStyle/>
          <a:p>
            <a:r>
              <a:rPr lang="en-US"/>
              <a:t>接下来进入第一部分：认知 AI。这部分内容都是公开可查的信息，目的是帮大家建立一个共同底座：大模型是什么、AI 的能力地图长什么样、主流品牌怎么选。有了这个底座，后面谈我们自己的问题才有共同语言。</a:t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114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我们先从大家最容易理解的通用/语言大模型（LLM）开始。很多人平时主要使用的就是这类模型。大家只需要把它理解成一个可以持续对话、理解文字、帮助我们整理和分析工作的伙伴。
最基础的用法有六类：问、改、总结、分析、生成、讨论。（对照表格逐行简讲：左栏是简单示例，右栏是进一步升级——比如“问”可以要求 AI 换一种方式解释并指出不确定之处；“总结”可以进一步提炼行动事项、风险和待确认问题；“讨论”可以让 AI 扮演不同角色进行反向质疑。）
【演讲提示】强调六类用法人人都能上手；重点在右栏的“升级”。</a:t>
            </a:r>
            <a:endParaRPr/>
          </a:p>
        </p:txBody>
      </p:sp>
      <p:sp>
        <p:nvSpPr>
          <p:cNvPr id="115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118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这里强调一点：Prompt 技巧不是今天的</a:t>
            </a:r>
            <a:r>
              <a:rPr lang="zh-CN" altLang="en-US" dirty="0"/>
              <a:t>重点要说的</a:t>
            </a:r>
            <a:r>
              <a:rPr lang="en-US" dirty="0"/>
              <a:t>。真正重要的习惯是：不要把 AI 当成一次性搜索框，而要把它当成一个可以反复讨论的工作伙伴。
很多时候第一版答案不重要，第二轮、第三轮对话才开始真正有价值。所以大家可以记住一个简单变化：从“给我一个答案”，变成“和我一起把事情做好”。
（现场案例：用 AI 协作完成一份报告，看多轮对话如何改变结果。）
【</a:t>
            </a:r>
            <a:r>
              <a:rPr lang="en-US" dirty="0" err="1"/>
              <a:t>演讲提示】Prompt</a:t>
            </a:r>
            <a:r>
              <a:rPr lang="en-US" dirty="0"/>
              <a:t> 技巧不是主角；反复讨论的习惯才是。</a:t>
            </a:r>
            <a:endParaRPr dirty="0"/>
          </a:p>
        </p:txBody>
      </p:sp>
      <p:sp>
        <p:nvSpPr>
          <p:cNvPr id="119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12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当我们会用文本 AI 以后，下一个问题自然出现：AI 难道就只是聊天吗？当然不是。
这张能力地图按三个维度展开：按模态与任务，有通用语言大模型、多模态大模型、代码大模型、多媒体生成大模型和 Agent 智能体模型；按应用范围，有行业垂直大模型和科学专业大模型；按开源状态，有闭源模型和开源模型。
（表格逐行带过即可，不必念代表模型全称，重点是让大家看到：AI 早已超出“聊天”这个范畴。）</a:t>
            </a:r>
            <a:endParaRPr/>
          </a:p>
        </p:txBody>
      </p:sp>
      <p:sp>
        <p:nvSpPr>
          <p:cNvPr id="123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126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这张能力地图背后，有两个最核心的行业事实。
第一，所有的“新模型”都是从大语言模型进化而来。语言是逻辑的载体，当科学家把全人类的文本喂给 LLM 后，它不仅学会了说话，更意外获得了人类严密的逻辑和推理能力。多模态大模型，就是给 LLM 装上眼睛和耳朵，让它能看懂财务报表扫描件、股权架构图；代码大模型，就是让 LLM 学会编程语法，自动写代码、做网页。
</a:t>
            </a:r>
            <a:r>
              <a:rPr lang="en-US" dirty="0" err="1"/>
              <a:t>第二，AI</a:t>
            </a:r>
            <a:r>
              <a:rPr lang="en-US" dirty="0"/>
              <a:t> 正在更多、更专业的领域全面开展工作：多媒体生成，输入文字几秒钟就能生成大师级视觉作品；</a:t>
            </a:r>
            <a:r>
              <a:rPr lang="zh-CN" altLang="en-US" dirty="0"/>
              <a:t>还有</a:t>
            </a:r>
            <a:r>
              <a:rPr lang="en-US" dirty="0"/>
              <a:t>做蛋白质结构预测，把科学家几十年的工作缩短到几分钟；在银行对公业务里，你只需给一个最终目标，它就能自主规划步骤、跨系统搜新闻、查天眼查、调行业报告，跑完一整个复杂工作流。</a:t>
            </a:r>
            <a:endParaRPr dirty="0"/>
          </a:p>
        </p:txBody>
      </p:sp>
      <p:sp>
        <p:nvSpPr>
          <p:cNvPr id="127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130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接下来看几个大家经常听到的词：Prompt、Token、MCP、Agent、Skill、插件、一人公司。先给大家吃一颗定心丸：这些词不用严格学，更不用背。因为 AI 的发展方向，恰恰是让这些复杂的东西越来越多由 AI 自己来处理。
我们只需要知道它们大致代表什么趋势：Prompt 是怎么把任务说清楚；Token 是 AI 读写文字的计量单位，决定容量、上下文和成本；MCP 代表“更容易连接”；Agent 代表 AI 从回答走向做事；Skill 代表经验可以沉淀；插件代表 AI 能动手；一人公司代表工作方式的变化。
一句话：名词可以不背，趋势要知道；操作可以简化，判断不能简化。</a:t>
            </a:r>
            <a:endParaRPr/>
          </a:p>
        </p:txBody>
      </p:sp>
      <p:sp>
        <p:nvSpPr>
          <p:cNvPr id="131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大家可以感受一下这个速度：人类从最早观察电、认识电，到真正把电变成驱动机器的动力，走过了两千多年；而 AI 从“会聊天”到“会规划、会调用工具、会自己推进任务”，只用了大概两年。AI 使用门槛的下降速度，可能远远超过我们过去习惯的技术普及速度。
可以这么说：AI 正在学会更好地“使用自己”——把模型能力、外部工具、知识资料、任务流程整合在一起，让用户用自然语言就能调动更多能力。
我们要做的不是背名词，而是学会提出好问题、说清目标、判断结果。Token 这类词也提醒我们：AI 不是无限记忆、无限成本——材料太长要分段，关键信息放前面，输出控制长度。</a:t>
            </a:r>
            <a:endParaRPr/>
          </a:p>
        </p:txBody>
      </p:sp>
      <p:sp>
        <p:nvSpPr>
          <p:cNvPr id="7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10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到了这里，我们再来看主流 AI 品牌。我今天不做排行榜，因为模型和产品变化非常快，今天的第一和明天的第一可能没有关系。我们只做一张“任务地图”，分两层：
第一层是文本大模型，更像“大脑”，负责理解、推理、写作、分析、总结、对话和多模态理解；
第二层是 AI 工具和 Agent 平台，更像“手脚”和“流水线”，负责把模型能力接到文件、表格、PPT、代码、网页和系统流程里。
所以大家不要问“哪个 AI 最强”，真正应该问的是：我现在要解决什么问题？谁更适合这件事？在国内还是国外？厂商是谁？能不能满足行内边界？</a:t>
            </a:r>
            <a:endParaRPr/>
          </a:p>
        </p:txBody>
      </p:sp>
      <p:sp>
        <p:nvSpPr>
          <p:cNvPr id="11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14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这是主流文本大模型地图，是任务视角，不是排名。
（按表格逐行介绍：国外的 ChatGPT 是综合型 AI 工作伙伴；Claude 擅长长文本、复杂任务与代码协作；Gemini 强于多模态与生态协同。国内的 DeepSeek 是高性价比推理与国产代表；通义千问是国产综合型模型与企业生态代表；豆包是大众化中文 AI 入口；Kimi 擅长长文档与资料研究；智谱 GLM 在 Agent 和工具调用方向；文心一言依托百度生态。）
提醒一句：模型和厂商归属变化很快，实际选择时以行内采购、部署环境和最新官方信息为准。</a:t>
            </a:r>
            <a:endParaRPr/>
          </a:p>
        </p:txBody>
      </p:sp>
      <p:sp>
        <p:nvSpPr>
          <p:cNvPr id="15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18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这是 AI 工具和 Agent 平台地图。WorkBuddy 偏办公任务执行，交付文档、表格、PPT、纪要；DeepSeek Harness 做 Agent 能力编排和多步骤任务；Trae 做软件开发与代码执行；Claude 任务协作做跨文件、跨应用的知识工作；扣子 Coze 用来创建可重复使用的智能体；Dify 设计和管理 AI 工作流；n8n 连接系统做自动化。
要注意，这些工具并不是互相排斥的类别，有的产品同时覆盖办公执行、Agent 编排和流程自动化。实际选择时应该看任务、运行环境、权限和需要交付的成果，而不是仅凭产品名称判断。</a:t>
            </a:r>
            <a:endParaRPr/>
          </a:p>
        </p:txBody>
      </p:sp>
      <p:sp>
        <p:nvSpPr>
          <p:cNvPr id="19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2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这张速查表把前面的地图落到具体任务上：写材料、做总结，优先 ChatGPT、Claude、DeepSeek 这类文本模型；读长文档、政策、合同，优先 Kimi、Claude 这类长文本能力强的；做文档、表格、PPT、会议纪要，用 WorkBuddy 这类办公执行工具；多步骤资料搜集和拜访准备，用 DeepSeek Harness、Claude 任务协作这类 Agent 编排工具；写代码用 Copilot、通义灵码这类 IDE 插件。
（右侧边界提醒带过：敏感信息需遵守行内数据要求；关键事实必须人工复核；授信、风险、合规等决策边界不能交给 AI。）</a:t>
            </a:r>
            <a:endParaRPr/>
          </a:p>
        </p:txBody>
      </p:sp>
      <p:sp>
        <p:nvSpPr>
          <p:cNvPr id="23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26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关于国外和国内 AI 的差距。普遍认为国内 AI 落后美国几个月。2026 年 4 月，美国财长贝森特在《华尔街日报》的一场活动上表示，美国在 AI 领域的领先优势只有大约 3 到 6 个月。现在已经过去 6 个月了，说不定我们已经追上了。
我个人的感受：我从去年 11 月开始使用 Trae 编程，它有国内、国外两个版本。早期国内版会遇到“死亡螺旋”——这是我自己叫法，就是 AI 写的代码有问题，改的时候找不准问题，就删了重写，不断删写，最后把项目改到没办法恢复。但今年年初以后，我再也没遇到这种情况。所以我觉得当时说 3 到 6 个月差距比较靠谱。
使用国外 AI 有两个门槛：一是访问门槛，国外主流 AI 服务在中国大陆无法直接访问，需要额外网络配置，这绝大多数情况下不被允许，也不应该被尝试；二是成本门槛，ChatGPT Plus、Claude Pro、Cursor Pro 都是每月 20 美元，而国内的通义千问、豆包、DeepSeek、智谱 GLM 等基础功能免费或明显更低，日常办公已经足够。有测评指出，国产大模型不仅能打，某些特定场景已经实现弯道超车。
一句话：不比品牌，比匹配，看需求。
【演讲提示】分享个人使用 Trae 国内外版本的感受：年初后国内版再未遇到“死亡螺旋”。</a:t>
            </a:r>
            <a:endParaRPr/>
          </a:p>
        </p:txBody>
      </p:sp>
      <p:sp>
        <p:nvSpPr>
          <p:cNvPr id="27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备注占位符 28"/>
          <p:cNvSpPr>
            <a:spLocks noGrp="1"/>
          </p:cNvSpPr>
          <p:nvPr>
            <p:ph type="body"/>
          </p:nvPr>
        </p:nvSpPr>
        <p:spPr>
          <a:xfrm>
            <a:off x="0" y="0"/>
            <a:ext cx="177800" cy="444500"/>
          </a:xfrm>
        </p:spPr>
        <p:txBody>
          <a:bodyPr/>
          <a:lstStyle/>
          <a:p>
            <a:r>
              <a:rPr lang="en-US"/>
              <a:t>以上都是从 AI 的角度说的，这些东西都能查到，尤其现在 AI 已经这么发达了，我这些内容也是这么来的。但 AI 再厉害，我们的问题得不到解决也没用。
接下来进入第二部分：应用 AI。我们换一个视角，从需求出发，好好探究一下 AI 到底该怎么用在我们的工作里，希望能给大家一些启发。</a:t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使用 AI 最大的误区，是让“习惯”掩盖了问题。现在请大家想自己的工作，不用想得很宏大，只回答三个问题：哪件事最耗时间？哪件事最重复？哪件事最需要动脑？
花一下午复制粘贴、人肉盯数字找变化、跨系统重复录入——这些从来不是“必须付出的体力”。很多工作不是简单的“做”，而是“不断重复地做、不断重新想”。很多问题不是不存在，而是我们已经习惯了；习惯以后，就不会觉得它值得被重新设计。
落入这三类的事，都先问一句：这件事，能不能换一种方式完成？重新审视我们工作的这一刻，我们真正开始进入 AI 赋能。</a:t>
            </a:r>
            <a:endParaRPr/>
          </a:p>
        </p:txBody>
      </p:sp>
      <p:sp>
        <p:nvSpPr>
          <p:cNvPr id="33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6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我们可能缺的不是工具，而是问题。如果问大家明天准备让 AI 帮你做什么，很多人可能答不上来。这里给大家一个可以直接用的五步法：
第一步，说困扰——把真实感受说出来，不要求完整，比如“最近销售数据不太对，但我说不清哪里不对”；
第二步，让 AI 追问——让它问清目标、范围、对象、约束与输出，比如看趋势还是找异常、按区域还是按产品、给谁看、哪些结论不能自动下；
第三步，判类型路径——让 AI 判断这是预测、诊断、决策还是生成类问题，给出可选路径；
第四步，人选路径——方向由我们确认，并补充 AI 不知道的行内背景约束；
第五步，执行与验证——AI 执行输出，人核实事实、判断风险。
核心一句话：不是等想清楚再用 AI，而是带着模糊问题进入对话，让 AI 帮你把问题问清楚。</a:t>
            </a:r>
          </a:p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以上是从人的视角梳理的问题解决</a:t>
            </a:r>
            <a:r>
              <a:rPr lang="zh-CN" alt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流程。在案例部分，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我们会结合具体项目，从项目推进的角度再完整走一遍，体会问题从模糊到清晰、再到落地的过程。</a:t>
            </a:r>
            <a:endParaRPr lang="en-US" dirty="0"/>
          </a:p>
        </p:txBody>
      </p:sp>
      <p:sp>
        <p:nvSpPr>
          <p:cNvPr id="37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40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AI 不替你拍板，而是帮你把答案想出来、试出来、验出来。它帮你完成三件事：帮你澄清问题，把模糊困扰变成清晰目标；帮你试路径，给出多个可选思路让你比较选择；帮你验证结论，提出反方意见、风险点和待核实事项。
</a:t>
            </a:r>
            <a:r>
              <a:rPr lang="en-US" dirty="0" err="1"/>
              <a:t>这里有五种可以直接用的提问方式</a:t>
            </a:r>
            <a:r>
              <a:rPr lang="en-US" dirty="0"/>
              <a:t>：
“</a:t>
            </a:r>
            <a:r>
              <a:rPr lang="en-US" dirty="0" err="1"/>
              <a:t>请你先访谈我，帮我把这个问题问清楚</a:t>
            </a:r>
            <a:r>
              <a:rPr lang="en-US" dirty="0"/>
              <a:t>。”
“</a:t>
            </a:r>
            <a:r>
              <a:rPr lang="en-US" dirty="0" err="1"/>
              <a:t>请判断这是哪类问题，给我两到三条可选路径</a:t>
            </a:r>
            <a:r>
              <a:rPr lang="en-US" dirty="0"/>
              <a:t>。”
“</a:t>
            </a:r>
            <a:r>
              <a:rPr lang="en-US" dirty="0" err="1"/>
              <a:t>请你扮演反方，质疑我这个判断</a:t>
            </a:r>
            <a:r>
              <a:rPr lang="en-US" dirty="0"/>
              <a:t>。”
“</a:t>
            </a:r>
            <a:r>
              <a:rPr lang="en-US" dirty="0" err="1"/>
              <a:t>请列出哪些是事实、哪些是假设、哪些需要核实</a:t>
            </a:r>
            <a:r>
              <a:rPr lang="en-US" dirty="0"/>
              <a:t>。”
“</a:t>
            </a:r>
            <a:r>
              <a:rPr lang="en-US" dirty="0" err="1"/>
              <a:t>请把结论整理成我可以自己判断的版本</a:t>
            </a:r>
            <a:r>
              <a:rPr lang="en-US" dirty="0"/>
              <a:t>。”
</a:t>
            </a:r>
            <a:r>
              <a:rPr lang="en-US" dirty="0" err="1"/>
              <a:t>记住：AI</a:t>
            </a:r>
            <a:r>
              <a:rPr lang="en-US" dirty="0"/>
              <a:t> </a:t>
            </a:r>
            <a:r>
              <a:rPr lang="en-US" dirty="0" err="1"/>
              <a:t>不是替你给答案</a:t>
            </a:r>
            <a:r>
              <a:rPr lang="en-US" dirty="0"/>
              <a:t>——</a:t>
            </a:r>
            <a:r>
              <a:rPr lang="en-US" dirty="0" err="1"/>
              <a:t>最终答案，仍然是你自己的</a:t>
            </a:r>
            <a:r>
              <a:rPr lang="en-US" dirty="0"/>
              <a:t>。</a:t>
            </a:r>
            <a:endParaRPr dirty="0"/>
          </a:p>
        </p:txBody>
      </p:sp>
      <p:sp>
        <p:nvSpPr>
          <p:cNvPr id="41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48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AI 可以引导拆解，但人必须守住三件事：
第一，提供真实背景——行内情况、历史沿革和真实约束，AI 都不知道；
第二，选择路径——AI 可以给多个方案，但选哪条路，要人来定；
第三，承担判断——事实核实、风险判断、合规边界、最终决策，不交给 AI。
一句话：AI 可以引导拆解，但拆解后的方向选择和价值判断，仍然在人。</a:t>
            </a:r>
            <a:endParaRPr/>
          </a:p>
        </p:txBody>
      </p:sp>
      <p:sp>
        <p:nvSpPr>
          <p:cNvPr id="49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5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看两个常见案例，都是从“帮我写”到“先帮我清楚”。
场景一，项目复盘：原来的任务是“帮我写项目复盘报告”；新方式是“我不确定复盘重点是什么，请先问我几个问题，帮我找到真正值得复盘的问题”。AI 会追问：项目目标与实际结果、关键节点与偏差原因、谁最关心复盘、复盘后要推动什么。
场景二，跨部门会议准备：原来的任务是“帮我准备跨部门会议材料”；新方式是“我不确定各方真正的分歧在哪，请帮我拆解各方诉求与冲突点”。AI 会梳理会议目标、参与方与各自立场、历史背景与不能碰的边界，产出议题清单、冲突点和沟通路径。
两个案例的共同点是：先让 AI 帮你想清楚，再让它帮你写出来。</a:t>
            </a:r>
            <a:endParaRPr/>
          </a:p>
        </p:txBody>
      </p:sp>
      <p:sp>
        <p:nvSpPr>
          <p:cNvPr id="53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56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这一部分的核心记忆点，大家只需要记住一句话：不要急着让 AI 帮你完成任务，先想清楚你真正要解决的问题是什么。因为：任务决定你让 AI 做什么；问题决定 AI 可以为你创造多大的价值。
整个路径是四步：发现问题——发现“习惯”掩盖的真问题；带着问题用 AI——进入对话，让 AI 问清楚；试和验——试路径、验证结论；人来决策——人选择、人判断、人决策。
不是先问“AI 能做什么”，而是先问：“我真正要解决的是什么？”带着问题，和 AI 一起，得到属于自己的答案。</a:t>
            </a:r>
            <a:endParaRPr/>
          </a:p>
        </p:txBody>
      </p:sp>
      <p:sp>
        <p:nvSpPr>
          <p:cNvPr id="57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备注占位符 58"/>
          <p:cNvSpPr>
            <a:spLocks noGrp="1"/>
          </p:cNvSpPr>
          <p:nvPr>
            <p:ph type="body"/>
          </p:nvPr>
        </p:nvSpPr>
        <p:spPr>
          <a:xfrm>
            <a:off x="0" y="0"/>
            <a:ext cx="177800" cy="444500"/>
          </a:xfrm>
        </p:spPr>
        <p:txBody>
          <a:bodyPr/>
          <a:lstStyle/>
          <a:p>
            <a:r>
              <a:rPr lang="en-US"/>
              <a:t>接下来是第三部分：应用边界。前面讲的是怎么把 AI 用起来，这一部分讲的是在银行场景里怎么用得安全。边界守不住，效率越高，风险越大。</a:t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6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这部分回到银行业务一个非常重要的问题：边界。银行场景一定要守住四条边界，各有分工：
第一，数据边界，是先决条件——敏感信息、客户信息、内部数据必须遵守行内要求，先确认能不能给，再考虑怎么给；
第二，事实边界，是质量要求——AI 可能产生错误、过时或推测内容，它可以帮我们找线索，但不能替我们证明事实；
第三，决策边界，是责任归属——授信、风险、合规、产品适用性等最终判断不能由 AI 承担，AI 负责辅助，人负责拍板；
第四，系统边界，是环境约束——具体能用哪些工具、哪些数据、哪些环境，以行内权限和办公环境要求为准。
所以今天不是鼓励大家“把所有数据都扔给 AI”，而是鼓励大家建立正确的问题解决方式。</a:t>
            </a:r>
            <a:endParaRPr/>
          </a:p>
        </p:txBody>
      </p:sp>
      <p:sp>
        <p:nvSpPr>
          <p:cNvPr id="63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66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数据边界展开说。需要特别注意的数据包括但不限于：客户身份信息、联系方式、账户信息；交易流水、授信材料、征信信息、合同文本；内部报告、风险分类、定价策略、审批意见；未公开的经营数据、系统截图、会议纪要；以及其他行内明确要求保护的数据。
使用原则三步走：先分类——这是公开信息、内部信息，还是敏感信息；再确认——行内是否允许使用这类工具、是否允许输入这类数据、是否需要脱敏或授权；后使用——坚持最小必要原则，能不输入就不输入，能脱敏就脱敏。
记住：行内要求优先于工具便利。</a:t>
            </a:r>
            <a:endParaRPr/>
          </a:p>
        </p:txBody>
      </p:sp>
      <p:sp>
        <p:nvSpPr>
          <p:cNvPr id="67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70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事实边界。AI 可能产生错误、过时或推测的内容，甚至编造看起来很像真的引用、数据和案例。
三个实用问法：“请区分哪些是事实、哪些是假设、哪些需要进一步核实”；“请标注每一条结论的来源”；“请列出判断中可能存在的反例和风险点”。
原则是：AI 找线索、做归纳、提假设；重要判断回到原始来源，关键事实必须由人来确认。</a:t>
            </a:r>
            <a:endParaRPr/>
          </a:p>
        </p:txBody>
      </p:sp>
      <p:sp>
        <p:nvSpPr>
          <p:cNvPr id="71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74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决策边界。这些事项的最终决策不能由 AI 承担：授信审批、客户准入、风险分类；合规判断、反洗钱判断、监管口径；产品适用性、定价策略、投资建议；合同签署、责任认定、最终对外承诺。
AI 内容只能作为参考，不能直接作为审批依据、合规结论或对外承诺。</a:t>
            </a:r>
            <a:endParaRPr/>
          </a:p>
        </p:txBody>
      </p:sp>
      <p:sp>
        <p:nvSpPr>
          <p:cNvPr id="75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78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系统边界。四件事，以行内为准：哪些 AI 工具在行内允许使用；哪些数据可以在什么环境下处理；哪些插件、Agent、MCP、外部平台允许接入；哪些操作需要审批、留痕或备案。
四条原则：行内允许用什么，就用什么；未经批准，不私自接入外部工具；不绕过权限，不把行内数据带出；不用个人账号、外部网盘、未授权 Agent 处理行内数据。
系统边界的目的：让创新在安全范围内发生。</a:t>
            </a:r>
            <a:endParaRPr/>
          </a:p>
        </p:txBody>
      </p:sp>
      <p:sp>
        <p:nvSpPr>
          <p:cNvPr id="79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备注占位符 80"/>
          <p:cNvSpPr>
            <a:spLocks noGrp="1"/>
          </p:cNvSpPr>
          <p:nvPr>
            <p:ph type="body"/>
          </p:nvPr>
        </p:nvSpPr>
        <p:spPr>
          <a:xfrm>
            <a:off x="0" y="0"/>
            <a:ext cx="177800" cy="444500"/>
          </a:xfrm>
        </p:spPr>
        <p:txBody>
          <a:bodyPr/>
          <a:lstStyle/>
          <a:p>
            <a:r>
              <a:rPr lang="en-US"/>
              <a:t>守住边界之后，大家自然会问：那我们在行内到底能用什么？下一部分介绍行内自己的 AI 产品——产品上树系统。在边界之内，用好“自己人”。</a:t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88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产品上树系统是面向对公客户经营和营销场景的行内 AI 助手，以行内外多源数据、标准化产品知识和大模型能力为基础，贯通客户分析、产品匹配、方案生成和营销应用。它把产品经理、行业专家积累的产品知识和业务经验结构化沉淀下来，结合企业实际经营情况形成分析结果。
目前主要有四个功能：一是综合金融服务报告，整合企业信息、经营财务、行业特征与合作情况，自动生成客户分析报告；二是产品介绍方案，按客户情况匹配行内产品，形成对客 PPT 素材；三是产品知识问答，用自然语言查询产品定位、准入条件、办理流程与核心优势；四是金融服务方案问答，结合已生成方案，回答产品推荐原因与产业链诉求。
使用上用本人域账号登录，可见的客户数据和功能范围以系统实际授权为准。（如安排现场演示，可打开系统走一遍“新增方案—上传材料—生成报告”的流程。）</a:t>
            </a:r>
            <a:endParaRPr/>
          </a:p>
        </p:txBody>
      </p:sp>
      <p:sp>
        <p:nvSpPr>
          <p:cNvPr id="89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9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报告有五个版本，按对象和场景选择：领导标准版，较完整展示企业、行业、财务、产品和风险分析，用于重点客户拜访、高层营销和综合研判；领导速览版，保留客户核心情况、主要结论和营销方向，适合领导会前快速阅览；客户经理标准版，完整客户分析、产品研判和营销准备，用于拜访准备、方案研究和后续跟进；客户经理速览版，提炼企业和产品关键信息，用于日常营销、现场沟通和快速查阅；PPT 素材版，包含企业画像、产业链、财务指标和产品推荐素材，直接用于制作对客 PPT 和综合营销材料。
特别提醒：系统生成内容主要作为业务辅助，不替代客户尽职调查、产品制度要求、业务准入审核和正式审批；涉及业务条件、价格、额度和政策的内容，以现行制度及审批结果为准；正式对客前应结合客户实际情况复核调整。</a:t>
            </a:r>
            <a:endParaRPr/>
          </a:p>
        </p:txBody>
      </p:sp>
      <p:sp>
        <p:nvSpPr>
          <p:cNvPr id="93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备注占位符 94"/>
          <p:cNvSpPr>
            <a:spLocks noGrp="1"/>
          </p:cNvSpPr>
          <p:nvPr>
            <p:ph type="body"/>
          </p:nvPr>
        </p:nvSpPr>
        <p:spPr>
          <a:xfrm>
            <a:off x="0" y="0"/>
            <a:ext cx="177800" cy="444500"/>
          </a:xfrm>
        </p:spPr>
        <p:txBody>
          <a:bodyPr/>
          <a:lstStyle/>
          <a:p>
            <a:r>
              <a:rPr lang="en-US"/>
              <a:t>最后一部分，实战进阶。前面讲了怎么发现问题、怎么重新定义问题、怎么守住边界，现在看一个最实际的问题：怎么让 AI 帮我们把事情真正做出来——从一步步指挥 AI，到让 AI 自己规划和执行。</a:t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98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先回想我们平时怎么用 AI：准备一次陌生客户拜访，我们告诉它第一步做什么、第二步做什么，根据结果决定下一步——这是人在控制流程，AI 完成每个步骤。这种方式实用，但任务复杂时，我们仍需自己设计和管理整个工作流程。
现在有另一种方式：只告诉它目标——“我明天要拜访这家企业，请帮我在有限时间内了解这家企业、分析所在行业、寻找业务机会、整理需要核实的问题，形成一份可以直接用于拜访准备的材料”——让 AI 自己规划步骤、调用工具、检查结果。我们的角色从“指挥每一步”变成“说清目标、提出意见、调整方向”。这就是 Agent 能力带来的变化。
分享三个实际案例：案例一，VBA 统计表格数据——重复性表格统计工作，用自然语言描述需求，AI 自动生成脚本，原本反复手动的操作一秒完成；案例二，WorkBuddy 音视频转文字——把会议录音、视频交给 AI，自动转写并整理成可编辑的文字纪要；案例三，Trae 网站开发——只描述想要的网站，AI 理解任务、规划页面、编写代码，交付一个可以运行的网站原型。
三个案例均以现场演示为准。（演示时引导大家观察：AI 如何理解任务、规划步骤、调用能力，最终形成可用成果。）</a:t>
            </a:r>
            <a:endParaRPr/>
          </a:p>
        </p:txBody>
      </p:sp>
      <p:sp>
        <p:nvSpPr>
          <p:cNvPr id="99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10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最后，我们回到开场。请大家再看一眼刚才想到的那件事。今天我们先从 AI 开始，是为了最后不再从 AI 开始。我们先认识 AI、看懂 AI 能做什么；但真正有价值的下一步，是回到自己的工作，找到一个真实问题，再决定 AI 应该参与哪里。
今天大家带走四样东西：一张地图——知道 AI 大致有哪些能力，主要品牌分别适合什么任务；一个框架——发现问题、重新定义问题、AI 参与解决、人验证与决策；一个问题——我当前工作中，哪一件最耗时间、最重复、最需要动脑；一个行动——明天选一个真实问题，用 AI 完整做一次“拆解—讨论—迭代—输出”。
如果明天大家只做一件事，我建议不要去下载十个 AI，只挑一个真实问题，先问清楚：我真正要解决的是什么？然后让 AI 参与进来。做完之后，你会有属于自己的答案。</a:t>
            </a:r>
            <a:endParaRPr/>
          </a:p>
        </p:txBody>
      </p:sp>
      <p:sp>
        <p:nvSpPr>
          <p:cNvPr id="103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106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临走前，请记住这四句话，它们就是四道边界：
数据边界——先确认能不能给，再考虑怎么给；
事实边界——AI 可以找线索，但不能替我们证明事实；
决策边界——AI 负责辅助，人负责拍板；
系统边界——行内允许用什么，就用什么。
最后分享我的理解：AI 好比一架飞机，如果没有特别要求，没必要沿着铁轨或者公路飞，它会自动驾驶。我们是领航员，最应该做好的是：弄清楚从哪起飞，要飞到哪。</a:t>
            </a:r>
            <a:endParaRPr/>
          </a:p>
        </p:txBody>
      </p:sp>
      <p:sp>
        <p:nvSpPr>
          <p:cNvPr id="107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备注占位符 108"/>
          <p:cNvSpPr>
            <a:spLocks noGrp="1"/>
          </p:cNvSpPr>
          <p:nvPr>
            <p:ph type="body"/>
          </p:nvPr>
        </p:nvSpPr>
        <p:spPr>
          <a:xfrm>
            <a:off x="0" y="0"/>
            <a:ext cx="177800" cy="444500"/>
          </a:xfrm>
        </p:spPr>
        <p:txBody>
          <a:bodyPr/>
          <a:lstStyle/>
          <a:p>
            <a:r>
              <a:rPr lang="en-US" dirty="0"/>
              <a:t>谢谢大家！
（留时间给现场提问交流。补充说明：今天的分享课程制作使用了 ChatGPT、Gemini、DeepSeek，案例使用了 </a:t>
            </a:r>
            <a:r>
              <a:rPr lang="en-US" dirty="0" err="1"/>
              <a:t>WorkBuddy、DeepSeek</a:t>
            </a:r>
            <a:r>
              <a:rPr lang="en-US" dirty="0"/>
              <a:t> </a:t>
            </a:r>
            <a:r>
              <a:rPr lang="en-US" dirty="0" err="1"/>
              <a:t>Harness、Trae</a:t>
            </a:r>
            <a:r>
              <a:rPr lang="en-US" dirty="0"/>
              <a:t>——这次备课本身，就是一次 AI 赋能的实践。）</a:t>
            </a:r>
            <a:endParaRPr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1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5" Type="http://schemas.openxmlformats.org/officeDocument/2006/relationships/image" Target="../media/image1.png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1f076ef6-animation_v2_titled_4s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4000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/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7"/>
            </p:seq>
            <p:video>
              <p:cMediaNode vol="80000">
                <p:cTn id="8" repeatCount="indefinite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  <p:seq concurrent="1" nextAc="seek">
              <p:cTn id="9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onEnd" delay="0">
                  <p:rtn val="all"/>
                </p:endSync>
                <p:childTnLst>
                  <p:par>
                    <p:cTn id="10" fill="hold">
                      <p:stCondLst>
                        <p:cond delay="0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3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Shape 0"/>
          <p:cNvSpPr/>
          <p:nvPr/>
        </p:nvSpPr>
        <p:spPr>
          <a:xfrm>
            <a:off x="640080" y="457200"/>
            <a:ext cx="82296" cy="219456"/>
          </a:xfrm>
          <a:prstGeom prst="rect">
            <a:avLst/>
          </a:prstGeom>
          <a:solidFill>
            <a:srgbClr val="1E5AA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46" name="Text 1"/>
          <p:cNvSpPr/>
          <p:nvPr/>
        </p:nvSpPr>
        <p:spPr>
          <a:xfrm>
            <a:off x="804672" y="42976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1E5AA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开场 · OPENING</a:t>
            </a:r>
            <a:endParaRPr lang="en-US" sz="1050" dirty="0"/>
          </a:p>
        </p:txBody>
      </p:sp>
      <p:sp>
        <p:nvSpPr>
          <p:cNvPr id="247" name="Text 2"/>
          <p:cNvSpPr/>
          <p:nvPr/>
        </p:nvSpPr>
        <p:spPr>
          <a:xfrm>
            <a:off x="640080" y="792000"/>
            <a:ext cx="1091153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先想一个问题：哪件工作，你最想换一种做法？</a:t>
            </a:r>
            <a:endParaRPr lang="en-US" sz="2200" dirty="0"/>
          </a:p>
        </p:txBody>
      </p:sp>
      <p:sp>
        <p:nvSpPr>
          <p:cNvPr id="248" name="Shape 3"/>
          <p:cNvSpPr/>
          <p:nvPr/>
        </p:nvSpPr>
        <p:spPr>
          <a:xfrm>
            <a:off x="640080" y="1298448"/>
            <a:ext cx="10911535" cy="0"/>
          </a:xfrm>
          <a:prstGeom prst="line">
            <a:avLst/>
          </a:prstGeom>
          <a:noFill/>
          <a:ln w="9525">
            <a:solidFill>
              <a:srgbClr val="D9DFE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9" name="Shape 4"/>
          <p:cNvSpPr/>
          <p:nvPr/>
        </p:nvSpPr>
        <p:spPr>
          <a:xfrm>
            <a:off x="640080" y="1298448"/>
            <a:ext cx="1280160" cy="0"/>
          </a:xfrm>
          <a:prstGeom prst="line">
            <a:avLst/>
          </a:prstGeom>
          <a:noFill/>
          <a:ln w="28575">
            <a:solidFill>
              <a:srgbClr val="1E5AA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0" name="Shape 5"/>
          <p:cNvSpPr/>
          <p:nvPr/>
        </p:nvSpPr>
        <p:spPr>
          <a:xfrm>
            <a:off x="640080" y="6455664"/>
            <a:ext cx="10911535" cy="0"/>
          </a:xfrm>
          <a:prstGeom prst="line">
            <a:avLst/>
          </a:prstGeom>
          <a:noFill/>
          <a:ln w="7620">
            <a:solidFill>
              <a:srgbClr val="D9DFE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1" name="Text 6"/>
          <p:cNvSpPr/>
          <p:nvPr/>
        </p:nvSpPr>
        <p:spPr>
          <a:xfrm>
            <a:off x="640080" y="651052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8A94A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分行批发业务 AI 赋能与行内外系统实战</a:t>
            </a:r>
            <a:endParaRPr lang="en-US" sz="800" dirty="0"/>
          </a:p>
        </p:txBody>
      </p:sp>
      <p:sp>
        <p:nvSpPr>
          <p:cNvPr id="252" name="Text 7"/>
          <p:cNvSpPr/>
          <p:nvPr/>
        </p:nvSpPr>
        <p:spPr>
          <a:xfrm>
            <a:off x="11109960" y="6492240"/>
            <a:ext cx="438912" cy="237744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8A94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  <p:sp>
        <p:nvSpPr>
          <p:cNvPr id="253" name="Text 8"/>
          <p:cNvSpPr/>
          <p:nvPr/>
        </p:nvSpPr>
        <p:spPr>
          <a:xfrm>
            <a:off x="640080" y="1527048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5C67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每个人的答案不同，但这些事有一个共同点——它们都是我们每天真实面对的工作。</a:t>
            </a:r>
            <a:endParaRPr lang="en-US" sz="2000" dirty="0"/>
          </a:p>
        </p:txBody>
      </p:sp>
      <p:sp>
        <p:nvSpPr>
          <p:cNvPr id="254" name="Shape 9"/>
          <p:cNvSpPr/>
          <p:nvPr/>
        </p:nvSpPr>
        <p:spPr>
          <a:xfrm>
            <a:off x="640080" y="2331720"/>
            <a:ext cx="3502152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9525">
            <a:solidFill>
              <a:srgbClr val="D9DFE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5" name="Shape 10"/>
          <p:cNvSpPr/>
          <p:nvPr/>
        </p:nvSpPr>
        <p:spPr>
          <a:xfrm>
            <a:off x="640080" y="2331720"/>
            <a:ext cx="3502152" cy="109728"/>
          </a:xfrm>
          <a:prstGeom prst="rect">
            <a:avLst/>
          </a:prstGeom>
          <a:solidFill>
            <a:srgbClr val="1E5AA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56" name="Shape 11"/>
          <p:cNvSpPr/>
          <p:nvPr/>
        </p:nvSpPr>
        <p:spPr>
          <a:xfrm>
            <a:off x="932688" y="2697480"/>
            <a:ext cx="457200" cy="457200"/>
          </a:xfrm>
          <a:prstGeom prst="ellipse">
            <a:avLst/>
          </a:prstGeom>
          <a:solidFill>
            <a:srgbClr val="1E5AA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57" name="Text 12"/>
          <p:cNvSpPr/>
          <p:nvPr/>
        </p:nvSpPr>
        <p:spPr>
          <a:xfrm>
            <a:off x="932688" y="2697480"/>
            <a:ext cx="457200" cy="457200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258" name="Text 13"/>
          <p:cNvSpPr/>
          <p:nvPr/>
        </p:nvSpPr>
        <p:spPr>
          <a:xfrm>
            <a:off x="1554480" y="274320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很耗时间</a:t>
            </a:r>
            <a:endParaRPr lang="en-US" sz="1700" dirty="0"/>
          </a:p>
        </p:txBody>
      </p:sp>
      <p:sp>
        <p:nvSpPr>
          <p:cNvPr id="259" name="Text 14"/>
          <p:cNvSpPr/>
          <p:nvPr/>
        </p:nvSpPr>
        <p:spPr>
          <a:xfrm>
            <a:off x="932688" y="3429000"/>
            <a:ext cx="2926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5C67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找资料、汇总数据、写报告、准备汇报，半天就过去了</a:t>
            </a:r>
            <a:endParaRPr lang="en-US" sz="1150" dirty="0"/>
          </a:p>
        </p:txBody>
      </p:sp>
      <p:sp>
        <p:nvSpPr>
          <p:cNvPr id="260" name="Shape 15"/>
          <p:cNvSpPr/>
          <p:nvPr/>
        </p:nvSpPr>
        <p:spPr>
          <a:xfrm>
            <a:off x="4343400" y="2331720"/>
            <a:ext cx="3502152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9525">
            <a:solidFill>
              <a:srgbClr val="D9DFE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1" name="Shape 16"/>
          <p:cNvSpPr/>
          <p:nvPr/>
        </p:nvSpPr>
        <p:spPr>
          <a:xfrm>
            <a:off x="4343400" y="2331720"/>
            <a:ext cx="3502152" cy="109728"/>
          </a:xfrm>
          <a:prstGeom prst="rect">
            <a:avLst/>
          </a:prstGeom>
          <a:solidFill>
            <a:srgbClr val="B78A3E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62" name="Shape 17"/>
          <p:cNvSpPr/>
          <p:nvPr/>
        </p:nvSpPr>
        <p:spPr>
          <a:xfrm>
            <a:off x="4636008" y="2697480"/>
            <a:ext cx="457200" cy="457200"/>
          </a:xfrm>
          <a:prstGeom prst="ellipse">
            <a:avLst/>
          </a:prstGeom>
          <a:solidFill>
            <a:srgbClr val="B78A3E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63" name="Text 18"/>
          <p:cNvSpPr/>
          <p:nvPr/>
        </p:nvSpPr>
        <p:spPr>
          <a:xfrm>
            <a:off x="4636008" y="2697480"/>
            <a:ext cx="457200" cy="457200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264" name="Text 19"/>
          <p:cNvSpPr/>
          <p:nvPr/>
        </p:nvSpPr>
        <p:spPr>
          <a:xfrm>
            <a:off x="5257800" y="274320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不断重复</a:t>
            </a:r>
            <a:endParaRPr lang="en-US" sz="1700" dirty="0"/>
          </a:p>
        </p:txBody>
      </p:sp>
      <p:sp>
        <p:nvSpPr>
          <p:cNvPr id="265" name="Text 20"/>
          <p:cNvSpPr/>
          <p:nvPr/>
        </p:nvSpPr>
        <p:spPr>
          <a:xfrm>
            <a:off x="4636008" y="3429000"/>
            <a:ext cx="2926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5C67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同类任务反复做、同样格式反复调、跨系统重复录入</a:t>
            </a:r>
            <a:endParaRPr lang="en-US" sz="1150" dirty="0"/>
          </a:p>
        </p:txBody>
      </p:sp>
      <p:sp>
        <p:nvSpPr>
          <p:cNvPr id="266" name="Shape 21"/>
          <p:cNvSpPr/>
          <p:nvPr/>
        </p:nvSpPr>
        <p:spPr>
          <a:xfrm>
            <a:off x="8046720" y="2331720"/>
            <a:ext cx="3502152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9525">
            <a:solidFill>
              <a:srgbClr val="D9DFE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7" name="Shape 22"/>
          <p:cNvSpPr/>
          <p:nvPr/>
        </p:nvSpPr>
        <p:spPr>
          <a:xfrm>
            <a:off x="8046720" y="2331720"/>
            <a:ext cx="3502152" cy="109728"/>
          </a:xfrm>
          <a:prstGeom prst="rect">
            <a:avLst/>
          </a:prstGeom>
          <a:solidFill>
            <a:srgbClr val="2E7D6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68" name="Shape 23"/>
          <p:cNvSpPr/>
          <p:nvPr/>
        </p:nvSpPr>
        <p:spPr>
          <a:xfrm>
            <a:off x="8339328" y="2697480"/>
            <a:ext cx="457200" cy="457200"/>
          </a:xfrm>
          <a:prstGeom prst="ellipse">
            <a:avLst/>
          </a:prstGeom>
          <a:solidFill>
            <a:srgbClr val="2E7D6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69" name="Text 24"/>
          <p:cNvSpPr/>
          <p:nvPr/>
        </p:nvSpPr>
        <p:spPr>
          <a:xfrm>
            <a:off x="8339328" y="2697480"/>
            <a:ext cx="457200" cy="457200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270" name="Text 25"/>
          <p:cNvSpPr/>
          <p:nvPr/>
        </p:nvSpPr>
        <p:spPr>
          <a:xfrm>
            <a:off x="8961120" y="274320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需要思考判断</a:t>
            </a:r>
            <a:endParaRPr lang="en-US" sz="1700" dirty="0"/>
          </a:p>
        </p:txBody>
      </p:sp>
      <p:sp>
        <p:nvSpPr>
          <p:cNvPr id="271" name="Text 26"/>
          <p:cNvSpPr/>
          <p:nvPr/>
        </p:nvSpPr>
        <p:spPr>
          <a:xfrm>
            <a:off x="8339328" y="3429000"/>
            <a:ext cx="2926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5C67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分析原因、判断优先级、形成结论、设计方案与取舍</a:t>
            </a:r>
            <a:endParaRPr lang="en-US" sz="1150" dirty="0"/>
          </a:p>
        </p:txBody>
      </p:sp>
      <p:sp>
        <p:nvSpPr>
          <p:cNvPr id="272" name="Shape 27"/>
          <p:cNvSpPr/>
          <p:nvPr/>
        </p:nvSpPr>
        <p:spPr>
          <a:xfrm>
            <a:off x="640080" y="5166360"/>
            <a:ext cx="10911535" cy="868680"/>
          </a:xfrm>
          <a:prstGeom prst="rect">
            <a:avLst/>
          </a:prstGeom>
          <a:solidFill>
            <a:srgbClr val="10345E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73" name="Shape 28"/>
          <p:cNvSpPr/>
          <p:nvPr/>
        </p:nvSpPr>
        <p:spPr>
          <a:xfrm>
            <a:off x="640080" y="5166360"/>
            <a:ext cx="73152" cy="868680"/>
          </a:xfrm>
          <a:prstGeom prst="rect">
            <a:avLst/>
          </a:prstGeom>
          <a:solidFill>
            <a:srgbClr val="B78A3E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74" name="Text 29"/>
          <p:cNvSpPr/>
          <p:nvPr/>
        </p:nvSpPr>
        <p:spPr>
          <a:xfrm>
            <a:off x="896112" y="5166360"/>
            <a:ext cx="1045433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时代真正的问题：这些工作，有没有一种可能，以另外一种方式完成？</a:t>
            </a: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Shape 0"/>
          <p:cNvSpPr/>
          <p:nvPr/>
        </p:nvSpPr>
        <p:spPr>
          <a:xfrm>
            <a:off x="640080" y="457200"/>
            <a:ext cx="82296" cy="219456"/>
          </a:xfrm>
          <a:prstGeom prst="rect">
            <a:avLst/>
          </a:prstGeom>
          <a:solidFill>
            <a:srgbClr val="1E5AA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57" name="Text 1"/>
          <p:cNvSpPr/>
          <p:nvPr/>
        </p:nvSpPr>
        <p:spPr>
          <a:xfrm>
            <a:off x="804672" y="42976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1E5AA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目录 · AGENDA</a:t>
            </a:r>
            <a:endParaRPr lang="en-US" sz="1050" dirty="0"/>
          </a:p>
        </p:txBody>
      </p:sp>
      <p:sp>
        <p:nvSpPr>
          <p:cNvPr id="558" name="Text 2"/>
          <p:cNvSpPr/>
          <p:nvPr/>
        </p:nvSpPr>
        <p:spPr>
          <a:xfrm>
            <a:off x="640080" y="792000"/>
            <a:ext cx="1091153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今天的交流主线：五件事</a:t>
            </a:r>
            <a:endParaRPr lang="en-US" sz="2200" dirty="0"/>
          </a:p>
        </p:txBody>
      </p:sp>
      <p:sp>
        <p:nvSpPr>
          <p:cNvPr id="559" name="Shape 3"/>
          <p:cNvSpPr/>
          <p:nvPr/>
        </p:nvSpPr>
        <p:spPr>
          <a:xfrm>
            <a:off x="640080" y="1298448"/>
            <a:ext cx="10911535" cy="0"/>
          </a:xfrm>
          <a:prstGeom prst="line">
            <a:avLst/>
          </a:prstGeom>
          <a:noFill/>
          <a:ln w="9525">
            <a:solidFill>
              <a:srgbClr val="D9DFE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60" name="Shape 4"/>
          <p:cNvSpPr/>
          <p:nvPr/>
        </p:nvSpPr>
        <p:spPr>
          <a:xfrm>
            <a:off x="640080" y="1298448"/>
            <a:ext cx="1280160" cy="0"/>
          </a:xfrm>
          <a:prstGeom prst="line">
            <a:avLst/>
          </a:prstGeom>
          <a:noFill/>
          <a:ln w="28575">
            <a:solidFill>
              <a:srgbClr val="1E5AA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61" name="Shape 5"/>
          <p:cNvSpPr/>
          <p:nvPr/>
        </p:nvSpPr>
        <p:spPr>
          <a:xfrm>
            <a:off x="640080" y="6455664"/>
            <a:ext cx="10911535" cy="0"/>
          </a:xfrm>
          <a:prstGeom prst="line">
            <a:avLst/>
          </a:prstGeom>
          <a:noFill/>
          <a:ln w="7620">
            <a:solidFill>
              <a:srgbClr val="D9DFE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62" name="Text 6"/>
          <p:cNvSpPr/>
          <p:nvPr/>
        </p:nvSpPr>
        <p:spPr>
          <a:xfrm>
            <a:off x="640080" y="651052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8A94A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分行批发业务 AI 赋能与行内外系统实战</a:t>
            </a:r>
            <a:endParaRPr lang="en-US" sz="800" dirty="0"/>
          </a:p>
        </p:txBody>
      </p:sp>
      <p:sp>
        <p:nvSpPr>
          <p:cNvPr id="563" name="Text 7"/>
          <p:cNvSpPr/>
          <p:nvPr/>
        </p:nvSpPr>
        <p:spPr>
          <a:xfrm>
            <a:off x="11109960" y="6492240"/>
            <a:ext cx="438912" cy="237744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8A94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  <p:sp>
        <p:nvSpPr>
          <p:cNvPr id="564" name="Shape 8"/>
          <p:cNvSpPr/>
          <p:nvPr/>
        </p:nvSpPr>
        <p:spPr>
          <a:xfrm>
            <a:off x="640080" y="1572768"/>
            <a:ext cx="10911535" cy="786384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 w="9525">
            <a:solidFill>
              <a:srgbClr val="D9DFE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65" name="Shape 9"/>
          <p:cNvSpPr/>
          <p:nvPr/>
        </p:nvSpPr>
        <p:spPr>
          <a:xfrm>
            <a:off x="640080" y="1572768"/>
            <a:ext cx="91440" cy="786384"/>
          </a:xfrm>
          <a:prstGeom prst="rect">
            <a:avLst/>
          </a:prstGeom>
          <a:solidFill>
            <a:srgbClr val="1E5AA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66" name="Text 10"/>
          <p:cNvSpPr/>
          <p:nvPr/>
        </p:nvSpPr>
        <p:spPr>
          <a:xfrm>
            <a:off x="896112" y="1572768"/>
            <a:ext cx="868680" cy="786384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1E5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700" dirty="0"/>
          </a:p>
        </p:txBody>
      </p:sp>
      <p:sp>
        <p:nvSpPr>
          <p:cNvPr id="567" name="Text 11"/>
          <p:cNvSpPr/>
          <p:nvPr/>
        </p:nvSpPr>
        <p:spPr>
          <a:xfrm>
            <a:off x="1965960" y="1691640"/>
            <a:ext cx="4754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50" b="1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认知 AI</a:t>
            </a:r>
            <a:endParaRPr lang="en-US" sz="1650" dirty="0"/>
          </a:p>
        </p:txBody>
      </p:sp>
      <p:sp>
        <p:nvSpPr>
          <p:cNvPr id="568" name="Text 12"/>
          <p:cNvSpPr/>
          <p:nvPr/>
        </p:nvSpPr>
        <p:spPr>
          <a:xfrm>
            <a:off x="1965960" y="2029968"/>
            <a:ext cx="8961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C67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大模型、能力地图与主流品牌</a:t>
            </a:r>
            <a:endParaRPr lang="en-US" sz="1100" dirty="0"/>
          </a:p>
        </p:txBody>
      </p:sp>
      <p:sp>
        <p:nvSpPr>
          <p:cNvPr id="569" name="Shape 13"/>
          <p:cNvSpPr/>
          <p:nvPr/>
        </p:nvSpPr>
        <p:spPr>
          <a:xfrm>
            <a:off x="640080" y="2505456"/>
            <a:ext cx="10911535" cy="786384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 w="9525">
            <a:solidFill>
              <a:srgbClr val="D9DFE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70" name="Shape 14"/>
          <p:cNvSpPr/>
          <p:nvPr/>
        </p:nvSpPr>
        <p:spPr>
          <a:xfrm>
            <a:off x="640080" y="2505456"/>
            <a:ext cx="91440" cy="786384"/>
          </a:xfrm>
          <a:prstGeom prst="rect">
            <a:avLst/>
          </a:prstGeom>
          <a:solidFill>
            <a:srgbClr val="B78A3E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71" name="Text 15"/>
          <p:cNvSpPr/>
          <p:nvPr/>
        </p:nvSpPr>
        <p:spPr>
          <a:xfrm>
            <a:off x="896112" y="2505456"/>
            <a:ext cx="868680" cy="786384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B78A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700" dirty="0"/>
          </a:p>
        </p:txBody>
      </p:sp>
      <p:sp>
        <p:nvSpPr>
          <p:cNvPr id="572" name="Text 16"/>
          <p:cNvSpPr/>
          <p:nvPr/>
        </p:nvSpPr>
        <p:spPr>
          <a:xfrm>
            <a:off x="1965960" y="2624328"/>
            <a:ext cx="4754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zh-CN" altLang="en-US" sz="1650" b="1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应用</a:t>
            </a:r>
            <a:r>
              <a:rPr lang="en-US" altLang="zh-CN" sz="1650" b="1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</a:t>
            </a:r>
            <a:endParaRPr lang="en-US" sz="1650" dirty="0"/>
          </a:p>
        </p:txBody>
      </p:sp>
      <p:sp>
        <p:nvSpPr>
          <p:cNvPr id="573" name="Text 17"/>
          <p:cNvSpPr/>
          <p:nvPr/>
        </p:nvSpPr>
        <p:spPr>
          <a:xfrm>
            <a:off x="1965960" y="2962656"/>
            <a:ext cx="8961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C67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五步法：说困扰 → 追问 → 判路径 → 人选择 → 人验证</a:t>
            </a:r>
            <a:endParaRPr lang="en-US" sz="1100" dirty="0"/>
          </a:p>
        </p:txBody>
      </p:sp>
      <p:sp>
        <p:nvSpPr>
          <p:cNvPr id="574" name="Shape 18"/>
          <p:cNvSpPr/>
          <p:nvPr/>
        </p:nvSpPr>
        <p:spPr>
          <a:xfrm>
            <a:off x="640080" y="3438144"/>
            <a:ext cx="10911535" cy="786384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 w="9525">
            <a:solidFill>
              <a:srgbClr val="D9DFE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75" name="Shape 19"/>
          <p:cNvSpPr/>
          <p:nvPr/>
        </p:nvSpPr>
        <p:spPr>
          <a:xfrm>
            <a:off x="640080" y="3438144"/>
            <a:ext cx="91440" cy="786384"/>
          </a:xfrm>
          <a:prstGeom prst="rect">
            <a:avLst/>
          </a:prstGeom>
          <a:solidFill>
            <a:srgbClr val="2E7D6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76" name="Text 20"/>
          <p:cNvSpPr/>
          <p:nvPr/>
        </p:nvSpPr>
        <p:spPr>
          <a:xfrm>
            <a:off x="896112" y="3438144"/>
            <a:ext cx="868680" cy="786384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2E7D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700" dirty="0"/>
          </a:p>
        </p:txBody>
      </p:sp>
      <p:sp>
        <p:nvSpPr>
          <p:cNvPr id="577" name="Text 21"/>
          <p:cNvSpPr/>
          <p:nvPr/>
        </p:nvSpPr>
        <p:spPr>
          <a:xfrm>
            <a:off x="1965960" y="3557016"/>
            <a:ext cx="4754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50" b="1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应用边界</a:t>
            </a:r>
            <a:endParaRPr lang="en-US" sz="1650" dirty="0"/>
          </a:p>
        </p:txBody>
      </p:sp>
      <p:sp>
        <p:nvSpPr>
          <p:cNvPr id="578" name="Text 22"/>
          <p:cNvSpPr/>
          <p:nvPr/>
        </p:nvSpPr>
        <p:spPr>
          <a:xfrm>
            <a:off x="1965960" y="3895344"/>
            <a:ext cx="8961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C67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数据、事实、决策、系统四道边界</a:t>
            </a:r>
            <a:endParaRPr lang="en-US" sz="1100" dirty="0"/>
          </a:p>
        </p:txBody>
      </p:sp>
      <p:sp>
        <p:nvSpPr>
          <p:cNvPr id="579" name="Shape 23"/>
          <p:cNvSpPr/>
          <p:nvPr/>
        </p:nvSpPr>
        <p:spPr>
          <a:xfrm>
            <a:off x="640080" y="4370832"/>
            <a:ext cx="10911535" cy="786384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 w="9525">
            <a:solidFill>
              <a:srgbClr val="D9DFE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80" name="Shape 24"/>
          <p:cNvSpPr/>
          <p:nvPr/>
        </p:nvSpPr>
        <p:spPr>
          <a:xfrm>
            <a:off x="640080" y="4370832"/>
            <a:ext cx="91440" cy="786384"/>
          </a:xfrm>
          <a:prstGeom prst="rect">
            <a:avLst/>
          </a:prstGeom>
          <a:solidFill>
            <a:srgbClr val="1E5AA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81" name="Text 25"/>
          <p:cNvSpPr/>
          <p:nvPr/>
        </p:nvSpPr>
        <p:spPr>
          <a:xfrm>
            <a:off x="896112" y="4370832"/>
            <a:ext cx="868680" cy="786384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1E5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2700" dirty="0"/>
          </a:p>
        </p:txBody>
      </p:sp>
      <p:sp>
        <p:nvSpPr>
          <p:cNvPr id="582" name="Text 26"/>
          <p:cNvSpPr/>
          <p:nvPr/>
        </p:nvSpPr>
        <p:spPr>
          <a:xfrm>
            <a:off x="1965960" y="4489704"/>
            <a:ext cx="4754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50" b="1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行内 AI 产品</a:t>
            </a:r>
            <a:endParaRPr lang="en-US" sz="1650" dirty="0"/>
          </a:p>
        </p:txBody>
      </p:sp>
      <p:sp>
        <p:nvSpPr>
          <p:cNvPr id="583" name="Text 27"/>
          <p:cNvSpPr/>
          <p:nvPr/>
        </p:nvSpPr>
        <p:spPr>
          <a:xfrm>
            <a:off x="1965960" y="4828032"/>
            <a:ext cx="8961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C67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在边界之内，用好“自己人”</a:t>
            </a:r>
            <a:endParaRPr lang="en-US" sz="1100" dirty="0"/>
          </a:p>
        </p:txBody>
      </p:sp>
      <p:sp>
        <p:nvSpPr>
          <p:cNvPr id="584" name="Shape 28"/>
          <p:cNvSpPr/>
          <p:nvPr/>
        </p:nvSpPr>
        <p:spPr>
          <a:xfrm>
            <a:off x="640080" y="5303520"/>
            <a:ext cx="10911535" cy="786384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 w="9525">
            <a:solidFill>
              <a:srgbClr val="D9DFE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85" name="Shape 29"/>
          <p:cNvSpPr/>
          <p:nvPr/>
        </p:nvSpPr>
        <p:spPr>
          <a:xfrm>
            <a:off x="640080" y="5303520"/>
            <a:ext cx="91440" cy="786384"/>
          </a:xfrm>
          <a:prstGeom prst="rect">
            <a:avLst/>
          </a:prstGeom>
          <a:solidFill>
            <a:srgbClr val="1B467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86" name="Text 30"/>
          <p:cNvSpPr/>
          <p:nvPr/>
        </p:nvSpPr>
        <p:spPr>
          <a:xfrm>
            <a:off x="896112" y="5303520"/>
            <a:ext cx="868680" cy="786384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1B46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2700" dirty="0"/>
          </a:p>
        </p:txBody>
      </p:sp>
      <p:sp>
        <p:nvSpPr>
          <p:cNvPr id="587" name="Text 31"/>
          <p:cNvSpPr/>
          <p:nvPr/>
        </p:nvSpPr>
        <p:spPr>
          <a:xfrm>
            <a:off x="1965960" y="5422392"/>
            <a:ext cx="4754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50" b="1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实战进阶</a:t>
            </a:r>
            <a:endParaRPr lang="en-US" sz="1650" dirty="0"/>
          </a:p>
        </p:txBody>
      </p:sp>
      <p:sp>
        <p:nvSpPr>
          <p:cNvPr id="588" name="Text 32"/>
          <p:cNvSpPr/>
          <p:nvPr/>
        </p:nvSpPr>
        <p:spPr>
          <a:xfrm>
            <a:off x="1965960" y="5760720"/>
            <a:ext cx="8961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C67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从一步步指挥，到让 AI 自己规划和执行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1" name="图片 2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3" name="Shape 0"/>
          <p:cNvSpPr/>
          <p:nvPr/>
        </p:nvSpPr>
        <p:spPr>
          <a:xfrm>
            <a:off x="640080" y="457200"/>
            <a:ext cx="82296" cy="219456"/>
          </a:xfrm>
          <a:prstGeom prst="rect">
            <a:avLst/>
          </a:prstGeom>
          <a:solidFill>
            <a:srgbClr val="1E5AA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54" name="Text 1"/>
          <p:cNvSpPr/>
          <p:nvPr/>
        </p:nvSpPr>
        <p:spPr>
          <a:xfrm>
            <a:off x="804672" y="42976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1E5AA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第一部分 · 认知 AI</a:t>
            </a:r>
            <a:endParaRPr lang="en-US" sz="1050" dirty="0"/>
          </a:p>
        </p:txBody>
      </p:sp>
      <p:sp>
        <p:nvSpPr>
          <p:cNvPr id="755" name="Text 2"/>
          <p:cNvSpPr/>
          <p:nvPr/>
        </p:nvSpPr>
        <p:spPr>
          <a:xfrm>
            <a:off x="640080" y="792000"/>
            <a:ext cx="1091153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语言大模型：一个可以反复讨论的工作伙伴</a:t>
            </a:r>
            <a:endParaRPr lang="en-US" sz="2200" dirty="0"/>
          </a:p>
        </p:txBody>
      </p:sp>
      <p:sp>
        <p:nvSpPr>
          <p:cNvPr id="756" name="Shape 3"/>
          <p:cNvSpPr/>
          <p:nvPr/>
        </p:nvSpPr>
        <p:spPr>
          <a:xfrm>
            <a:off x="640080" y="1298448"/>
            <a:ext cx="10911535" cy="0"/>
          </a:xfrm>
          <a:prstGeom prst="line">
            <a:avLst/>
          </a:prstGeom>
          <a:noFill/>
          <a:ln w="9525">
            <a:solidFill>
              <a:srgbClr val="D9DFE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57" name="Shape 4"/>
          <p:cNvSpPr/>
          <p:nvPr/>
        </p:nvSpPr>
        <p:spPr>
          <a:xfrm>
            <a:off x="640080" y="1298448"/>
            <a:ext cx="1280160" cy="0"/>
          </a:xfrm>
          <a:prstGeom prst="line">
            <a:avLst/>
          </a:prstGeom>
          <a:noFill/>
          <a:ln w="28575">
            <a:solidFill>
              <a:srgbClr val="1E5AA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58" name="Shape 5"/>
          <p:cNvSpPr/>
          <p:nvPr/>
        </p:nvSpPr>
        <p:spPr>
          <a:xfrm>
            <a:off x="640080" y="6455664"/>
            <a:ext cx="10911535" cy="0"/>
          </a:xfrm>
          <a:prstGeom prst="line">
            <a:avLst/>
          </a:prstGeom>
          <a:noFill/>
          <a:ln w="7620">
            <a:solidFill>
              <a:srgbClr val="D9DFE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59" name="Text 6"/>
          <p:cNvSpPr/>
          <p:nvPr/>
        </p:nvSpPr>
        <p:spPr>
          <a:xfrm>
            <a:off x="640080" y="651052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8A94A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分行批发业务 AI 赋能与行内外系统实战</a:t>
            </a:r>
            <a:endParaRPr lang="en-US" sz="800" dirty="0"/>
          </a:p>
        </p:txBody>
      </p:sp>
      <p:sp>
        <p:nvSpPr>
          <p:cNvPr id="760" name="Text 7"/>
          <p:cNvSpPr/>
          <p:nvPr/>
        </p:nvSpPr>
        <p:spPr>
          <a:xfrm>
            <a:off x="11109960" y="6492240"/>
            <a:ext cx="438912" cy="237744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8A94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00" dirty="0"/>
          </a:p>
        </p:txBody>
      </p:sp>
      <p:sp>
        <p:nvSpPr>
          <p:cNvPr id="761" name="Text 8"/>
          <p:cNvSpPr/>
          <p:nvPr/>
        </p:nvSpPr>
        <p:spPr>
          <a:xfrm>
            <a:off x="640080" y="1481328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C67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 LLM 理解成可以持续对话、理解文字、帮你整理和分析工作的伙伴。最基础的用法有六类：</a:t>
            </a:r>
            <a:endParaRPr lang="en-US" sz="1200" dirty="0"/>
          </a:p>
        </p:txBody>
      </p:sp>
      <p:graphicFrame>
        <p:nvGraphicFramePr>
          <p:cNvPr id="762" name="Table 0"/>
          <p:cNvGraphicFramePr>
            <a:graphicFrameLocks noGrp="1"/>
          </p:cNvGraphicFramePr>
          <p:nvPr/>
        </p:nvGraphicFramePr>
        <p:xfrm>
          <a:off x="640080" y="1810512"/>
          <a:ext cx="10952683" cy="3566150"/>
        </p:xfrm>
        <a:graphic>
          <a:graphicData uri="http://schemas.openxmlformats.org/drawingml/2006/table">
            <a:tbl>
              <a:tblPr/>
              <a:tblGrid>
                <a:gridCol w="1193203">
                  <a:extLst>
                    <a:ext uri="{9D8B030D-6E8A-4147-A177-3AD203B41FA5}">
                      <a16:colId xmlns:a16="http://schemas.microsoft.com/office/drawing/2014/main" val="1"/>
                    </a:ext>
                  </a:extLst>
                </a:gridCol>
                <a:gridCol w="4313887">
                  <a:extLst>
                    <a:ext uri="{9D8B030D-6E8A-4147-A177-3AD203B41FA5}">
                      <a16:colId xmlns:a16="http://schemas.microsoft.com/office/drawing/2014/main" val="2"/>
                    </a:ext>
                  </a:extLst>
                </a:gridCol>
                <a:gridCol w="5445593">
                  <a:extLst>
                    <a:ext uri="{9D8B030D-6E8A-4147-A177-3AD203B41FA5}">
                      <a16:colId xmlns:a16="http://schemas.microsoft.com/office/drawing/2014/main" val="3"/>
                    </a:ext>
                  </a:extLst>
                </a:gridCol>
              </a:tblGrid>
              <a:tr h="50945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500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用法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54864" marB="54864" anchor="ctr">
                    <a:lnL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5AA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500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简单示例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54864" marB="54864" anchor="ctr">
                    <a:lnL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5AA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500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进一步升级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54864" marB="54864" anchor="ctr">
                    <a:lnL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5A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"/>
                  </a:ext>
                </a:extLst>
              </a:tr>
              <a:tr h="509450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200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B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问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anchor="ctr">
                    <a:lnL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200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B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“帮我解释这段内容”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anchor="ctr">
                    <a:lnL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200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B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要求换一种方式解释，并指出不确定之处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anchor="ctr">
                    <a:lnL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"/>
                  </a:ext>
                </a:extLst>
              </a:tr>
              <a:tr h="509450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200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B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改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anchor="ctr">
                    <a:lnL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200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B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“帮我把这段话写得更清楚”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anchor="ctr">
                    <a:lnL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200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B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给定对象、场景、语气和限制条件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anchor="ctr">
                    <a:lnL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"/>
                  </a:ext>
                </a:extLst>
              </a:tr>
              <a:tr h="509450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200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B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总结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anchor="ctr">
                    <a:lnL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200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B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“把这篇材料总结成 5 点”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anchor="ctr">
                    <a:lnL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200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B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进一步提炼行动事项、风险和待确认问题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anchor="ctr">
                    <a:lnL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"/>
                  </a:ext>
                </a:extLst>
              </a:tr>
              <a:tr h="509450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200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B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分析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anchor="ctr">
                    <a:lnL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200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B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“比较这两个方案”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anchor="ctr">
                    <a:lnL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200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B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先建立比较维度，再进行权衡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anchor="ctr">
                    <a:lnL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"/>
                  </a:ext>
                </a:extLst>
              </a:tr>
              <a:tr h="509450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200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B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生成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anchor="ctr">
                    <a:lnL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200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B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“帮我形成一个汇报提纲”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anchor="ctr">
                    <a:lnL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200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B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让 AI 先提出结构，再共同修改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anchor="ctr">
                    <a:lnL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"/>
                  </a:ext>
                </a:extLst>
              </a:tr>
              <a:tr h="509450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200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B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讨论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anchor="ctr">
                    <a:lnL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200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B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“如果你是客户经理，你会追问什么？”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anchor="ctr">
                    <a:lnL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200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B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扮演不同角色，进行反向质疑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anchor="ctr">
                    <a:lnL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"/>
                  </a:ext>
                </a:extLst>
              </a:tr>
            </a:tbl>
          </a:graphicData>
        </a:graphic>
      </p:graphicFrame>
      <p:sp>
        <p:nvSpPr>
          <p:cNvPr id="763" name="Shape 9"/>
          <p:cNvSpPr/>
          <p:nvPr/>
        </p:nvSpPr>
        <p:spPr>
          <a:xfrm>
            <a:off x="681228" y="5751045"/>
            <a:ext cx="10911535" cy="566928"/>
          </a:xfrm>
          <a:prstGeom prst="roundRect">
            <a:avLst>
              <a:gd name="adj" fmla="val 8065"/>
            </a:avLst>
          </a:prstGeom>
          <a:solidFill>
            <a:srgbClr val="E9F0F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64" name="Shape 10"/>
          <p:cNvSpPr/>
          <p:nvPr/>
        </p:nvSpPr>
        <p:spPr>
          <a:xfrm>
            <a:off x="650947" y="5751045"/>
            <a:ext cx="73152" cy="566928"/>
          </a:xfrm>
          <a:prstGeom prst="rect">
            <a:avLst/>
          </a:prstGeom>
          <a:solidFill>
            <a:srgbClr val="1E5AA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65" name="Text 11"/>
          <p:cNvSpPr/>
          <p:nvPr/>
        </p:nvSpPr>
        <p:spPr>
          <a:xfrm>
            <a:off x="896112" y="5769730"/>
            <a:ext cx="104543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746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用法的升级方向：从一次性提问，到讲清对象与限制，再到角色互换、反向质疑。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7" name="Shape 0"/>
          <p:cNvSpPr/>
          <p:nvPr/>
        </p:nvSpPr>
        <p:spPr>
          <a:xfrm>
            <a:off x="640080" y="457200"/>
            <a:ext cx="82296" cy="219456"/>
          </a:xfrm>
          <a:prstGeom prst="rect">
            <a:avLst/>
          </a:prstGeom>
          <a:solidFill>
            <a:srgbClr val="1E5AA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68" name="Text 1"/>
          <p:cNvSpPr/>
          <p:nvPr/>
        </p:nvSpPr>
        <p:spPr>
          <a:xfrm>
            <a:off x="804672" y="42976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1E5AA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第一部分 · 认知 AI</a:t>
            </a:r>
            <a:endParaRPr lang="en-US" sz="1050" dirty="0"/>
          </a:p>
        </p:txBody>
      </p:sp>
      <p:sp>
        <p:nvSpPr>
          <p:cNvPr id="769" name="Text 2"/>
          <p:cNvSpPr/>
          <p:nvPr/>
        </p:nvSpPr>
        <p:spPr>
          <a:xfrm>
            <a:off x="640080" y="792000"/>
            <a:ext cx="1091153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真正重要的不是 Prompt 技巧，而是使用习惯</a:t>
            </a:r>
            <a:endParaRPr lang="en-US" sz="2200" dirty="0"/>
          </a:p>
        </p:txBody>
      </p:sp>
      <p:sp>
        <p:nvSpPr>
          <p:cNvPr id="770" name="Shape 3"/>
          <p:cNvSpPr/>
          <p:nvPr/>
        </p:nvSpPr>
        <p:spPr>
          <a:xfrm>
            <a:off x="640080" y="1298448"/>
            <a:ext cx="10911535" cy="0"/>
          </a:xfrm>
          <a:prstGeom prst="line">
            <a:avLst/>
          </a:prstGeom>
          <a:noFill/>
          <a:ln w="9525">
            <a:solidFill>
              <a:srgbClr val="D9DFE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71" name="Shape 4"/>
          <p:cNvSpPr/>
          <p:nvPr/>
        </p:nvSpPr>
        <p:spPr>
          <a:xfrm>
            <a:off x="640080" y="1298448"/>
            <a:ext cx="1280160" cy="0"/>
          </a:xfrm>
          <a:prstGeom prst="line">
            <a:avLst/>
          </a:prstGeom>
          <a:noFill/>
          <a:ln w="28575">
            <a:solidFill>
              <a:srgbClr val="1E5AA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72" name="Shape 5"/>
          <p:cNvSpPr/>
          <p:nvPr/>
        </p:nvSpPr>
        <p:spPr>
          <a:xfrm>
            <a:off x="640080" y="6455664"/>
            <a:ext cx="10911535" cy="0"/>
          </a:xfrm>
          <a:prstGeom prst="line">
            <a:avLst/>
          </a:prstGeom>
          <a:noFill/>
          <a:ln w="7620">
            <a:solidFill>
              <a:srgbClr val="D9DFE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73" name="Text 6"/>
          <p:cNvSpPr/>
          <p:nvPr/>
        </p:nvSpPr>
        <p:spPr>
          <a:xfrm>
            <a:off x="640080" y="651052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8A94A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分行批发业务 AI 赋能与行内外系统实战</a:t>
            </a:r>
            <a:endParaRPr lang="en-US" sz="800" dirty="0"/>
          </a:p>
        </p:txBody>
      </p:sp>
      <p:sp>
        <p:nvSpPr>
          <p:cNvPr id="774" name="Text 7"/>
          <p:cNvSpPr/>
          <p:nvPr/>
        </p:nvSpPr>
        <p:spPr>
          <a:xfrm>
            <a:off x="11109960" y="6492240"/>
            <a:ext cx="438912" cy="237744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8A94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900" dirty="0"/>
          </a:p>
        </p:txBody>
      </p:sp>
      <p:sp>
        <p:nvSpPr>
          <p:cNvPr id="775" name="Shape 8"/>
          <p:cNvSpPr/>
          <p:nvPr/>
        </p:nvSpPr>
        <p:spPr>
          <a:xfrm>
            <a:off x="640080" y="1627632"/>
            <a:ext cx="5212080" cy="356616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9525">
            <a:solidFill>
              <a:srgbClr val="D9DFE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76" name="Shape 9"/>
          <p:cNvSpPr/>
          <p:nvPr/>
        </p:nvSpPr>
        <p:spPr>
          <a:xfrm>
            <a:off x="640080" y="1627632"/>
            <a:ext cx="5212080" cy="566928"/>
          </a:xfrm>
          <a:prstGeom prst="rect">
            <a:avLst/>
          </a:prstGeom>
          <a:solidFill>
            <a:srgbClr val="8A94A3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77" name="Text 10"/>
          <p:cNvSpPr/>
          <p:nvPr/>
        </p:nvSpPr>
        <p:spPr>
          <a:xfrm>
            <a:off x="914400" y="1627632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旧习惯</a:t>
            </a:r>
            <a:endParaRPr lang="en-US" sz="2000" dirty="0"/>
          </a:p>
        </p:txBody>
      </p:sp>
      <p:sp>
        <p:nvSpPr>
          <p:cNvPr id="778" name="Text 11"/>
          <p:cNvSpPr/>
          <p:nvPr/>
        </p:nvSpPr>
        <p:spPr>
          <a:xfrm>
            <a:off x="914400" y="2395728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5C67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 AI 当一次性搜索框</a:t>
            </a:r>
            <a:endParaRPr lang="en-US" sz="2000" dirty="0"/>
          </a:p>
        </p:txBody>
      </p:sp>
      <p:sp>
        <p:nvSpPr>
          <p:cNvPr id="779" name="Shape 12"/>
          <p:cNvSpPr/>
          <p:nvPr/>
        </p:nvSpPr>
        <p:spPr>
          <a:xfrm>
            <a:off x="932688" y="3054096"/>
            <a:ext cx="82296" cy="82296"/>
          </a:xfrm>
          <a:prstGeom prst="rect">
            <a:avLst/>
          </a:prstGeom>
          <a:solidFill>
            <a:srgbClr val="8A94A3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80" name="Text 13"/>
          <p:cNvSpPr/>
          <p:nvPr/>
        </p:nvSpPr>
        <p:spPr>
          <a:xfrm>
            <a:off x="1143000" y="2971800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“给我一个答案”</a:t>
            </a:r>
            <a:endParaRPr lang="en-US" sz="1600" dirty="0"/>
          </a:p>
        </p:txBody>
      </p:sp>
      <p:sp>
        <p:nvSpPr>
          <p:cNvPr id="781" name="Shape 14"/>
          <p:cNvSpPr/>
          <p:nvPr/>
        </p:nvSpPr>
        <p:spPr>
          <a:xfrm>
            <a:off x="932688" y="3712464"/>
            <a:ext cx="82296" cy="82296"/>
          </a:xfrm>
          <a:prstGeom prst="rect">
            <a:avLst/>
          </a:prstGeom>
          <a:solidFill>
            <a:srgbClr val="8A94A3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82" name="Text 15"/>
          <p:cNvSpPr/>
          <p:nvPr/>
        </p:nvSpPr>
        <p:spPr>
          <a:xfrm>
            <a:off x="1143000" y="3630168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第一版不满意，就觉得 AI 不行</a:t>
            </a:r>
            <a:endParaRPr lang="en-US" sz="1600" dirty="0"/>
          </a:p>
        </p:txBody>
      </p:sp>
      <p:sp>
        <p:nvSpPr>
          <p:cNvPr id="783" name="Shape 16"/>
          <p:cNvSpPr/>
          <p:nvPr/>
        </p:nvSpPr>
        <p:spPr>
          <a:xfrm>
            <a:off x="932688" y="4370832"/>
            <a:ext cx="82296" cy="82296"/>
          </a:xfrm>
          <a:prstGeom prst="rect">
            <a:avLst/>
          </a:prstGeom>
          <a:solidFill>
            <a:srgbClr val="8A94A3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84" name="Text 17"/>
          <p:cNvSpPr/>
          <p:nvPr/>
        </p:nvSpPr>
        <p:spPr>
          <a:xfrm>
            <a:off x="1143000" y="4288536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只问答一轮，价值停留在表面</a:t>
            </a:r>
            <a:endParaRPr lang="en-US" sz="1600" dirty="0"/>
          </a:p>
        </p:txBody>
      </p:sp>
      <p:sp>
        <p:nvSpPr>
          <p:cNvPr id="785" name="Shape 18"/>
          <p:cNvSpPr/>
          <p:nvPr/>
        </p:nvSpPr>
        <p:spPr>
          <a:xfrm>
            <a:off x="6336792" y="1627632"/>
            <a:ext cx="5212080" cy="356616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9525">
            <a:solidFill>
              <a:srgbClr val="D9DFE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86" name="Shape 19"/>
          <p:cNvSpPr/>
          <p:nvPr/>
        </p:nvSpPr>
        <p:spPr>
          <a:xfrm>
            <a:off x="6336792" y="1627632"/>
            <a:ext cx="5212080" cy="566928"/>
          </a:xfrm>
          <a:prstGeom prst="rect">
            <a:avLst/>
          </a:prstGeom>
          <a:solidFill>
            <a:srgbClr val="1E5AA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87" name="Text 20"/>
          <p:cNvSpPr/>
          <p:nvPr/>
        </p:nvSpPr>
        <p:spPr>
          <a:xfrm>
            <a:off x="6611112" y="1627632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新习惯</a:t>
            </a:r>
            <a:endParaRPr lang="en-US" sz="2000" dirty="0"/>
          </a:p>
        </p:txBody>
      </p:sp>
      <p:sp>
        <p:nvSpPr>
          <p:cNvPr id="788" name="Text 21"/>
          <p:cNvSpPr/>
          <p:nvPr/>
        </p:nvSpPr>
        <p:spPr>
          <a:xfrm>
            <a:off x="6611112" y="2395728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1746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 AI 当反复讨论的工作伙伴</a:t>
            </a:r>
            <a:endParaRPr lang="en-US" sz="2000" dirty="0"/>
          </a:p>
        </p:txBody>
      </p:sp>
      <p:sp>
        <p:nvSpPr>
          <p:cNvPr id="789" name="Shape 22"/>
          <p:cNvSpPr/>
          <p:nvPr/>
        </p:nvSpPr>
        <p:spPr>
          <a:xfrm>
            <a:off x="6629400" y="3054096"/>
            <a:ext cx="82296" cy="82296"/>
          </a:xfrm>
          <a:prstGeom prst="rect">
            <a:avLst/>
          </a:prstGeom>
          <a:solidFill>
            <a:srgbClr val="1E5AA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90" name="Text 23"/>
          <p:cNvSpPr/>
          <p:nvPr/>
        </p:nvSpPr>
        <p:spPr>
          <a:xfrm>
            <a:off x="6839712" y="2971800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“和我一起把事情做好”</a:t>
            </a:r>
            <a:endParaRPr lang="en-US" sz="1600" dirty="0"/>
          </a:p>
        </p:txBody>
      </p:sp>
      <p:sp>
        <p:nvSpPr>
          <p:cNvPr id="791" name="Shape 24"/>
          <p:cNvSpPr/>
          <p:nvPr/>
        </p:nvSpPr>
        <p:spPr>
          <a:xfrm>
            <a:off x="6629400" y="3712464"/>
            <a:ext cx="82296" cy="82296"/>
          </a:xfrm>
          <a:prstGeom prst="rect">
            <a:avLst/>
          </a:prstGeom>
          <a:solidFill>
            <a:srgbClr val="1E5AA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92" name="Text 25"/>
          <p:cNvSpPr/>
          <p:nvPr/>
        </p:nvSpPr>
        <p:spPr>
          <a:xfrm>
            <a:off x="6839712" y="3630168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第二轮、第三轮对话才真正有价值</a:t>
            </a:r>
            <a:endParaRPr lang="en-US" sz="1600" dirty="0"/>
          </a:p>
        </p:txBody>
      </p:sp>
      <p:sp>
        <p:nvSpPr>
          <p:cNvPr id="793" name="Shape 26"/>
          <p:cNvSpPr/>
          <p:nvPr/>
        </p:nvSpPr>
        <p:spPr>
          <a:xfrm>
            <a:off x="6629400" y="4370832"/>
            <a:ext cx="82296" cy="82296"/>
          </a:xfrm>
          <a:prstGeom prst="rect">
            <a:avLst/>
          </a:prstGeom>
          <a:solidFill>
            <a:srgbClr val="1E5AA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94" name="Text 27"/>
          <p:cNvSpPr/>
          <p:nvPr/>
        </p:nvSpPr>
        <p:spPr>
          <a:xfrm>
            <a:off x="6839712" y="4288536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不断补充背景、纠偏、共同打磨成果</a:t>
            </a:r>
            <a:endParaRPr lang="en-US" sz="1600" dirty="0"/>
          </a:p>
        </p:txBody>
      </p:sp>
      <p:sp>
        <p:nvSpPr>
          <p:cNvPr id="795" name="Shape 28"/>
          <p:cNvSpPr/>
          <p:nvPr/>
        </p:nvSpPr>
        <p:spPr>
          <a:xfrm>
            <a:off x="5815584" y="3063240"/>
            <a:ext cx="566928" cy="658368"/>
          </a:xfrm>
          <a:prstGeom prst="chevron">
            <a:avLst/>
          </a:prstGeom>
          <a:solidFill>
            <a:srgbClr val="B78A3E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96" name="Shape 29"/>
          <p:cNvSpPr/>
          <p:nvPr/>
        </p:nvSpPr>
        <p:spPr>
          <a:xfrm>
            <a:off x="612800" y="5852160"/>
            <a:ext cx="10911535" cy="548640"/>
          </a:xfrm>
          <a:prstGeom prst="roundRect">
            <a:avLst>
              <a:gd name="adj" fmla="val 8333"/>
            </a:avLst>
          </a:prstGeom>
          <a:solidFill>
            <a:srgbClr val="F3EAD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97" name="Shape 30"/>
          <p:cNvSpPr/>
          <p:nvPr/>
        </p:nvSpPr>
        <p:spPr>
          <a:xfrm>
            <a:off x="612800" y="5852160"/>
            <a:ext cx="73152" cy="548640"/>
          </a:xfrm>
          <a:prstGeom prst="rect">
            <a:avLst/>
          </a:prstGeom>
          <a:solidFill>
            <a:srgbClr val="B78A3E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98" name="Text 31"/>
          <p:cNvSpPr/>
          <p:nvPr/>
        </p:nvSpPr>
        <p:spPr>
          <a:xfrm>
            <a:off x="868832" y="5852160"/>
            <a:ext cx="104543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7C5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现场案例：用 AI 协作完成一份报告——看“多轮对话”如何改变结果。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0" name="Shape 0"/>
          <p:cNvSpPr/>
          <p:nvPr/>
        </p:nvSpPr>
        <p:spPr>
          <a:xfrm>
            <a:off x="640080" y="457200"/>
            <a:ext cx="82296" cy="219456"/>
          </a:xfrm>
          <a:prstGeom prst="rect">
            <a:avLst/>
          </a:prstGeom>
          <a:solidFill>
            <a:srgbClr val="1E5AA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01" name="Text 1"/>
          <p:cNvSpPr/>
          <p:nvPr/>
        </p:nvSpPr>
        <p:spPr>
          <a:xfrm>
            <a:off x="804672" y="42976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1E5AA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第一部分 · 认知 AI</a:t>
            </a:r>
            <a:endParaRPr lang="en-US" sz="1050" dirty="0"/>
          </a:p>
        </p:txBody>
      </p:sp>
      <p:sp>
        <p:nvSpPr>
          <p:cNvPr id="802" name="Text 2"/>
          <p:cNvSpPr/>
          <p:nvPr/>
        </p:nvSpPr>
        <p:spPr>
          <a:xfrm>
            <a:off x="640080" y="792000"/>
            <a:ext cx="1091153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不只会聊天：一张能力地图</a:t>
            </a:r>
            <a:endParaRPr lang="en-US" sz="2200" dirty="0"/>
          </a:p>
        </p:txBody>
      </p:sp>
      <p:sp>
        <p:nvSpPr>
          <p:cNvPr id="803" name="Shape 3"/>
          <p:cNvSpPr/>
          <p:nvPr/>
        </p:nvSpPr>
        <p:spPr>
          <a:xfrm>
            <a:off x="640080" y="1298448"/>
            <a:ext cx="10911535" cy="0"/>
          </a:xfrm>
          <a:prstGeom prst="line">
            <a:avLst/>
          </a:prstGeom>
          <a:noFill/>
          <a:ln w="9525">
            <a:solidFill>
              <a:srgbClr val="D9DFE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04" name="Shape 4"/>
          <p:cNvSpPr/>
          <p:nvPr/>
        </p:nvSpPr>
        <p:spPr>
          <a:xfrm>
            <a:off x="640080" y="1298448"/>
            <a:ext cx="1280160" cy="0"/>
          </a:xfrm>
          <a:prstGeom prst="line">
            <a:avLst/>
          </a:prstGeom>
          <a:noFill/>
          <a:ln w="28575">
            <a:solidFill>
              <a:srgbClr val="1E5AA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05" name="Shape 5"/>
          <p:cNvSpPr/>
          <p:nvPr/>
        </p:nvSpPr>
        <p:spPr>
          <a:xfrm>
            <a:off x="640080" y="6455664"/>
            <a:ext cx="10911535" cy="0"/>
          </a:xfrm>
          <a:prstGeom prst="line">
            <a:avLst/>
          </a:prstGeom>
          <a:noFill/>
          <a:ln w="7620">
            <a:solidFill>
              <a:srgbClr val="D9DFE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06" name="Text 6"/>
          <p:cNvSpPr/>
          <p:nvPr/>
        </p:nvSpPr>
        <p:spPr>
          <a:xfrm>
            <a:off x="640080" y="651052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8A94A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分行批发业务 AI 赋能与行内外系统实战</a:t>
            </a:r>
            <a:endParaRPr lang="en-US" sz="800" dirty="0"/>
          </a:p>
        </p:txBody>
      </p:sp>
      <p:sp>
        <p:nvSpPr>
          <p:cNvPr id="807" name="Text 7"/>
          <p:cNvSpPr/>
          <p:nvPr/>
        </p:nvSpPr>
        <p:spPr>
          <a:xfrm>
            <a:off x="11109960" y="6492240"/>
            <a:ext cx="438912" cy="237744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8A94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900" dirty="0"/>
          </a:p>
        </p:txBody>
      </p:sp>
      <p:graphicFrame>
        <p:nvGraphicFramePr>
          <p:cNvPr id="808" name="Table 0"/>
          <p:cNvGraphicFramePr>
            <a:graphicFrameLocks noGrp="1"/>
          </p:cNvGraphicFramePr>
          <p:nvPr/>
        </p:nvGraphicFramePr>
        <p:xfrm>
          <a:off x="637337" y="1391128"/>
          <a:ext cx="10911535" cy="5009672"/>
        </p:xfrm>
        <a:graphic>
          <a:graphicData uri="http://schemas.openxmlformats.org/drawingml/2006/table">
            <a:tbl>
              <a:tblPr/>
              <a:tblGrid>
                <a:gridCol w="1097280">
                  <a:extLst>
                    <a:ext uri="{9D8B030D-6E8A-4147-A177-3AD203B41FA5}">
                      <a16:colId xmlns:a16="http://schemas.microsoft.com/office/drawing/2014/main" val="1"/>
                    </a:ext>
                  </a:extLst>
                </a:gridCol>
                <a:gridCol w="2331720">
                  <a:extLst>
                    <a:ext uri="{9D8B030D-6E8A-4147-A177-3AD203B41FA5}">
                      <a16:colId xmlns:a16="http://schemas.microsoft.com/office/drawing/2014/main" val="2"/>
                    </a:ext>
                  </a:extLst>
                </a:gridCol>
                <a:gridCol w="4709160">
                  <a:extLst>
                    <a:ext uri="{9D8B030D-6E8A-4147-A177-3AD203B41FA5}">
                      <a16:colId xmlns:a16="http://schemas.microsoft.com/office/drawing/2014/main" val="3"/>
                    </a:ext>
                  </a:extLst>
                </a:gridCol>
                <a:gridCol w="2773375">
                  <a:extLst>
                    <a:ext uri="{9D8B030D-6E8A-4147-A177-3AD203B41FA5}">
                      <a16:colId xmlns:a16="http://schemas.microsoft.com/office/drawing/2014/main" val="4"/>
                    </a:ext>
                  </a:extLst>
                </a:gridCol>
              </a:tblGrid>
              <a:tr h="424505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500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维度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54864" marB="54864" anchor="ctr">
                    <a:lnL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5AA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500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分类类型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54864" marB="54864" anchor="ctr">
                    <a:lnL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5AA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500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核心特点与能力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54864" marB="54864" anchor="ctr">
                    <a:lnL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5AA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500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代表模型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54864" marB="54864" anchor="ctr">
                    <a:lnL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5A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"/>
                  </a:ext>
                </a:extLst>
              </a:tr>
              <a:tr h="518249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1200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1B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按模态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marL="0" indent="0" algn="ctr">
                        <a:lnSpc>
                          <a:spcPct val="11200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1B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与任务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anchor="ctr">
                    <a:lnL w="6350" cap="flat" cmpd="sng" algn="ctr">
                      <a:solidFill>
                        <a:srgbClr val="DC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8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200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1B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通用 / 语言大模型（LLM）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anchor="ctr">
                    <a:lnL w="6350" cap="flat" cmpd="sng" algn="ctr">
                      <a:solidFill>
                        <a:srgbClr val="DC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2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文字问答、写作、总结、翻译及复杂规划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anchor="ctr">
                    <a:lnL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2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GPT-4o、Claude 3.5、DeepSeek-V4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anchor="ctr">
                    <a:lnL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"/>
                  </a:ext>
                </a:extLst>
              </a:tr>
              <a:tr h="424505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12000"/>
                        </a:lnSpc>
                        <a:buNone/>
                      </a:pP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anchor="ctr">
                    <a:lnL w="6350" cap="flat" cmpd="sng" algn="ctr">
                      <a:solidFill>
                        <a:srgbClr val="DC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8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200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1B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多模态大模型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anchor="ctr">
                    <a:lnL w="6350" cap="flat" cmpd="sng" algn="ctr">
                      <a:solidFill>
                        <a:srgbClr val="DC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2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同时理解 / 处理文本、图片、音频、视频、文档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anchor="ctr">
                    <a:lnL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2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Gemini 4.0 Argon、Qwen3-Omni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anchor="ctr">
                    <a:lnL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"/>
                  </a:ext>
                </a:extLst>
              </a:tr>
              <a:tr h="424505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12000"/>
                        </a:lnSpc>
                        <a:buNone/>
                      </a:pP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anchor="ctr">
                    <a:lnL w="6350" cap="flat" cmpd="sng" algn="ctr">
                      <a:solidFill>
                        <a:srgbClr val="DC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8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200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1B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代码 / 编程大模型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anchor="ctr">
                    <a:lnL w="6350" cap="flat" cmpd="sng" algn="ctr">
                      <a:solidFill>
                        <a:srgbClr val="DC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2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代码生成、修 Bug、做网页与自动化开发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anchor="ctr">
                    <a:lnL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2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GitHub Copilot、Grok 4.7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anchor="ctr">
                    <a:lnL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"/>
                  </a:ext>
                </a:extLst>
              </a:tr>
              <a:tr h="424505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12000"/>
                        </a:lnSpc>
                        <a:buNone/>
                      </a:pP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anchor="ctr">
                    <a:lnL w="6350" cap="flat" cmpd="sng" algn="ctr">
                      <a:solidFill>
                        <a:srgbClr val="DC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8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200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1B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多媒体生成大模型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anchor="ctr">
                    <a:lnL w="6350" cap="flat" cmpd="sng" algn="ctr">
                      <a:solidFill>
                        <a:srgbClr val="DC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2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文生图、文生视频、AI 音频 / 音乐创作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anchor="ctr">
                    <a:lnL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2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Flux 2、Ray 3.2、Lyrics 3.5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anchor="ctr">
                    <a:lnL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"/>
                  </a:ext>
                </a:extLst>
              </a:tr>
              <a:tr h="424505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12000"/>
                        </a:lnSpc>
                        <a:buNone/>
                      </a:pP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anchor="ctr">
                    <a:lnL w="6350" cap="flat" cmpd="sng" algn="ctr">
                      <a:solidFill>
                        <a:srgbClr val="DC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8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200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1B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Agent 智能体模型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anchor="ctr">
                    <a:lnL w="6350" cap="flat" cmpd="sng" algn="ctr">
                      <a:solidFill>
                        <a:srgbClr val="DC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2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主动拆解目标、调用外部工具、跑完整个工作流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anchor="ctr">
                    <a:lnL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2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Mistral Large 4、GPT-5.5 Agent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anchor="ctr">
                    <a:lnL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"/>
                  </a:ext>
                </a:extLst>
              </a:tr>
              <a:tr h="518249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1200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1B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按应用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marL="0" indent="0" algn="ctr">
                        <a:lnSpc>
                          <a:spcPct val="11200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1B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范围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anchor="ctr">
                    <a:lnL w="6350" cap="flat" cmpd="sng" algn="ctr">
                      <a:solidFill>
                        <a:srgbClr val="F2E8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E8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E8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8D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200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1B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行业 / 垂直大模型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anchor="ctr">
                    <a:lnL w="6350" cap="flat" cmpd="sng" algn="ctr">
                      <a:solidFill>
                        <a:srgbClr val="F2E8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2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针对医疗、法律、金融等行业深度训练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anchor="ctr">
                    <a:lnL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2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BloombergGPT、Med-PaLM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anchor="ctr">
                    <a:lnL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"/>
                  </a:ext>
                </a:extLst>
              </a:tr>
              <a:tr h="424505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12000"/>
                        </a:lnSpc>
                        <a:buNone/>
                      </a:pP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anchor="ctr">
                    <a:lnL w="6350" cap="flat" cmpd="sng" algn="ctr">
                      <a:solidFill>
                        <a:srgbClr val="F2E8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E8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E8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E8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8D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200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1B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科学专业大模型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anchor="ctr">
                    <a:lnL w="6350" cap="flat" cmpd="sng" algn="ctr">
                      <a:solidFill>
                        <a:srgbClr val="F2E8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2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解决科学细分领域的专业计算与预测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anchor="ctr">
                    <a:lnL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2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AlphaFold（蛋白质结构预测）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anchor="ctr">
                    <a:lnL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"/>
                  </a:ext>
                </a:extLst>
              </a:tr>
              <a:tr h="518249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1200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1B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按开源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marL="0" indent="0" algn="ctr">
                        <a:lnSpc>
                          <a:spcPct val="11200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1B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状态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anchor="ctr">
                    <a:lnL w="6350" cap="flat" cmpd="sng" algn="ctr">
                      <a:solidFill>
                        <a:srgbClr val="DDE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E8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E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200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1B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闭源大模型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anchor="ctr">
                    <a:lnL w="6350" cap="flat" cmpd="sng" algn="ctr">
                      <a:solidFill>
                        <a:srgbClr val="DDE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2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能力最前沿，API / 网页提供服务，企业付费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anchor="ctr">
                    <a:lnL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2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OpenAI GPT、Anthropic Claude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anchor="ctr">
                    <a:lnL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"/>
                  </a:ext>
                </a:extLst>
              </a:tr>
              <a:tr h="424505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12000"/>
                        </a:lnSpc>
                        <a:buNone/>
                      </a:pP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anchor="ctr">
                    <a:lnL w="6350" cap="flat" cmpd="sng" algn="ctr">
                      <a:solidFill>
                        <a:srgbClr val="DDE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E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200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1B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开源 / 开放权重模型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anchor="ctr">
                    <a:lnL w="6350" cap="flat" cmpd="sng" algn="ctr">
                      <a:solidFill>
                        <a:srgbClr val="DDE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2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可免费下载、本地部署、企业私有化修改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anchor="ctr">
                    <a:lnL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2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Llama、Qwen 开源版、DeepSeek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anchor="ctr">
                    <a:lnL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0" name="Shape 0"/>
          <p:cNvSpPr/>
          <p:nvPr/>
        </p:nvSpPr>
        <p:spPr>
          <a:xfrm>
            <a:off x="640080" y="457200"/>
            <a:ext cx="82296" cy="219456"/>
          </a:xfrm>
          <a:prstGeom prst="rect">
            <a:avLst/>
          </a:prstGeom>
          <a:solidFill>
            <a:srgbClr val="1E5AA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11" name="Text 1"/>
          <p:cNvSpPr/>
          <p:nvPr/>
        </p:nvSpPr>
        <p:spPr>
          <a:xfrm>
            <a:off x="804672" y="42976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1E5AA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第一部分 · 认知 AI</a:t>
            </a:r>
            <a:endParaRPr lang="en-US" sz="1050" dirty="0"/>
          </a:p>
        </p:txBody>
      </p:sp>
      <p:sp>
        <p:nvSpPr>
          <p:cNvPr id="812" name="Text 2"/>
          <p:cNvSpPr/>
          <p:nvPr/>
        </p:nvSpPr>
        <p:spPr>
          <a:xfrm>
            <a:off x="640080" y="792000"/>
            <a:ext cx="1091153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能力地图背后，两个最核心的行业事实</a:t>
            </a:r>
            <a:endParaRPr lang="en-US" sz="2200" dirty="0"/>
          </a:p>
        </p:txBody>
      </p:sp>
      <p:sp>
        <p:nvSpPr>
          <p:cNvPr id="813" name="Shape 3"/>
          <p:cNvSpPr/>
          <p:nvPr/>
        </p:nvSpPr>
        <p:spPr>
          <a:xfrm>
            <a:off x="640080" y="1298448"/>
            <a:ext cx="10911535" cy="0"/>
          </a:xfrm>
          <a:prstGeom prst="line">
            <a:avLst/>
          </a:prstGeom>
          <a:noFill/>
          <a:ln w="9525">
            <a:solidFill>
              <a:srgbClr val="D9DFE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14" name="Shape 4"/>
          <p:cNvSpPr/>
          <p:nvPr/>
        </p:nvSpPr>
        <p:spPr>
          <a:xfrm>
            <a:off x="640080" y="1298448"/>
            <a:ext cx="1280160" cy="0"/>
          </a:xfrm>
          <a:prstGeom prst="line">
            <a:avLst/>
          </a:prstGeom>
          <a:noFill/>
          <a:ln w="28575">
            <a:solidFill>
              <a:srgbClr val="1E5AA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15" name="Shape 5"/>
          <p:cNvSpPr/>
          <p:nvPr/>
        </p:nvSpPr>
        <p:spPr>
          <a:xfrm>
            <a:off x="640080" y="6455664"/>
            <a:ext cx="10911535" cy="0"/>
          </a:xfrm>
          <a:prstGeom prst="line">
            <a:avLst/>
          </a:prstGeom>
          <a:noFill/>
          <a:ln w="7620">
            <a:solidFill>
              <a:srgbClr val="D9DFE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16" name="Text 6"/>
          <p:cNvSpPr/>
          <p:nvPr/>
        </p:nvSpPr>
        <p:spPr>
          <a:xfrm>
            <a:off x="640080" y="651052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8A94A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分行批发业务 AI 赋能与行内外系统实战</a:t>
            </a:r>
            <a:endParaRPr lang="en-US" sz="800" dirty="0"/>
          </a:p>
        </p:txBody>
      </p:sp>
      <p:sp>
        <p:nvSpPr>
          <p:cNvPr id="817" name="Text 7"/>
          <p:cNvSpPr/>
          <p:nvPr/>
        </p:nvSpPr>
        <p:spPr>
          <a:xfrm>
            <a:off x="11109960" y="6492240"/>
            <a:ext cx="438912" cy="237744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8A94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900" dirty="0"/>
          </a:p>
        </p:txBody>
      </p:sp>
      <p:sp>
        <p:nvSpPr>
          <p:cNvPr id="818" name="Shape 8"/>
          <p:cNvSpPr/>
          <p:nvPr/>
        </p:nvSpPr>
        <p:spPr>
          <a:xfrm>
            <a:off x="640080" y="1517904"/>
            <a:ext cx="10911535" cy="2212848"/>
          </a:xfrm>
          <a:prstGeom prst="roundRect">
            <a:avLst>
              <a:gd name="adj" fmla="val 3306"/>
            </a:avLst>
          </a:prstGeom>
          <a:solidFill>
            <a:srgbClr val="FFFFFF"/>
          </a:solidFill>
          <a:ln w="9525">
            <a:solidFill>
              <a:srgbClr val="D9DFE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19" name="Shape 9"/>
          <p:cNvSpPr/>
          <p:nvPr/>
        </p:nvSpPr>
        <p:spPr>
          <a:xfrm>
            <a:off x="914400" y="1783080"/>
            <a:ext cx="475488" cy="475488"/>
          </a:xfrm>
          <a:prstGeom prst="ellipse">
            <a:avLst/>
          </a:prstGeom>
          <a:solidFill>
            <a:srgbClr val="1E5AA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20" name="Text 10"/>
          <p:cNvSpPr/>
          <p:nvPr/>
        </p:nvSpPr>
        <p:spPr>
          <a:xfrm>
            <a:off x="914400" y="1783080"/>
            <a:ext cx="475488" cy="475488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700" dirty="0"/>
          </a:p>
        </p:txBody>
      </p:sp>
      <p:sp>
        <p:nvSpPr>
          <p:cNvPr id="821" name="Text 11"/>
          <p:cNvSpPr/>
          <p:nvPr/>
        </p:nvSpPr>
        <p:spPr>
          <a:xfrm>
            <a:off x="1554480" y="1755648"/>
            <a:ext cx="9509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1746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所有的“新模型”，都是从大语言模型（LLM）进化而来</a:t>
            </a:r>
            <a:endParaRPr lang="en-US" sz="2000" dirty="0"/>
          </a:p>
        </p:txBody>
      </p:sp>
      <p:sp>
        <p:nvSpPr>
          <p:cNvPr id="822" name="Text 12"/>
          <p:cNvSpPr/>
          <p:nvPr/>
        </p:nvSpPr>
        <p:spPr>
          <a:xfrm>
            <a:off x="960120" y="23317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B46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多模态大模型</a:t>
            </a:r>
            <a:endParaRPr lang="en-US" sz="1600" dirty="0"/>
          </a:p>
        </p:txBody>
      </p:sp>
      <p:sp>
        <p:nvSpPr>
          <p:cNvPr id="823" name="Text 13"/>
          <p:cNvSpPr/>
          <p:nvPr/>
        </p:nvSpPr>
        <p:spPr>
          <a:xfrm>
            <a:off x="960120" y="2651760"/>
            <a:ext cx="331012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5C67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给 LLM 装上眼睛和耳朵，能看懂报表扫描件、股权架构图</a:t>
            </a:r>
            <a:endParaRPr lang="en-US" sz="1600" dirty="0"/>
          </a:p>
        </p:txBody>
      </p:sp>
      <p:sp>
        <p:nvSpPr>
          <p:cNvPr id="824" name="Text 14"/>
          <p:cNvSpPr/>
          <p:nvPr/>
        </p:nvSpPr>
        <p:spPr>
          <a:xfrm>
            <a:off x="4480560" y="23317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B46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代码大模型</a:t>
            </a:r>
            <a:endParaRPr lang="en-US" sz="1600" dirty="0"/>
          </a:p>
        </p:txBody>
      </p:sp>
      <p:sp>
        <p:nvSpPr>
          <p:cNvPr id="825" name="Text 15"/>
          <p:cNvSpPr/>
          <p:nvPr/>
        </p:nvSpPr>
        <p:spPr>
          <a:xfrm>
            <a:off x="4480560" y="2651760"/>
            <a:ext cx="331012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5C67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 LLM 学会编程语法，自动写代码、做网页</a:t>
            </a:r>
            <a:endParaRPr lang="en-US" sz="1600" dirty="0"/>
          </a:p>
        </p:txBody>
      </p:sp>
      <p:sp>
        <p:nvSpPr>
          <p:cNvPr id="826" name="Text 16"/>
          <p:cNvSpPr/>
          <p:nvPr/>
        </p:nvSpPr>
        <p:spPr>
          <a:xfrm>
            <a:off x="8001000" y="23317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B46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语言是逻辑的载体</a:t>
            </a:r>
            <a:endParaRPr lang="en-US" sz="1600" dirty="0"/>
          </a:p>
        </p:txBody>
      </p:sp>
      <p:sp>
        <p:nvSpPr>
          <p:cNvPr id="827" name="Text 17"/>
          <p:cNvSpPr/>
          <p:nvPr/>
        </p:nvSpPr>
        <p:spPr>
          <a:xfrm>
            <a:off x="8001000" y="2651760"/>
            <a:ext cx="331012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5C67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喂给它全人类文本后，意外获得严密的逻辑与推理能力</a:t>
            </a:r>
            <a:endParaRPr lang="en-US" sz="1600" dirty="0"/>
          </a:p>
        </p:txBody>
      </p:sp>
      <p:sp>
        <p:nvSpPr>
          <p:cNvPr id="828" name="Shape 18"/>
          <p:cNvSpPr/>
          <p:nvPr/>
        </p:nvSpPr>
        <p:spPr>
          <a:xfrm>
            <a:off x="640080" y="3913632"/>
            <a:ext cx="10911535" cy="2212848"/>
          </a:xfrm>
          <a:prstGeom prst="roundRect">
            <a:avLst>
              <a:gd name="adj" fmla="val 3306"/>
            </a:avLst>
          </a:prstGeom>
          <a:solidFill>
            <a:srgbClr val="FFFFFF"/>
          </a:solidFill>
          <a:ln w="9525">
            <a:solidFill>
              <a:srgbClr val="D9DFE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29" name="Shape 19"/>
          <p:cNvSpPr/>
          <p:nvPr/>
        </p:nvSpPr>
        <p:spPr>
          <a:xfrm>
            <a:off x="914400" y="4178808"/>
            <a:ext cx="475488" cy="475488"/>
          </a:xfrm>
          <a:prstGeom prst="ellipse">
            <a:avLst/>
          </a:prstGeom>
          <a:solidFill>
            <a:srgbClr val="B78A3E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30" name="Text 20"/>
          <p:cNvSpPr/>
          <p:nvPr/>
        </p:nvSpPr>
        <p:spPr>
          <a:xfrm>
            <a:off x="914400" y="4178808"/>
            <a:ext cx="475488" cy="475488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700" dirty="0"/>
          </a:p>
        </p:txBody>
      </p:sp>
      <p:sp>
        <p:nvSpPr>
          <p:cNvPr id="831" name="Text 21"/>
          <p:cNvSpPr/>
          <p:nvPr/>
        </p:nvSpPr>
        <p:spPr>
          <a:xfrm>
            <a:off x="1554480" y="4151376"/>
            <a:ext cx="9509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8A63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正在更多、更专业的领域全面开展工作</a:t>
            </a:r>
            <a:endParaRPr lang="en-US" sz="2000" dirty="0"/>
          </a:p>
        </p:txBody>
      </p:sp>
      <p:sp>
        <p:nvSpPr>
          <p:cNvPr id="832" name="Text 22"/>
          <p:cNvSpPr/>
          <p:nvPr/>
        </p:nvSpPr>
        <p:spPr>
          <a:xfrm>
            <a:off x="960120" y="473659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B46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多媒体生成</a:t>
            </a:r>
            <a:endParaRPr lang="en-US" sz="1600" dirty="0"/>
          </a:p>
        </p:txBody>
      </p:sp>
      <p:sp>
        <p:nvSpPr>
          <p:cNvPr id="833" name="Text 23"/>
          <p:cNvSpPr/>
          <p:nvPr/>
        </p:nvSpPr>
        <p:spPr>
          <a:xfrm>
            <a:off x="960120" y="5056632"/>
            <a:ext cx="33101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5C67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输入文字，Flux 2（图）、Ray 3.2（视频）几秒生成大师级视觉作品</a:t>
            </a:r>
            <a:endParaRPr lang="en-US" sz="1600" dirty="0"/>
          </a:p>
        </p:txBody>
      </p:sp>
      <p:sp>
        <p:nvSpPr>
          <p:cNvPr id="834" name="Text 24"/>
          <p:cNvSpPr/>
          <p:nvPr/>
        </p:nvSpPr>
        <p:spPr>
          <a:xfrm>
            <a:off x="4480560" y="473659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B46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科学专业计算</a:t>
            </a:r>
            <a:endParaRPr lang="en-US" sz="1600" dirty="0"/>
          </a:p>
        </p:txBody>
      </p:sp>
      <p:sp>
        <p:nvSpPr>
          <p:cNvPr id="835" name="Text 25"/>
          <p:cNvSpPr/>
          <p:nvPr/>
        </p:nvSpPr>
        <p:spPr>
          <a:xfrm>
            <a:off x="4480560" y="5056632"/>
            <a:ext cx="33101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5C67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AlphaFold 做蛋白质结构预测，把几十年的工作缩短到几分钟</a:t>
            </a:r>
            <a:endParaRPr lang="en-US" sz="1600" dirty="0"/>
          </a:p>
        </p:txBody>
      </p:sp>
      <p:sp>
        <p:nvSpPr>
          <p:cNvPr id="836" name="Text 26"/>
          <p:cNvSpPr/>
          <p:nvPr/>
        </p:nvSpPr>
        <p:spPr>
          <a:xfrm>
            <a:off x="8001000" y="473659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B46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银行对公业务</a:t>
            </a:r>
            <a:endParaRPr lang="en-US" sz="1600" dirty="0"/>
          </a:p>
        </p:txBody>
      </p:sp>
      <p:sp>
        <p:nvSpPr>
          <p:cNvPr id="837" name="Text 27"/>
          <p:cNvSpPr/>
          <p:nvPr/>
        </p:nvSpPr>
        <p:spPr>
          <a:xfrm>
            <a:off x="8001000" y="5056632"/>
            <a:ext cx="33101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600" dirty="0" err="1">
                <a:solidFill>
                  <a:srgbClr val="5C67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给一个目标，自主搜新闻、查天眼查、调报告，跑完整个工作流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" name="Shape 0"/>
          <p:cNvSpPr/>
          <p:nvPr/>
        </p:nvSpPr>
        <p:spPr>
          <a:xfrm>
            <a:off x="640080" y="457200"/>
            <a:ext cx="82296" cy="219456"/>
          </a:xfrm>
          <a:prstGeom prst="rect">
            <a:avLst/>
          </a:prstGeom>
          <a:solidFill>
            <a:srgbClr val="1E5AA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40" name="Text 1"/>
          <p:cNvSpPr/>
          <p:nvPr/>
        </p:nvSpPr>
        <p:spPr>
          <a:xfrm>
            <a:off x="804672" y="42976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1E5AA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第一部分 · 认知 AI</a:t>
            </a:r>
            <a:endParaRPr lang="en-US" sz="1050" dirty="0"/>
          </a:p>
        </p:txBody>
      </p:sp>
      <p:sp>
        <p:nvSpPr>
          <p:cNvPr id="841" name="Text 2"/>
          <p:cNvSpPr/>
          <p:nvPr/>
        </p:nvSpPr>
        <p:spPr>
          <a:xfrm>
            <a:off x="640080" y="792000"/>
            <a:ext cx="1091153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这些名词不用背，知道它们代表什么趋势就够了</a:t>
            </a:r>
            <a:endParaRPr lang="en-US" sz="2200" dirty="0"/>
          </a:p>
        </p:txBody>
      </p:sp>
      <p:sp>
        <p:nvSpPr>
          <p:cNvPr id="842" name="Shape 3"/>
          <p:cNvSpPr/>
          <p:nvPr/>
        </p:nvSpPr>
        <p:spPr>
          <a:xfrm>
            <a:off x="640080" y="1298448"/>
            <a:ext cx="10911535" cy="0"/>
          </a:xfrm>
          <a:prstGeom prst="line">
            <a:avLst/>
          </a:prstGeom>
          <a:noFill/>
          <a:ln w="9525">
            <a:solidFill>
              <a:srgbClr val="D9DFE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43" name="Shape 4"/>
          <p:cNvSpPr/>
          <p:nvPr/>
        </p:nvSpPr>
        <p:spPr>
          <a:xfrm>
            <a:off x="640080" y="1298448"/>
            <a:ext cx="1280160" cy="0"/>
          </a:xfrm>
          <a:prstGeom prst="line">
            <a:avLst/>
          </a:prstGeom>
          <a:noFill/>
          <a:ln w="28575">
            <a:solidFill>
              <a:srgbClr val="1E5AA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44" name="Shape 5"/>
          <p:cNvSpPr/>
          <p:nvPr/>
        </p:nvSpPr>
        <p:spPr>
          <a:xfrm>
            <a:off x="640080" y="6455664"/>
            <a:ext cx="10911535" cy="0"/>
          </a:xfrm>
          <a:prstGeom prst="line">
            <a:avLst/>
          </a:prstGeom>
          <a:noFill/>
          <a:ln w="7620">
            <a:solidFill>
              <a:srgbClr val="D9DFE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45" name="Text 6"/>
          <p:cNvSpPr/>
          <p:nvPr/>
        </p:nvSpPr>
        <p:spPr>
          <a:xfrm>
            <a:off x="640080" y="651052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8A94A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分行批发业务 AI 赋能与行内外系统实战</a:t>
            </a:r>
            <a:endParaRPr lang="en-US" sz="800" dirty="0"/>
          </a:p>
        </p:txBody>
      </p:sp>
      <p:sp>
        <p:nvSpPr>
          <p:cNvPr id="846" name="Text 7"/>
          <p:cNvSpPr/>
          <p:nvPr/>
        </p:nvSpPr>
        <p:spPr>
          <a:xfrm>
            <a:off x="11109960" y="6492240"/>
            <a:ext cx="438912" cy="237744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8A94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900" dirty="0"/>
          </a:p>
        </p:txBody>
      </p:sp>
      <p:sp>
        <p:nvSpPr>
          <p:cNvPr id="847" name="Shape 8"/>
          <p:cNvSpPr/>
          <p:nvPr/>
        </p:nvSpPr>
        <p:spPr>
          <a:xfrm>
            <a:off x="640080" y="1572768"/>
            <a:ext cx="2615184" cy="1800000"/>
          </a:xfrm>
          <a:prstGeom prst="roundRect">
            <a:avLst>
              <a:gd name="adj" fmla="val 4321"/>
            </a:avLst>
          </a:prstGeom>
          <a:solidFill>
            <a:srgbClr val="FFFFFF"/>
          </a:solidFill>
          <a:ln w="9525">
            <a:solidFill>
              <a:srgbClr val="D9DFE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48" name="Shape 9"/>
          <p:cNvSpPr/>
          <p:nvPr/>
        </p:nvSpPr>
        <p:spPr>
          <a:xfrm>
            <a:off x="640080" y="1572768"/>
            <a:ext cx="73152" cy="1800000"/>
          </a:xfrm>
          <a:prstGeom prst="rect">
            <a:avLst/>
          </a:prstGeom>
          <a:solidFill>
            <a:srgbClr val="1E5AA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49" name="Text 10"/>
          <p:cNvSpPr/>
          <p:nvPr/>
        </p:nvSpPr>
        <p:spPr>
          <a:xfrm>
            <a:off x="868680" y="1755648"/>
            <a:ext cx="22494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B46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</a:t>
            </a:r>
            <a:endParaRPr lang="en-US" sz="1600" dirty="0"/>
          </a:p>
        </p:txBody>
      </p:sp>
      <p:sp>
        <p:nvSpPr>
          <p:cNvPr id="850" name="Text 11"/>
          <p:cNvSpPr/>
          <p:nvPr/>
        </p:nvSpPr>
        <p:spPr>
          <a:xfrm>
            <a:off x="868680" y="2139696"/>
            <a:ext cx="220370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8000"/>
              </a:lnSpc>
              <a:buNone/>
            </a:pPr>
            <a:r>
              <a:rPr lang="en-US" sz="1600" dirty="0">
                <a:solidFill>
                  <a:srgbClr val="5C67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怎么把任务说清楚：目标、对象、场景、限制、输出要求</a:t>
            </a:r>
            <a:endParaRPr lang="en-US" sz="1600" dirty="0"/>
          </a:p>
        </p:txBody>
      </p:sp>
      <p:sp>
        <p:nvSpPr>
          <p:cNvPr id="851" name="Shape 12"/>
          <p:cNvSpPr/>
          <p:nvPr/>
        </p:nvSpPr>
        <p:spPr>
          <a:xfrm>
            <a:off x="3405226" y="1572768"/>
            <a:ext cx="2615184" cy="1800000"/>
          </a:xfrm>
          <a:prstGeom prst="roundRect">
            <a:avLst>
              <a:gd name="adj" fmla="val 4321"/>
            </a:avLst>
          </a:prstGeom>
          <a:solidFill>
            <a:srgbClr val="FFFFFF"/>
          </a:solidFill>
          <a:ln w="9525">
            <a:solidFill>
              <a:srgbClr val="D9DFE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52" name="Shape 13"/>
          <p:cNvSpPr/>
          <p:nvPr/>
        </p:nvSpPr>
        <p:spPr>
          <a:xfrm>
            <a:off x="3405226" y="1572768"/>
            <a:ext cx="73152" cy="1800000"/>
          </a:xfrm>
          <a:prstGeom prst="rect">
            <a:avLst/>
          </a:prstGeom>
          <a:solidFill>
            <a:srgbClr val="B78A3E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53" name="Text 14"/>
          <p:cNvSpPr/>
          <p:nvPr/>
        </p:nvSpPr>
        <p:spPr>
          <a:xfrm>
            <a:off x="3633826" y="1755648"/>
            <a:ext cx="22494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B46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Token</a:t>
            </a:r>
            <a:endParaRPr lang="en-US" sz="1600" dirty="0"/>
          </a:p>
        </p:txBody>
      </p:sp>
      <p:sp>
        <p:nvSpPr>
          <p:cNvPr id="854" name="Text 15"/>
          <p:cNvSpPr/>
          <p:nvPr/>
        </p:nvSpPr>
        <p:spPr>
          <a:xfrm>
            <a:off x="3633826" y="2139696"/>
            <a:ext cx="220370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8000"/>
              </a:lnSpc>
              <a:buNone/>
            </a:pPr>
            <a:r>
              <a:rPr lang="en-US" sz="1600" dirty="0">
                <a:solidFill>
                  <a:srgbClr val="5C67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读写文字的“计量单位”：决定容量、上下文与成本</a:t>
            </a:r>
            <a:endParaRPr lang="en-US" sz="1600" dirty="0"/>
          </a:p>
        </p:txBody>
      </p:sp>
      <p:sp>
        <p:nvSpPr>
          <p:cNvPr id="855" name="Shape 16"/>
          <p:cNvSpPr/>
          <p:nvPr/>
        </p:nvSpPr>
        <p:spPr>
          <a:xfrm>
            <a:off x="6170371" y="1572768"/>
            <a:ext cx="2615184" cy="1800000"/>
          </a:xfrm>
          <a:prstGeom prst="roundRect">
            <a:avLst>
              <a:gd name="adj" fmla="val 4321"/>
            </a:avLst>
          </a:prstGeom>
          <a:solidFill>
            <a:srgbClr val="FFFFFF"/>
          </a:solidFill>
          <a:ln w="9525">
            <a:solidFill>
              <a:srgbClr val="D9DFE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56" name="Shape 17"/>
          <p:cNvSpPr/>
          <p:nvPr/>
        </p:nvSpPr>
        <p:spPr>
          <a:xfrm>
            <a:off x="6170371" y="1572768"/>
            <a:ext cx="73152" cy="1800000"/>
          </a:xfrm>
          <a:prstGeom prst="rect">
            <a:avLst/>
          </a:prstGeom>
          <a:solidFill>
            <a:srgbClr val="1E5AA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57" name="Text 18"/>
          <p:cNvSpPr/>
          <p:nvPr/>
        </p:nvSpPr>
        <p:spPr>
          <a:xfrm>
            <a:off x="6398971" y="1755648"/>
            <a:ext cx="22494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B46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</a:t>
            </a:r>
            <a:endParaRPr lang="en-US" sz="1600" dirty="0"/>
          </a:p>
        </p:txBody>
      </p:sp>
      <p:sp>
        <p:nvSpPr>
          <p:cNvPr id="858" name="Text 19"/>
          <p:cNvSpPr/>
          <p:nvPr/>
        </p:nvSpPr>
        <p:spPr>
          <a:xfrm>
            <a:off x="6398971" y="2139696"/>
            <a:ext cx="220370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8000"/>
              </a:lnSpc>
              <a:buNone/>
            </a:pPr>
            <a:r>
              <a:rPr lang="en-US" sz="1600" dirty="0">
                <a:solidFill>
                  <a:srgbClr val="5C67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连接外部工具和数据的标准接口，意味着更容易连接</a:t>
            </a:r>
            <a:endParaRPr lang="en-US" sz="1600" dirty="0"/>
          </a:p>
        </p:txBody>
      </p:sp>
      <p:sp>
        <p:nvSpPr>
          <p:cNvPr id="859" name="Shape 20"/>
          <p:cNvSpPr/>
          <p:nvPr/>
        </p:nvSpPr>
        <p:spPr>
          <a:xfrm>
            <a:off x="8935517" y="1572768"/>
            <a:ext cx="2615184" cy="1800000"/>
          </a:xfrm>
          <a:prstGeom prst="roundRect">
            <a:avLst>
              <a:gd name="adj" fmla="val 4321"/>
            </a:avLst>
          </a:prstGeom>
          <a:solidFill>
            <a:srgbClr val="FFFFFF"/>
          </a:solidFill>
          <a:ln w="9525">
            <a:solidFill>
              <a:srgbClr val="D9DFE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60" name="Shape 21"/>
          <p:cNvSpPr/>
          <p:nvPr/>
        </p:nvSpPr>
        <p:spPr>
          <a:xfrm>
            <a:off x="8935517" y="1572768"/>
            <a:ext cx="73152" cy="1800000"/>
          </a:xfrm>
          <a:prstGeom prst="rect">
            <a:avLst/>
          </a:prstGeom>
          <a:solidFill>
            <a:srgbClr val="B78A3E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61" name="Text 22"/>
          <p:cNvSpPr/>
          <p:nvPr/>
        </p:nvSpPr>
        <p:spPr>
          <a:xfrm>
            <a:off x="9164117" y="1755648"/>
            <a:ext cx="22494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B46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</a:t>
            </a:r>
            <a:endParaRPr lang="en-US" sz="1600" dirty="0"/>
          </a:p>
        </p:txBody>
      </p:sp>
      <p:sp>
        <p:nvSpPr>
          <p:cNvPr id="862" name="Text 23"/>
          <p:cNvSpPr/>
          <p:nvPr/>
        </p:nvSpPr>
        <p:spPr>
          <a:xfrm>
            <a:off x="9164117" y="2139696"/>
            <a:ext cx="220370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8000"/>
              </a:lnSpc>
              <a:buNone/>
            </a:pPr>
            <a:r>
              <a:rPr lang="en-US" sz="1600" dirty="0">
                <a:solidFill>
                  <a:srgbClr val="5C67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围绕目标自己规划、执行多步任务：从回答走向做事</a:t>
            </a:r>
            <a:endParaRPr lang="en-US" sz="1600" dirty="0"/>
          </a:p>
        </p:txBody>
      </p:sp>
      <p:sp>
        <p:nvSpPr>
          <p:cNvPr id="863" name="Shape 24"/>
          <p:cNvSpPr/>
          <p:nvPr/>
        </p:nvSpPr>
        <p:spPr>
          <a:xfrm>
            <a:off x="612648" y="3601224"/>
            <a:ext cx="2615184" cy="1800000"/>
          </a:xfrm>
          <a:prstGeom prst="roundRect">
            <a:avLst>
              <a:gd name="adj" fmla="val 4321"/>
            </a:avLst>
          </a:prstGeom>
          <a:solidFill>
            <a:srgbClr val="FFFFFF"/>
          </a:solidFill>
          <a:ln w="9525">
            <a:solidFill>
              <a:srgbClr val="D9DFE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64" name="Shape 25"/>
          <p:cNvSpPr/>
          <p:nvPr/>
        </p:nvSpPr>
        <p:spPr>
          <a:xfrm>
            <a:off x="612648" y="3601224"/>
            <a:ext cx="73152" cy="1800000"/>
          </a:xfrm>
          <a:prstGeom prst="rect">
            <a:avLst/>
          </a:prstGeom>
          <a:solidFill>
            <a:srgbClr val="1E5AA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65" name="Text 26"/>
          <p:cNvSpPr/>
          <p:nvPr/>
        </p:nvSpPr>
        <p:spPr>
          <a:xfrm>
            <a:off x="841248" y="3784104"/>
            <a:ext cx="22494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B46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</a:t>
            </a:r>
            <a:endParaRPr lang="en-US" sz="1600" dirty="0"/>
          </a:p>
        </p:txBody>
      </p:sp>
      <p:sp>
        <p:nvSpPr>
          <p:cNvPr id="866" name="Text 27"/>
          <p:cNvSpPr/>
          <p:nvPr/>
        </p:nvSpPr>
        <p:spPr>
          <a:xfrm>
            <a:off x="841248" y="4168152"/>
            <a:ext cx="220370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8000"/>
              </a:lnSpc>
              <a:buNone/>
            </a:pPr>
            <a:r>
              <a:rPr lang="en-US" sz="1600" dirty="0">
                <a:solidFill>
                  <a:srgbClr val="5C67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把某类任务做成可复用技能包：经验可以沉淀</a:t>
            </a:r>
            <a:endParaRPr lang="en-US" sz="1600" dirty="0"/>
          </a:p>
        </p:txBody>
      </p:sp>
      <p:sp>
        <p:nvSpPr>
          <p:cNvPr id="867" name="Shape 28"/>
          <p:cNvSpPr/>
          <p:nvPr/>
        </p:nvSpPr>
        <p:spPr>
          <a:xfrm>
            <a:off x="3377794" y="3601224"/>
            <a:ext cx="2615184" cy="1800000"/>
          </a:xfrm>
          <a:prstGeom prst="roundRect">
            <a:avLst>
              <a:gd name="adj" fmla="val 4321"/>
            </a:avLst>
          </a:prstGeom>
          <a:solidFill>
            <a:srgbClr val="FFFFFF"/>
          </a:solidFill>
          <a:ln w="9525">
            <a:solidFill>
              <a:srgbClr val="D9DFE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68" name="Shape 29"/>
          <p:cNvSpPr/>
          <p:nvPr/>
        </p:nvSpPr>
        <p:spPr>
          <a:xfrm>
            <a:off x="3377794" y="3601224"/>
            <a:ext cx="73152" cy="1800000"/>
          </a:xfrm>
          <a:prstGeom prst="rect">
            <a:avLst/>
          </a:prstGeom>
          <a:solidFill>
            <a:srgbClr val="B78A3E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69" name="Text 30"/>
          <p:cNvSpPr/>
          <p:nvPr/>
        </p:nvSpPr>
        <p:spPr>
          <a:xfrm>
            <a:off x="3606394" y="3784104"/>
            <a:ext cx="22494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1B46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插件 / 工具调用</a:t>
            </a:r>
            <a:endParaRPr lang="en-US" sz="1450" dirty="0"/>
          </a:p>
        </p:txBody>
      </p:sp>
      <p:sp>
        <p:nvSpPr>
          <p:cNvPr id="870" name="Text 31"/>
          <p:cNvSpPr/>
          <p:nvPr/>
        </p:nvSpPr>
        <p:spPr>
          <a:xfrm>
            <a:off x="3606394" y="4168152"/>
            <a:ext cx="220370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8000"/>
              </a:lnSpc>
              <a:buNone/>
            </a:pPr>
            <a:r>
              <a:rPr lang="en-US" sz="1600" dirty="0">
                <a:solidFill>
                  <a:srgbClr val="5C67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给 AI 装上手和脚，调用外部能力：AI 能动手</a:t>
            </a:r>
            <a:endParaRPr lang="en-US" sz="1600" dirty="0"/>
          </a:p>
        </p:txBody>
      </p:sp>
      <p:sp>
        <p:nvSpPr>
          <p:cNvPr id="871" name="Shape 32"/>
          <p:cNvSpPr/>
          <p:nvPr/>
        </p:nvSpPr>
        <p:spPr>
          <a:xfrm>
            <a:off x="6142939" y="3601224"/>
            <a:ext cx="2615184" cy="1800000"/>
          </a:xfrm>
          <a:prstGeom prst="roundRect">
            <a:avLst>
              <a:gd name="adj" fmla="val 4321"/>
            </a:avLst>
          </a:prstGeom>
          <a:solidFill>
            <a:srgbClr val="FFFFFF"/>
          </a:solidFill>
          <a:ln w="9525">
            <a:solidFill>
              <a:srgbClr val="D9DFE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72" name="Shape 33"/>
          <p:cNvSpPr/>
          <p:nvPr/>
        </p:nvSpPr>
        <p:spPr>
          <a:xfrm>
            <a:off x="6142939" y="3601224"/>
            <a:ext cx="73152" cy="1800000"/>
          </a:xfrm>
          <a:prstGeom prst="rect">
            <a:avLst/>
          </a:prstGeom>
          <a:solidFill>
            <a:srgbClr val="1E5AA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73" name="Text 34"/>
          <p:cNvSpPr/>
          <p:nvPr/>
        </p:nvSpPr>
        <p:spPr>
          <a:xfrm>
            <a:off x="6371539" y="3784104"/>
            <a:ext cx="22494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B46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</a:t>
            </a:r>
            <a:r>
              <a:rPr lang="en-US" altLang="zh-CN" sz="1600" b="1" dirty="0">
                <a:solidFill>
                  <a:srgbClr val="1B46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arness</a:t>
            </a:r>
            <a:endParaRPr lang="en-US" sz="1600" dirty="0"/>
          </a:p>
        </p:txBody>
      </p:sp>
      <p:sp>
        <p:nvSpPr>
          <p:cNvPr id="874" name="Text 35"/>
          <p:cNvSpPr/>
          <p:nvPr/>
        </p:nvSpPr>
        <p:spPr>
          <a:xfrm>
            <a:off x="6371539" y="4168152"/>
            <a:ext cx="220370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8000"/>
              </a:lnSpc>
              <a:buNone/>
            </a:pPr>
            <a:r>
              <a:rPr lang="zh-CN" altLang="en-US" sz="1600" dirty="0">
                <a:solidFill>
                  <a:srgbClr val="5C6778"/>
                </a:solidFill>
                <a:latin typeface="Microsoft YaHei" pitchFamily="34" charset="0"/>
                <a:ea typeface="Microsoft YaHei" pitchFamily="34" charset="-122"/>
              </a:rPr>
              <a:t>驾驭</a:t>
            </a:r>
            <a:r>
              <a:rPr lang="en-US" altLang="zh-CN" sz="1600" dirty="0">
                <a:solidFill>
                  <a:srgbClr val="5C6778"/>
                </a:solidFill>
                <a:latin typeface="Microsoft YaHei" pitchFamily="34" charset="0"/>
                <a:ea typeface="Microsoft YaHei" pitchFamily="34" charset="-122"/>
              </a:rPr>
              <a:t>AI</a:t>
            </a:r>
            <a:r>
              <a:rPr lang="zh-CN" altLang="en-US" sz="1600" dirty="0">
                <a:solidFill>
                  <a:srgbClr val="5C6778"/>
                </a:solidFill>
                <a:latin typeface="Microsoft YaHei" pitchFamily="34" charset="0"/>
                <a:ea typeface="Microsoft YaHei" pitchFamily="34" charset="-122"/>
              </a:rPr>
              <a:t>的控制框架：把提示词、工具、记忆串联起来，让</a:t>
            </a:r>
            <a:r>
              <a:rPr lang="en-US" altLang="zh-CN" sz="1600" dirty="0">
                <a:solidFill>
                  <a:srgbClr val="5C6778"/>
                </a:solidFill>
                <a:latin typeface="Microsoft YaHei" pitchFamily="34" charset="0"/>
                <a:ea typeface="Microsoft YaHei" pitchFamily="34" charset="-122"/>
              </a:rPr>
              <a:t>AI</a:t>
            </a:r>
            <a:r>
              <a:rPr lang="zh-CN" altLang="en-US" sz="1600" dirty="0">
                <a:solidFill>
                  <a:srgbClr val="5C6778"/>
                </a:solidFill>
                <a:latin typeface="Microsoft YaHei" pitchFamily="34" charset="0"/>
                <a:ea typeface="Microsoft YaHei" pitchFamily="34" charset="-122"/>
              </a:rPr>
              <a:t>稳定、可控地按套路干活</a:t>
            </a:r>
            <a:endParaRPr lang="en-US" sz="1600" dirty="0"/>
          </a:p>
        </p:txBody>
      </p:sp>
      <p:sp>
        <p:nvSpPr>
          <p:cNvPr id="875" name="Shape 36"/>
          <p:cNvSpPr/>
          <p:nvPr/>
        </p:nvSpPr>
        <p:spPr>
          <a:xfrm>
            <a:off x="640080" y="5632704"/>
            <a:ext cx="10911535" cy="713232"/>
          </a:xfrm>
          <a:prstGeom prst="rect">
            <a:avLst/>
          </a:prstGeom>
          <a:solidFill>
            <a:srgbClr val="10345E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76" name="Shape 37"/>
          <p:cNvSpPr/>
          <p:nvPr/>
        </p:nvSpPr>
        <p:spPr>
          <a:xfrm>
            <a:off x="640080" y="5632704"/>
            <a:ext cx="73152" cy="713232"/>
          </a:xfrm>
          <a:prstGeom prst="rect">
            <a:avLst/>
          </a:prstGeom>
          <a:solidFill>
            <a:srgbClr val="B78A3E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77" name="Text 38"/>
          <p:cNvSpPr/>
          <p:nvPr/>
        </p:nvSpPr>
        <p:spPr>
          <a:xfrm>
            <a:off x="896112" y="5632704"/>
            <a:ext cx="1045433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正在把复杂留给自己，把简单交给用户——不需要成为每个名词的专家。</a:t>
            </a:r>
            <a:endParaRPr lang="en-US" sz="1450" dirty="0"/>
          </a:p>
        </p:txBody>
      </p:sp>
      <p:sp>
        <p:nvSpPr>
          <p:cNvPr id="878" name="Shape 20"/>
          <p:cNvSpPr/>
          <p:nvPr/>
        </p:nvSpPr>
        <p:spPr>
          <a:xfrm>
            <a:off x="8908084" y="3601224"/>
            <a:ext cx="2615184" cy="1800000"/>
          </a:xfrm>
          <a:prstGeom prst="roundRect">
            <a:avLst>
              <a:gd name="adj" fmla="val 4321"/>
            </a:avLst>
          </a:prstGeom>
          <a:solidFill>
            <a:srgbClr val="FFFFFF"/>
          </a:solidFill>
          <a:ln w="9525">
            <a:solidFill>
              <a:srgbClr val="D9DFE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79" name="Shape 21"/>
          <p:cNvSpPr/>
          <p:nvPr/>
        </p:nvSpPr>
        <p:spPr>
          <a:xfrm>
            <a:off x="8908084" y="3601224"/>
            <a:ext cx="73152" cy="1800000"/>
          </a:xfrm>
          <a:prstGeom prst="rect">
            <a:avLst/>
          </a:prstGeom>
          <a:solidFill>
            <a:srgbClr val="B78A3E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80" name="Text 22"/>
          <p:cNvSpPr/>
          <p:nvPr/>
        </p:nvSpPr>
        <p:spPr>
          <a:xfrm>
            <a:off x="9136684" y="3784104"/>
            <a:ext cx="22494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zh-CN" altLang="en-US" sz="1600" b="1" dirty="0">
                <a:solidFill>
                  <a:srgbClr val="1B467C"/>
                </a:solidFill>
                <a:latin typeface="Arial" pitchFamily="34" charset="0"/>
                <a:cs typeface="Arial" pitchFamily="34" charset="-120"/>
              </a:rPr>
              <a:t>一人公司</a:t>
            </a:r>
            <a:endParaRPr lang="en-US" sz="1600" dirty="0"/>
          </a:p>
        </p:txBody>
      </p:sp>
      <p:sp>
        <p:nvSpPr>
          <p:cNvPr id="881" name="Text 23"/>
          <p:cNvSpPr/>
          <p:nvPr/>
        </p:nvSpPr>
        <p:spPr>
          <a:xfrm>
            <a:off x="9136684" y="4168152"/>
            <a:ext cx="220370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28000"/>
              </a:lnSpc>
            </a:pPr>
            <a:r>
              <a:rPr lang="en-US" altLang="zh-CN" sz="1600" dirty="0" err="1">
                <a:solidFill>
                  <a:srgbClr val="5C67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一个人</a:t>
            </a:r>
            <a:r>
              <a:rPr lang="en-US" altLang="zh-CN" sz="1600" dirty="0">
                <a:solidFill>
                  <a:srgbClr val="5C67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+ AI + </a:t>
            </a:r>
            <a:r>
              <a:rPr lang="en-US" altLang="zh-CN" sz="1600" dirty="0" err="1">
                <a:solidFill>
                  <a:srgbClr val="5C67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工具链，放大个人产能：工作方式变化</a:t>
            </a:r>
            <a:endParaRPr lang="en-US" altLang="zh-CN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0"/>
          <p:cNvSpPr/>
          <p:nvPr/>
        </p:nvSpPr>
        <p:spPr>
          <a:xfrm>
            <a:off x="640080" y="457200"/>
            <a:ext cx="82296" cy="219456"/>
          </a:xfrm>
          <a:prstGeom prst="rect">
            <a:avLst/>
          </a:prstGeom>
          <a:solidFill>
            <a:srgbClr val="1E5AA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Text 1"/>
          <p:cNvSpPr/>
          <p:nvPr/>
        </p:nvSpPr>
        <p:spPr>
          <a:xfrm>
            <a:off x="804672" y="42976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1E5AA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第一部分 · 认知 AI</a:t>
            </a:r>
            <a:endParaRPr lang="en-US" sz="1050" dirty="0"/>
          </a:p>
        </p:txBody>
      </p:sp>
      <p:sp>
        <p:nvSpPr>
          <p:cNvPr id="6" name="Text 2"/>
          <p:cNvSpPr/>
          <p:nvPr/>
        </p:nvSpPr>
        <p:spPr>
          <a:xfrm>
            <a:off x="640080" y="792000"/>
            <a:ext cx="1091153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使用门槛的下降速度，远超我们熟悉的技术普及</a:t>
            </a:r>
            <a:endParaRPr lang="en-US" sz="2200" dirty="0"/>
          </a:p>
        </p:txBody>
      </p:sp>
      <p:sp>
        <p:nvSpPr>
          <p:cNvPr id="7" name="Shape 3"/>
          <p:cNvSpPr/>
          <p:nvPr/>
        </p:nvSpPr>
        <p:spPr>
          <a:xfrm>
            <a:off x="640080" y="1298448"/>
            <a:ext cx="10911535" cy="0"/>
          </a:xfrm>
          <a:prstGeom prst="line">
            <a:avLst/>
          </a:prstGeom>
          <a:noFill/>
          <a:ln w="9525">
            <a:solidFill>
              <a:srgbClr val="D9DFE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Shape 4"/>
          <p:cNvSpPr/>
          <p:nvPr/>
        </p:nvSpPr>
        <p:spPr>
          <a:xfrm>
            <a:off x="640080" y="1298448"/>
            <a:ext cx="1280160" cy="0"/>
          </a:xfrm>
          <a:prstGeom prst="line">
            <a:avLst/>
          </a:prstGeom>
          <a:noFill/>
          <a:ln w="28575">
            <a:solidFill>
              <a:srgbClr val="1E5AA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Shape 5"/>
          <p:cNvSpPr/>
          <p:nvPr/>
        </p:nvSpPr>
        <p:spPr>
          <a:xfrm>
            <a:off x="640080" y="6455664"/>
            <a:ext cx="10911535" cy="0"/>
          </a:xfrm>
          <a:prstGeom prst="line">
            <a:avLst/>
          </a:prstGeom>
          <a:noFill/>
          <a:ln w="7620">
            <a:solidFill>
              <a:srgbClr val="D9DFE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Text 6"/>
          <p:cNvSpPr/>
          <p:nvPr/>
        </p:nvSpPr>
        <p:spPr>
          <a:xfrm>
            <a:off x="640080" y="651052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8A94A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分行批发业务 AI 赋能与行内外系统实战</a:t>
            </a:r>
            <a:endParaRPr lang="en-US" sz="800" dirty="0"/>
          </a:p>
        </p:txBody>
      </p:sp>
      <p:sp>
        <p:nvSpPr>
          <p:cNvPr id="11" name="Text 7"/>
          <p:cNvSpPr/>
          <p:nvPr/>
        </p:nvSpPr>
        <p:spPr>
          <a:xfrm>
            <a:off x="11109960" y="6492240"/>
            <a:ext cx="438912" cy="237744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8A94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900" dirty="0"/>
          </a:p>
        </p:txBody>
      </p:sp>
      <p:sp>
        <p:nvSpPr>
          <p:cNvPr id="12" name="Shape 8"/>
          <p:cNvSpPr/>
          <p:nvPr/>
        </p:nvSpPr>
        <p:spPr>
          <a:xfrm>
            <a:off x="640080" y="1691640"/>
            <a:ext cx="521208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9525">
            <a:solidFill>
              <a:srgbClr val="D9DFE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Shape 9"/>
          <p:cNvSpPr/>
          <p:nvPr/>
        </p:nvSpPr>
        <p:spPr>
          <a:xfrm>
            <a:off x="640080" y="1691640"/>
            <a:ext cx="5212080" cy="91440"/>
          </a:xfrm>
          <a:prstGeom prst="rect">
            <a:avLst/>
          </a:prstGeom>
          <a:solidFill>
            <a:srgbClr val="8A94A3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4" name="Text 10"/>
          <p:cNvSpPr/>
          <p:nvPr/>
        </p:nvSpPr>
        <p:spPr>
          <a:xfrm>
            <a:off x="960120" y="2057400"/>
            <a:ext cx="2926080" cy="914400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5400" b="1" dirty="0">
                <a:solidFill>
                  <a:srgbClr val="8A94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2000+</a:t>
            </a:r>
            <a:endParaRPr lang="en-US" sz="5400" dirty="0"/>
          </a:p>
        </p:txBody>
      </p:sp>
      <p:sp>
        <p:nvSpPr>
          <p:cNvPr id="15" name="Text 11"/>
          <p:cNvSpPr/>
          <p:nvPr/>
        </p:nvSpPr>
        <p:spPr>
          <a:xfrm>
            <a:off x="3703320" y="2395728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8A94A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年</a:t>
            </a:r>
            <a:endParaRPr lang="en-US" sz="1800" dirty="0"/>
          </a:p>
        </p:txBody>
      </p:sp>
      <p:sp>
        <p:nvSpPr>
          <p:cNvPr id="16" name="Text 12"/>
          <p:cNvSpPr/>
          <p:nvPr/>
        </p:nvSpPr>
        <p:spPr>
          <a:xfrm>
            <a:off x="960120" y="3127248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5C67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人类从观察、认识电，到把电变成驱动机器的动力</a:t>
            </a:r>
            <a:endParaRPr lang="en-US" sz="1600" dirty="0"/>
          </a:p>
        </p:txBody>
      </p:sp>
      <p:sp>
        <p:nvSpPr>
          <p:cNvPr id="17" name="Shape 13"/>
          <p:cNvSpPr/>
          <p:nvPr/>
        </p:nvSpPr>
        <p:spPr>
          <a:xfrm>
            <a:off x="6336792" y="1691640"/>
            <a:ext cx="521208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9525">
            <a:solidFill>
              <a:srgbClr val="D9DFE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Shape 14"/>
          <p:cNvSpPr/>
          <p:nvPr/>
        </p:nvSpPr>
        <p:spPr>
          <a:xfrm>
            <a:off x="6336792" y="1691640"/>
            <a:ext cx="5212080" cy="91440"/>
          </a:xfrm>
          <a:prstGeom prst="rect">
            <a:avLst/>
          </a:prstGeom>
          <a:solidFill>
            <a:srgbClr val="1E5AA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9" name="Text 15"/>
          <p:cNvSpPr/>
          <p:nvPr/>
        </p:nvSpPr>
        <p:spPr>
          <a:xfrm>
            <a:off x="6656832" y="2057400"/>
            <a:ext cx="2926080" cy="914400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5400" b="1" dirty="0">
                <a:solidFill>
                  <a:srgbClr val="1E5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2</a:t>
            </a:r>
            <a:endParaRPr lang="en-US" sz="5400" dirty="0"/>
          </a:p>
        </p:txBody>
      </p:sp>
      <p:sp>
        <p:nvSpPr>
          <p:cNvPr id="20" name="Text 16"/>
          <p:cNvSpPr/>
          <p:nvPr/>
        </p:nvSpPr>
        <p:spPr>
          <a:xfrm>
            <a:off x="9400032" y="2395728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1E5AA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年</a:t>
            </a:r>
            <a:endParaRPr lang="en-US" sz="1800" dirty="0"/>
          </a:p>
        </p:txBody>
      </p:sp>
      <p:sp>
        <p:nvSpPr>
          <p:cNvPr id="21" name="Text 17"/>
          <p:cNvSpPr/>
          <p:nvPr/>
        </p:nvSpPr>
        <p:spPr>
          <a:xfrm>
            <a:off x="6656832" y="3127248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5C67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从“会聊天”到“会规划、会调用工具、会自己推进任务”</a:t>
            </a:r>
            <a:endParaRPr lang="en-US" sz="1600" dirty="0"/>
          </a:p>
        </p:txBody>
      </p:sp>
      <p:sp>
        <p:nvSpPr>
          <p:cNvPr id="22" name="Shape 18"/>
          <p:cNvSpPr/>
          <p:nvPr/>
        </p:nvSpPr>
        <p:spPr>
          <a:xfrm>
            <a:off x="5815584" y="2514600"/>
            <a:ext cx="566928" cy="658368"/>
          </a:xfrm>
          <a:prstGeom prst="chevron">
            <a:avLst/>
          </a:prstGeom>
          <a:solidFill>
            <a:srgbClr val="B78A3E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3" name="Shape 19"/>
          <p:cNvSpPr/>
          <p:nvPr/>
        </p:nvSpPr>
        <p:spPr>
          <a:xfrm>
            <a:off x="640080" y="4343400"/>
            <a:ext cx="10911535" cy="658368"/>
          </a:xfrm>
          <a:prstGeom prst="rect">
            <a:avLst/>
          </a:prstGeom>
          <a:solidFill>
            <a:srgbClr val="10345E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4" name="Shape 20"/>
          <p:cNvSpPr/>
          <p:nvPr/>
        </p:nvSpPr>
        <p:spPr>
          <a:xfrm>
            <a:off x="640080" y="4343400"/>
            <a:ext cx="73152" cy="658368"/>
          </a:xfrm>
          <a:prstGeom prst="rect">
            <a:avLst/>
          </a:prstGeom>
          <a:solidFill>
            <a:srgbClr val="B78A3E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5" name="Text 21"/>
          <p:cNvSpPr/>
          <p:nvPr/>
        </p:nvSpPr>
        <p:spPr>
          <a:xfrm>
            <a:off x="896112" y="4343400"/>
            <a:ext cx="1045433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名词可以不背，趋势要知道；操作可以简化，判断不能简化。</a:t>
            </a:r>
            <a:endParaRPr lang="en-US" sz="1600" dirty="0"/>
          </a:p>
        </p:txBody>
      </p:sp>
      <p:sp>
        <p:nvSpPr>
          <p:cNvPr id="26" name="Shape 22"/>
          <p:cNvSpPr/>
          <p:nvPr/>
        </p:nvSpPr>
        <p:spPr>
          <a:xfrm>
            <a:off x="640080" y="5193792"/>
            <a:ext cx="10911535" cy="932688"/>
          </a:xfrm>
          <a:prstGeom prst="roundRect">
            <a:avLst>
              <a:gd name="adj" fmla="val 5882"/>
            </a:avLst>
          </a:prstGeom>
          <a:solidFill>
            <a:srgbClr val="E9F0F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7" name="Text 23"/>
          <p:cNvSpPr/>
          <p:nvPr/>
        </p:nvSpPr>
        <p:spPr>
          <a:xfrm>
            <a:off x="960120" y="5340096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746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我们真正要练的三件事：提出好问题  ·  说清目标  ·  判断结果</a:t>
            </a:r>
            <a:endParaRPr lang="en-US" sz="1600" dirty="0"/>
          </a:p>
        </p:txBody>
      </p:sp>
      <p:sp>
        <p:nvSpPr>
          <p:cNvPr id="28" name="Text 24"/>
          <p:cNvSpPr/>
          <p:nvPr/>
        </p:nvSpPr>
        <p:spPr>
          <a:xfrm>
            <a:off x="960120" y="5705856"/>
            <a:ext cx="10241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5C67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Token 也提醒我们：AI 不是无限记忆、无限成本——材料太长要分段，关键信息放前面，输出控制长度。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6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0"/>
          <p:cNvSpPr/>
          <p:nvPr/>
        </p:nvSpPr>
        <p:spPr>
          <a:xfrm>
            <a:off x="640080" y="457200"/>
            <a:ext cx="82296" cy="219456"/>
          </a:xfrm>
          <a:prstGeom prst="rect">
            <a:avLst/>
          </a:prstGeom>
          <a:solidFill>
            <a:srgbClr val="1E5AA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1" name="Text 1"/>
          <p:cNvSpPr/>
          <p:nvPr/>
        </p:nvSpPr>
        <p:spPr>
          <a:xfrm>
            <a:off x="804672" y="42976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1E5AA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第一部分 · 认知 AI</a:t>
            </a:r>
            <a:endParaRPr lang="en-US" sz="1050" dirty="0"/>
          </a:p>
        </p:txBody>
      </p:sp>
      <p:sp>
        <p:nvSpPr>
          <p:cNvPr id="32" name="Text 2"/>
          <p:cNvSpPr/>
          <p:nvPr/>
        </p:nvSpPr>
        <p:spPr>
          <a:xfrm>
            <a:off x="640080" y="792000"/>
            <a:ext cx="1091153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不做排行榜，先画一张“任务地图”：大脑与手脚两层</a:t>
            </a:r>
            <a:endParaRPr lang="en-US" sz="2200" dirty="0"/>
          </a:p>
        </p:txBody>
      </p:sp>
      <p:sp>
        <p:nvSpPr>
          <p:cNvPr id="33" name="Shape 3"/>
          <p:cNvSpPr/>
          <p:nvPr/>
        </p:nvSpPr>
        <p:spPr>
          <a:xfrm>
            <a:off x="640080" y="1298448"/>
            <a:ext cx="10911535" cy="0"/>
          </a:xfrm>
          <a:prstGeom prst="line">
            <a:avLst/>
          </a:prstGeom>
          <a:noFill/>
          <a:ln w="9525">
            <a:solidFill>
              <a:srgbClr val="D9DFE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4" name="Shape 4"/>
          <p:cNvSpPr/>
          <p:nvPr/>
        </p:nvSpPr>
        <p:spPr>
          <a:xfrm>
            <a:off x="640080" y="1298448"/>
            <a:ext cx="1280160" cy="0"/>
          </a:xfrm>
          <a:prstGeom prst="line">
            <a:avLst/>
          </a:prstGeom>
          <a:noFill/>
          <a:ln w="28575">
            <a:solidFill>
              <a:srgbClr val="1E5AA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5" name="Shape 5"/>
          <p:cNvSpPr/>
          <p:nvPr/>
        </p:nvSpPr>
        <p:spPr>
          <a:xfrm>
            <a:off x="640080" y="6455664"/>
            <a:ext cx="10911535" cy="0"/>
          </a:xfrm>
          <a:prstGeom prst="line">
            <a:avLst/>
          </a:prstGeom>
          <a:noFill/>
          <a:ln w="7620">
            <a:solidFill>
              <a:srgbClr val="D9DFE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6" name="Text 6"/>
          <p:cNvSpPr/>
          <p:nvPr/>
        </p:nvSpPr>
        <p:spPr>
          <a:xfrm>
            <a:off x="640080" y="651052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8A94A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分行批发业务 AI 赋能与行内外系统实战</a:t>
            </a:r>
            <a:endParaRPr lang="en-US" sz="800" dirty="0"/>
          </a:p>
        </p:txBody>
      </p:sp>
      <p:sp>
        <p:nvSpPr>
          <p:cNvPr id="37" name="Text 7"/>
          <p:cNvSpPr/>
          <p:nvPr/>
        </p:nvSpPr>
        <p:spPr>
          <a:xfrm>
            <a:off x="11109960" y="6492240"/>
            <a:ext cx="438912" cy="237744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8A94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900" dirty="0"/>
          </a:p>
        </p:txBody>
      </p:sp>
      <p:sp>
        <p:nvSpPr>
          <p:cNvPr id="38" name="Shape 8"/>
          <p:cNvSpPr/>
          <p:nvPr/>
        </p:nvSpPr>
        <p:spPr>
          <a:xfrm>
            <a:off x="640080" y="1554480"/>
            <a:ext cx="10911535" cy="1901952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9525">
            <a:solidFill>
              <a:srgbClr val="D9DFE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9" name="Shape 9"/>
          <p:cNvSpPr/>
          <p:nvPr/>
        </p:nvSpPr>
        <p:spPr>
          <a:xfrm>
            <a:off x="640080" y="1554480"/>
            <a:ext cx="1554480" cy="1901952"/>
          </a:xfrm>
          <a:prstGeom prst="rect">
            <a:avLst/>
          </a:prstGeom>
          <a:solidFill>
            <a:srgbClr val="1E5AA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0" name="Text 10"/>
          <p:cNvSpPr/>
          <p:nvPr/>
        </p:nvSpPr>
        <p:spPr>
          <a:xfrm>
            <a:off x="640080" y="205740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第一层</a:t>
            </a:r>
            <a:endParaRPr lang="en-US" sz="1250" dirty="0"/>
          </a:p>
        </p:txBody>
      </p:sp>
      <p:sp>
        <p:nvSpPr>
          <p:cNvPr id="41" name="Text 11"/>
          <p:cNvSpPr/>
          <p:nvPr/>
        </p:nvSpPr>
        <p:spPr>
          <a:xfrm>
            <a:off x="640080" y="2423160"/>
            <a:ext cx="1554480" cy="548640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L1</a:t>
            </a:r>
            <a:endParaRPr lang="en-US" sz="3000" dirty="0"/>
          </a:p>
        </p:txBody>
      </p:sp>
      <p:sp>
        <p:nvSpPr>
          <p:cNvPr id="42" name="Text 12"/>
          <p:cNvSpPr/>
          <p:nvPr/>
        </p:nvSpPr>
        <p:spPr>
          <a:xfrm>
            <a:off x="2468880" y="1828800"/>
            <a:ext cx="8686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1B46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文本大模型 ＝ “大脑”</a:t>
            </a:r>
            <a:endParaRPr lang="en-US" sz="2000" dirty="0"/>
          </a:p>
        </p:txBody>
      </p:sp>
      <p:sp>
        <p:nvSpPr>
          <p:cNvPr id="43" name="Text 13"/>
          <p:cNvSpPr/>
          <p:nvPr/>
        </p:nvSpPr>
        <p:spPr>
          <a:xfrm>
            <a:off x="2468880" y="2304288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5C67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理解、推理、写作、分析、总结、对话与多模态理解</a:t>
            </a:r>
            <a:endParaRPr lang="en-US" sz="1600" dirty="0"/>
          </a:p>
        </p:txBody>
      </p:sp>
      <p:sp>
        <p:nvSpPr>
          <p:cNvPr id="44" name="Shape 14"/>
          <p:cNvSpPr/>
          <p:nvPr/>
        </p:nvSpPr>
        <p:spPr>
          <a:xfrm>
            <a:off x="2468880" y="2724912"/>
            <a:ext cx="8686800" cy="0"/>
          </a:xfrm>
          <a:prstGeom prst="line">
            <a:avLst/>
          </a:prstGeom>
          <a:noFill/>
          <a:ln w="9525">
            <a:solidFill>
              <a:srgbClr val="D9DFE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5" name="Text 15"/>
          <p:cNvSpPr/>
          <p:nvPr/>
        </p:nvSpPr>
        <p:spPr>
          <a:xfrm>
            <a:off x="2468880" y="2852928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E5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ChatGPT、Claude、Gemini、DeepSeek、通义千问、豆包、Kimi、智谱 GLM</a:t>
            </a:r>
            <a:endParaRPr lang="en-US" sz="1600" dirty="0"/>
          </a:p>
        </p:txBody>
      </p:sp>
      <p:sp>
        <p:nvSpPr>
          <p:cNvPr id="46" name="Shape 16"/>
          <p:cNvSpPr/>
          <p:nvPr/>
        </p:nvSpPr>
        <p:spPr>
          <a:xfrm>
            <a:off x="640080" y="3703320"/>
            <a:ext cx="10911535" cy="1901952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9525">
            <a:solidFill>
              <a:srgbClr val="D9DFE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7" name="Shape 17"/>
          <p:cNvSpPr/>
          <p:nvPr/>
        </p:nvSpPr>
        <p:spPr>
          <a:xfrm>
            <a:off x="640080" y="3703320"/>
            <a:ext cx="1554480" cy="1901952"/>
          </a:xfrm>
          <a:prstGeom prst="rect">
            <a:avLst/>
          </a:prstGeom>
          <a:solidFill>
            <a:srgbClr val="B78A3E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8" name="Text 18"/>
          <p:cNvSpPr/>
          <p:nvPr/>
        </p:nvSpPr>
        <p:spPr>
          <a:xfrm>
            <a:off x="640080" y="420624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第二层</a:t>
            </a:r>
            <a:endParaRPr lang="en-US" sz="1250" dirty="0"/>
          </a:p>
        </p:txBody>
      </p:sp>
      <p:sp>
        <p:nvSpPr>
          <p:cNvPr id="49" name="Text 19"/>
          <p:cNvSpPr/>
          <p:nvPr/>
        </p:nvSpPr>
        <p:spPr>
          <a:xfrm>
            <a:off x="640080" y="4572000"/>
            <a:ext cx="1554480" cy="548640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L2</a:t>
            </a:r>
            <a:endParaRPr lang="en-US" sz="3000" dirty="0"/>
          </a:p>
        </p:txBody>
      </p:sp>
      <p:sp>
        <p:nvSpPr>
          <p:cNvPr id="50" name="Text 20"/>
          <p:cNvSpPr/>
          <p:nvPr/>
        </p:nvSpPr>
        <p:spPr>
          <a:xfrm>
            <a:off x="2468880" y="3977640"/>
            <a:ext cx="8686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1B46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工具 / Agent 平台 ＝ “手脚”和“流水线”</a:t>
            </a:r>
            <a:endParaRPr lang="en-US" sz="2000" dirty="0"/>
          </a:p>
        </p:txBody>
      </p:sp>
      <p:sp>
        <p:nvSpPr>
          <p:cNvPr id="51" name="Text 21"/>
          <p:cNvSpPr/>
          <p:nvPr/>
        </p:nvSpPr>
        <p:spPr>
          <a:xfrm>
            <a:off x="2468880" y="4453128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5C67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把模型能力接到文件、表格、PPT、代码、网页、系统流程里</a:t>
            </a:r>
            <a:endParaRPr lang="en-US" sz="1600" dirty="0"/>
          </a:p>
        </p:txBody>
      </p:sp>
      <p:sp>
        <p:nvSpPr>
          <p:cNvPr id="52" name="Shape 22"/>
          <p:cNvSpPr/>
          <p:nvPr/>
        </p:nvSpPr>
        <p:spPr>
          <a:xfrm>
            <a:off x="2468880" y="4873752"/>
            <a:ext cx="8686800" cy="0"/>
          </a:xfrm>
          <a:prstGeom prst="line">
            <a:avLst/>
          </a:prstGeom>
          <a:noFill/>
          <a:ln w="9525">
            <a:solidFill>
              <a:srgbClr val="D9DFE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3" name="Text 23"/>
          <p:cNvSpPr/>
          <p:nvPr/>
        </p:nvSpPr>
        <p:spPr>
          <a:xfrm>
            <a:off x="2468880" y="5001768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B78A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WorkBuddy、DeepSeek Harness、Trae、Claude 任务协作、扣子 Coze、Dify、n8n</a:t>
            </a:r>
            <a:endParaRPr lang="en-US" sz="1600" dirty="0"/>
          </a:p>
        </p:txBody>
      </p:sp>
      <p:sp>
        <p:nvSpPr>
          <p:cNvPr id="54" name="Shape 24"/>
          <p:cNvSpPr/>
          <p:nvPr/>
        </p:nvSpPr>
        <p:spPr>
          <a:xfrm>
            <a:off x="640080" y="5779008"/>
            <a:ext cx="10911535" cy="502920"/>
          </a:xfrm>
          <a:prstGeom prst="roundRect">
            <a:avLst>
              <a:gd name="adj" fmla="val 9091"/>
            </a:avLst>
          </a:prstGeom>
          <a:solidFill>
            <a:srgbClr val="E9F0F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5" name="Shape 25"/>
          <p:cNvSpPr/>
          <p:nvPr/>
        </p:nvSpPr>
        <p:spPr>
          <a:xfrm>
            <a:off x="640080" y="5779008"/>
            <a:ext cx="73152" cy="502920"/>
          </a:xfrm>
          <a:prstGeom prst="rect">
            <a:avLst/>
          </a:prstGeom>
          <a:solidFill>
            <a:srgbClr val="1E5AA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6" name="Text 26"/>
          <p:cNvSpPr/>
          <p:nvPr/>
        </p:nvSpPr>
        <p:spPr>
          <a:xfrm>
            <a:off x="896112" y="5779008"/>
            <a:ext cx="1045433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746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别问“哪个 AI 最强”，要问：我要解决什么问题？谁更适合？在国内还是国外？能否满足行内边界？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6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Shape 0"/>
          <p:cNvSpPr/>
          <p:nvPr/>
        </p:nvSpPr>
        <p:spPr>
          <a:xfrm>
            <a:off x="640080" y="457200"/>
            <a:ext cx="82296" cy="219456"/>
          </a:xfrm>
          <a:prstGeom prst="rect">
            <a:avLst/>
          </a:prstGeom>
          <a:solidFill>
            <a:srgbClr val="1E5AA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9" name="Text 1"/>
          <p:cNvSpPr/>
          <p:nvPr/>
        </p:nvSpPr>
        <p:spPr>
          <a:xfrm>
            <a:off x="804672" y="42976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1E5AA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第一部分 · 认知 AI</a:t>
            </a:r>
            <a:endParaRPr lang="en-US" sz="1050" dirty="0"/>
          </a:p>
        </p:txBody>
      </p:sp>
      <p:sp>
        <p:nvSpPr>
          <p:cNvPr id="60" name="Text 2"/>
          <p:cNvSpPr/>
          <p:nvPr/>
        </p:nvSpPr>
        <p:spPr>
          <a:xfrm>
            <a:off x="640080" y="792000"/>
            <a:ext cx="1091153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主流文本大模型地图（任务视角，非排名）</a:t>
            </a:r>
            <a:endParaRPr lang="en-US" sz="2200" dirty="0"/>
          </a:p>
        </p:txBody>
      </p:sp>
      <p:sp>
        <p:nvSpPr>
          <p:cNvPr id="61" name="Shape 3"/>
          <p:cNvSpPr/>
          <p:nvPr/>
        </p:nvSpPr>
        <p:spPr>
          <a:xfrm>
            <a:off x="640080" y="1298448"/>
            <a:ext cx="10911535" cy="0"/>
          </a:xfrm>
          <a:prstGeom prst="line">
            <a:avLst/>
          </a:prstGeom>
          <a:noFill/>
          <a:ln w="9525">
            <a:solidFill>
              <a:srgbClr val="D9DFE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2" name="Shape 4"/>
          <p:cNvSpPr/>
          <p:nvPr/>
        </p:nvSpPr>
        <p:spPr>
          <a:xfrm>
            <a:off x="640080" y="1298448"/>
            <a:ext cx="1280160" cy="0"/>
          </a:xfrm>
          <a:prstGeom prst="line">
            <a:avLst/>
          </a:prstGeom>
          <a:noFill/>
          <a:ln w="28575">
            <a:solidFill>
              <a:srgbClr val="1E5AA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3" name="Shape 5"/>
          <p:cNvSpPr/>
          <p:nvPr/>
        </p:nvSpPr>
        <p:spPr>
          <a:xfrm>
            <a:off x="640080" y="6455664"/>
            <a:ext cx="10911535" cy="0"/>
          </a:xfrm>
          <a:prstGeom prst="line">
            <a:avLst/>
          </a:prstGeom>
          <a:noFill/>
          <a:ln w="7620">
            <a:solidFill>
              <a:srgbClr val="D9DFE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4" name="Text 6"/>
          <p:cNvSpPr/>
          <p:nvPr/>
        </p:nvSpPr>
        <p:spPr>
          <a:xfrm>
            <a:off x="640080" y="651052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8A94A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分行批发业务 AI 赋能与行内外系统实战</a:t>
            </a:r>
            <a:endParaRPr lang="en-US" sz="800" dirty="0"/>
          </a:p>
        </p:txBody>
      </p:sp>
      <p:sp>
        <p:nvSpPr>
          <p:cNvPr id="65" name="Text 7"/>
          <p:cNvSpPr/>
          <p:nvPr/>
        </p:nvSpPr>
        <p:spPr>
          <a:xfrm>
            <a:off x="11109960" y="6492240"/>
            <a:ext cx="438912" cy="237744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8A94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900" dirty="0"/>
          </a:p>
        </p:txBody>
      </p:sp>
      <p:graphicFrame>
        <p:nvGraphicFramePr>
          <p:cNvPr id="66" name="Table 0"/>
          <p:cNvGraphicFramePr>
            <a:graphicFrameLocks noGrp="1"/>
          </p:cNvGraphicFramePr>
          <p:nvPr/>
        </p:nvGraphicFramePr>
        <p:xfrm>
          <a:off x="640081" y="1554480"/>
          <a:ext cx="10908792" cy="4631084"/>
        </p:xfrm>
        <a:graphic>
          <a:graphicData uri="http://schemas.openxmlformats.org/drawingml/2006/table">
            <a:tbl>
              <a:tblPr/>
              <a:tblGrid>
                <a:gridCol w="777045">
                  <a:extLst>
                    <a:ext uri="{9D8B030D-6E8A-4147-A177-3AD203B41FA5}">
                      <a16:colId xmlns:a16="http://schemas.microsoft.com/office/drawing/2014/main" val="1"/>
                    </a:ext>
                  </a:extLst>
                </a:gridCol>
                <a:gridCol w="2056883">
                  <a:extLst>
                    <a:ext uri="{9D8B030D-6E8A-4147-A177-3AD203B41FA5}">
                      <a16:colId xmlns:a16="http://schemas.microsoft.com/office/drawing/2014/main" val="2"/>
                    </a:ext>
                  </a:extLst>
                </a:gridCol>
                <a:gridCol w="1782632">
                  <a:extLst>
                    <a:ext uri="{9D8B030D-6E8A-4147-A177-3AD203B41FA5}">
                      <a16:colId xmlns:a16="http://schemas.microsoft.com/office/drawing/2014/main" val="3"/>
                    </a:ext>
                  </a:extLst>
                </a:gridCol>
                <a:gridCol w="3199595">
                  <a:extLst>
                    <a:ext uri="{9D8B030D-6E8A-4147-A177-3AD203B41FA5}">
                      <a16:colId xmlns:a16="http://schemas.microsoft.com/office/drawing/2014/main" val="4"/>
                    </a:ext>
                  </a:extLst>
                </a:gridCol>
                <a:gridCol w="3092637">
                  <a:extLst>
                    <a:ext uri="{9D8B030D-6E8A-4147-A177-3AD203B41FA5}">
                      <a16:colId xmlns:a16="http://schemas.microsoft.com/office/drawing/2014/main" val="5"/>
                    </a:ext>
                  </a:extLst>
                </a:gridCol>
              </a:tblGrid>
              <a:tr h="44090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5000"/>
                        </a:lnSpc>
                        <a:buNone/>
                      </a:pP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54864" marB="54864" anchor="ctr">
                    <a:lnL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5AA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5000"/>
                        </a:lnSpc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品牌 / 模型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54864" marB="54864" anchor="ctr">
                    <a:lnL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5AA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5000"/>
                        </a:lnSpc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厂商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54864" marB="54864" anchor="ctr">
                    <a:lnL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5AA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5000"/>
                        </a:lnSpc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一句话认识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54864" marB="54864" anchor="ctr">
                    <a:lnL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5AA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5000"/>
                        </a:lnSpc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适合任务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54864" marB="54864" anchor="ctr">
                    <a:lnL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5A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"/>
                  </a:ext>
                </a:extLst>
              </a:tr>
              <a:tr h="44090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1200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1B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国外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anchor="ctr">
                    <a:lnL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2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ChatGPT / GPT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anchor="ctr">
                    <a:lnL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2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OpenAI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anchor="ctr">
                    <a:lnL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2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综合型 AI 工作伙伴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anchor="ctr">
                    <a:lnL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2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文件分析、研究、图像、多模态、复杂任务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anchor="ctr">
                    <a:lnL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"/>
                  </a:ext>
                </a:extLst>
              </a:tr>
              <a:tr h="44090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1200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1B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国外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anchor="ctr">
                    <a:lnL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2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Claude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anchor="ctr">
                    <a:lnL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2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Anthropic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anchor="ctr">
                    <a:lnL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2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长文本、复杂任务与代码协作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anchor="ctr">
                    <a:lnL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2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长材料、写作、分析、代码 / 任务协作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anchor="ctr">
                    <a:lnL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"/>
                  </a:ext>
                </a:extLst>
              </a:tr>
              <a:tr h="44090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1200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1B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国外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anchor="ctr">
                    <a:lnL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2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Gemini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anchor="ctr">
                    <a:lnL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2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Google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anchor="ctr">
                    <a:lnL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2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多模态与生态协同方向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anchor="ctr">
                    <a:lnL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2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资料理解、多模态、研究与办公协同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anchor="ctr">
                    <a:lnL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"/>
                  </a:ext>
                </a:extLst>
              </a:tr>
              <a:tr h="44090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1200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1B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国内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anchor="ctr">
                    <a:lnL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2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DeepSeek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anchor="ctr">
                    <a:lnL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2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深度求索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anchor="ctr">
                    <a:lnL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2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高性价比推理与国产代表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anchor="ctr">
                    <a:lnL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2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推理、分析、文本、代码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anchor="ctr">
                    <a:lnL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"/>
                  </a:ext>
                </a:extLst>
              </a:tr>
              <a:tr h="44090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1200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1B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国内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anchor="ctr">
                    <a:lnL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2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通义千问 / Qwen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anchor="ctr">
                    <a:lnL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2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阿里巴巴 / 阿里云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anchor="ctr">
                    <a:lnL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2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国产综合模型与企业生态代表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anchor="ctr">
                    <a:lnL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2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中文业务、内容、分析、企业应用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anchor="ctr">
                    <a:lnL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"/>
                  </a:ext>
                </a:extLst>
              </a:tr>
              <a:tr h="44090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1200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1B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国内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anchor="ctr">
                    <a:lnL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2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豆包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anchor="ctr">
                    <a:lnL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2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字节跳动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anchor="ctr">
                    <a:lnL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2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大众化中文入口与多模态体验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anchor="ctr">
                    <a:lnL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2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日常问答、创作、语音、图文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anchor="ctr">
                    <a:lnL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"/>
                  </a:ext>
                </a:extLst>
              </a:tr>
              <a:tr h="44090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1200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1B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国内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anchor="ctr">
                    <a:lnL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2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Kimi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anchor="ctr">
                    <a:lnL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2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月之暗面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anchor="ctr">
                    <a:lnL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2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长文档与资料研究方向代表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anchor="ctr">
                    <a:lnL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2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长材料阅读、总结、研究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anchor="ctr">
                    <a:lnL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"/>
                  </a:ext>
                </a:extLst>
              </a:tr>
              <a:tr h="44090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1200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1B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国内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anchor="ctr">
                    <a:lnL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2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智谱 GLM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anchor="ctr">
                    <a:lnL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2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智谱 AI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anchor="ctr">
                    <a:lnL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2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国产模型与 Agent 调用方向代表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anchor="ctr">
                    <a:lnL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2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中文理解、代码、Agent 类任务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anchor="ctr">
                    <a:lnL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"/>
                  </a:ext>
                </a:extLst>
              </a:tr>
              <a:tr h="44090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1200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1B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国内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anchor="ctr">
                    <a:lnL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2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文心一言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anchor="ctr">
                    <a:lnL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2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百度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anchor="ctr">
                    <a:lnL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2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中文问答与企业生态方向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anchor="ctr">
                    <a:lnL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2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中文内容、问答、百度生态应用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anchor="ctr">
                    <a:lnL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"/>
                  </a:ext>
                </a:extLst>
              </a:tr>
            </a:tbl>
          </a:graphicData>
        </a:graphic>
      </p:graphicFrame>
      <p:sp>
        <p:nvSpPr>
          <p:cNvPr id="67" name="Text 8"/>
          <p:cNvSpPr/>
          <p:nvPr/>
        </p:nvSpPr>
        <p:spPr>
          <a:xfrm>
            <a:off x="628061" y="6238461"/>
            <a:ext cx="109115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i="1" dirty="0" err="1">
                <a:solidFill>
                  <a:srgbClr val="8A94A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模型与厂商归属变化很快</a:t>
            </a:r>
            <a:r>
              <a:rPr lang="en-US" sz="1200" i="1" dirty="0">
                <a:solidFill>
                  <a:srgbClr val="8A94A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</a:t>
            </a:r>
            <a:r>
              <a:rPr lang="zh-CN" altLang="en-US" sz="1200" i="1" dirty="0">
                <a:solidFill>
                  <a:srgbClr val="8A94A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实际情况最新</a:t>
            </a:r>
            <a:r>
              <a:rPr lang="en-US" sz="1200" i="1" dirty="0" err="1">
                <a:solidFill>
                  <a:srgbClr val="8A94A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最新官方信息为准</a:t>
            </a:r>
            <a:r>
              <a:rPr lang="en-US" sz="900" i="1" dirty="0">
                <a:solidFill>
                  <a:srgbClr val="8A94A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6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0"/>
          <p:cNvSpPr/>
          <p:nvPr/>
        </p:nvSpPr>
        <p:spPr>
          <a:xfrm>
            <a:off x="640080" y="457200"/>
            <a:ext cx="82296" cy="219456"/>
          </a:xfrm>
          <a:prstGeom prst="rect">
            <a:avLst/>
          </a:prstGeom>
          <a:solidFill>
            <a:srgbClr val="1E5AA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0" name="Text 1"/>
          <p:cNvSpPr/>
          <p:nvPr/>
        </p:nvSpPr>
        <p:spPr>
          <a:xfrm>
            <a:off x="804672" y="42976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1E5AA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第一部分 · 认知 AI</a:t>
            </a:r>
            <a:endParaRPr lang="en-US" sz="1050" dirty="0"/>
          </a:p>
        </p:txBody>
      </p:sp>
      <p:sp>
        <p:nvSpPr>
          <p:cNvPr id="71" name="Text 2"/>
          <p:cNvSpPr/>
          <p:nvPr/>
        </p:nvSpPr>
        <p:spPr>
          <a:xfrm>
            <a:off x="640080" y="792000"/>
            <a:ext cx="1091153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工具 / Agent 平台地图</a:t>
            </a:r>
            <a:endParaRPr lang="en-US" sz="2200" dirty="0"/>
          </a:p>
        </p:txBody>
      </p:sp>
      <p:sp>
        <p:nvSpPr>
          <p:cNvPr id="72" name="Shape 3"/>
          <p:cNvSpPr/>
          <p:nvPr/>
        </p:nvSpPr>
        <p:spPr>
          <a:xfrm>
            <a:off x="640080" y="1298448"/>
            <a:ext cx="10911535" cy="0"/>
          </a:xfrm>
          <a:prstGeom prst="line">
            <a:avLst/>
          </a:prstGeom>
          <a:noFill/>
          <a:ln w="9525">
            <a:solidFill>
              <a:srgbClr val="D9DFE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3" name="Shape 4"/>
          <p:cNvSpPr/>
          <p:nvPr/>
        </p:nvSpPr>
        <p:spPr>
          <a:xfrm>
            <a:off x="640080" y="1298448"/>
            <a:ext cx="1280160" cy="0"/>
          </a:xfrm>
          <a:prstGeom prst="line">
            <a:avLst/>
          </a:prstGeom>
          <a:noFill/>
          <a:ln w="28575">
            <a:solidFill>
              <a:srgbClr val="1E5AA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4" name="Shape 5"/>
          <p:cNvSpPr/>
          <p:nvPr/>
        </p:nvSpPr>
        <p:spPr>
          <a:xfrm>
            <a:off x="640080" y="6455664"/>
            <a:ext cx="10911535" cy="0"/>
          </a:xfrm>
          <a:prstGeom prst="line">
            <a:avLst/>
          </a:prstGeom>
          <a:noFill/>
          <a:ln w="7620">
            <a:solidFill>
              <a:srgbClr val="D9DFE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5" name="Text 6"/>
          <p:cNvSpPr/>
          <p:nvPr/>
        </p:nvSpPr>
        <p:spPr>
          <a:xfrm>
            <a:off x="640080" y="651052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8A94A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分行批发业务 AI 赋能与行内外系统实战</a:t>
            </a:r>
            <a:endParaRPr lang="en-US" sz="800" dirty="0"/>
          </a:p>
        </p:txBody>
      </p:sp>
      <p:sp>
        <p:nvSpPr>
          <p:cNvPr id="76" name="Text 7"/>
          <p:cNvSpPr/>
          <p:nvPr/>
        </p:nvSpPr>
        <p:spPr>
          <a:xfrm>
            <a:off x="11109960" y="6492240"/>
            <a:ext cx="438912" cy="237744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8A94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900" dirty="0"/>
          </a:p>
        </p:txBody>
      </p:sp>
      <p:graphicFrame>
        <p:nvGraphicFramePr>
          <p:cNvPr id="77" name="Table 0"/>
          <p:cNvGraphicFramePr>
            <a:graphicFrameLocks noGrp="1"/>
          </p:cNvGraphicFramePr>
          <p:nvPr/>
        </p:nvGraphicFramePr>
        <p:xfrm>
          <a:off x="640080" y="1554480"/>
          <a:ext cx="10911535" cy="4055746"/>
        </p:xfrm>
        <a:graphic>
          <a:graphicData uri="http://schemas.openxmlformats.org/drawingml/2006/table">
            <a:tbl>
              <a:tblPr/>
              <a:tblGrid>
                <a:gridCol w="963433">
                  <a:extLst>
                    <a:ext uri="{9D8B030D-6E8A-4147-A177-3AD203B41FA5}">
                      <a16:colId xmlns:a16="http://schemas.microsoft.com/office/drawing/2014/main" val="1"/>
                    </a:ext>
                  </a:extLst>
                </a:gridCol>
                <a:gridCol w="1505447">
                  <a:extLst>
                    <a:ext uri="{9D8B030D-6E8A-4147-A177-3AD203B41FA5}">
                      <a16:colId xmlns:a16="http://schemas.microsoft.com/office/drawing/2014/main" val="2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3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4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5"/>
                    </a:ext>
                  </a:extLst>
                </a:gridCol>
                <a:gridCol w="1904695">
                  <a:extLst>
                    <a:ext uri="{9D8B030D-6E8A-4147-A177-3AD203B41FA5}">
                      <a16:colId xmlns:a16="http://schemas.microsoft.com/office/drawing/2014/main" val="6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5000"/>
                        </a:lnSpc>
                        <a:buNone/>
                      </a:pP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54864" marB="54864" anchor="ctr">
                    <a:lnL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5AA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5000"/>
                        </a:lnSpc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工具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54864" marB="54864" anchor="ctr">
                    <a:lnL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5AA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5000"/>
                        </a:lnSpc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厂商 / 生态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54864" marB="54864" anchor="ctr">
                    <a:lnL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5AA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5000"/>
                        </a:lnSpc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类型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54864" marB="54864" anchor="ctr">
                    <a:lnL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5AA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5000"/>
                        </a:lnSpc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主要工作侧重点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54864" marB="54864" anchor="ctr">
                    <a:lnL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5AA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5000"/>
                        </a:lnSpc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典型成果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54864" marB="54864" anchor="ctr">
                    <a:lnL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5A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"/>
                  </a:ext>
                </a:extLst>
              </a:tr>
              <a:tr h="446532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1200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1B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国内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anchor="ctr">
                    <a:lnL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2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WorkBuddy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anchor="ctr">
                    <a:lnL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2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字节跳动系（以行内实际版本为准）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anchor="ctr">
                    <a:lnL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2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AI 办公任务执行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anchor="ctr">
                    <a:lnL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2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办公任务执行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anchor="ctr">
                    <a:lnL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2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文档、表格、PPT、纪要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anchor="ctr">
                    <a:lnL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1200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1B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国内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anchor="ctr">
                    <a:lnL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2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DeepSeek Harness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anchor="ctr">
                    <a:lnL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2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DeepSeek / 深度求索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anchor="ctr">
                    <a:lnL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2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Agent 编排、工具协作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anchor="ctr">
                    <a:lnL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2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多步骤任务规划与执行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anchor="ctr">
                    <a:lnL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2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多步骤任务执行结果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anchor="ctr">
                    <a:lnL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1200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1B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国内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anchor="ctr">
                    <a:lnL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2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Trae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anchor="ctr">
                    <a:lnL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2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字节跳动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anchor="ctr">
                    <a:lnL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2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软件开发与代码执行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anchor="ctr">
                    <a:lnL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2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网页、程序、应用原型开发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anchor="ctr">
                    <a:lnL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2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网页、程序、应用原型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anchor="ctr">
                    <a:lnL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1200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1B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国外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anchor="ctr">
                    <a:lnL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2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Claude 任务协作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anchor="ctr">
                    <a:lnL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2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Anthropic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anchor="ctr">
                    <a:lnL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2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跨文件、跨应用知识工作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anchor="ctr">
                    <a:lnL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2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研究、分析、报告协作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anchor="ctr">
                    <a:lnL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2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研究简报、分析表、报告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anchor="ctr">
                    <a:lnL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1200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1B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国内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anchor="ctr">
                    <a:lnL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2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扣子 Coze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anchor="ctr">
                    <a:lnL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2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字节跳动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anchor="ctr">
                    <a:lnL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2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智能体创建平台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anchor="ctr">
                    <a:lnL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2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创建可重复使用的智能体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anchor="ctr">
                    <a:lnL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2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场景化助手、插件应用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anchor="ctr">
                    <a:lnL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12000"/>
                        </a:lnSpc>
                        <a:buNone/>
                      </a:pPr>
                      <a:r>
                        <a:rPr lang="en-US" sz="1400" b="1" dirty="0" err="1">
                          <a:solidFill>
                            <a:srgbClr val="1B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国内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anchor="ctr">
                    <a:lnL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2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Dify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anchor="ctr">
                    <a:lnL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2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Dify.AI / 开源生态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anchor="ctr">
                    <a:lnL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2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AI 工作流设计与管理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anchor="ctr">
                    <a:lnL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2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设计和管理 AI 工作流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anchor="ctr">
                    <a:lnL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2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可配置、可测试的 AI 应用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anchor="ctr">
                    <a:lnL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1200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1B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国外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anchor="ctr">
                    <a:lnL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2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n8n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anchor="ctr">
                    <a:lnL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2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n8n GmbH（德国）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anchor="ctr">
                    <a:lnL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2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系统连接与自动化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anchor="ctr">
                    <a:lnL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2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连接系统、自动化任务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anchor="ctr">
                    <a:lnL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2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跨应用自动化流程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anchor="ctr">
                    <a:lnL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"/>
                  </a:ext>
                </a:extLst>
              </a:tr>
            </a:tbl>
          </a:graphicData>
        </a:graphic>
      </p:graphicFrame>
      <p:sp>
        <p:nvSpPr>
          <p:cNvPr id="78" name="Text 8"/>
          <p:cNvSpPr/>
          <p:nvPr/>
        </p:nvSpPr>
        <p:spPr>
          <a:xfrm>
            <a:off x="681228" y="5904929"/>
            <a:ext cx="109115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rgbClr val="8A94A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不少产品同时覆盖办公执行、Agent 编排与流程自动化；按任务、环境、权限和交付成果选择，而不是仅凭名称。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6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Shape 0"/>
          <p:cNvSpPr/>
          <p:nvPr/>
        </p:nvSpPr>
        <p:spPr>
          <a:xfrm>
            <a:off x="640080" y="457200"/>
            <a:ext cx="82296" cy="219456"/>
          </a:xfrm>
          <a:prstGeom prst="rect">
            <a:avLst/>
          </a:prstGeom>
          <a:solidFill>
            <a:srgbClr val="1E5AA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1" name="Text 1"/>
          <p:cNvSpPr/>
          <p:nvPr/>
        </p:nvSpPr>
        <p:spPr>
          <a:xfrm>
            <a:off x="804672" y="42976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1E5AA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第一部分 · 认知 AI</a:t>
            </a:r>
            <a:endParaRPr lang="en-US" sz="1050" dirty="0"/>
          </a:p>
        </p:txBody>
      </p:sp>
      <p:sp>
        <p:nvSpPr>
          <p:cNvPr id="82" name="Text 2"/>
          <p:cNvSpPr/>
          <p:nvPr/>
        </p:nvSpPr>
        <p:spPr>
          <a:xfrm>
            <a:off x="640080" y="792000"/>
            <a:ext cx="1091153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按任务选工具：速查表    办公、研究与开发</a:t>
            </a:r>
            <a:endParaRPr lang="en-US" sz="2200" dirty="0"/>
          </a:p>
        </p:txBody>
      </p:sp>
      <p:sp>
        <p:nvSpPr>
          <p:cNvPr id="83" name="Shape 3"/>
          <p:cNvSpPr/>
          <p:nvPr/>
        </p:nvSpPr>
        <p:spPr>
          <a:xfrm>
            <a:off x="640080" y="1298448"/>
            <a:ext cx="10911535" cy="0"/>
          </a:xfrm>
          <a:prstGeom prst="line">
            <a:avLst/>
          </a:prstGeom>
          <a:noFill/>
          <a:ln w="9525">
            <a:solidFill>
              <a:srgbClr val="D9DFE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4" name="Shape 4"/>
          <p:cNvSpPr/>
          <p:nvPr/>
        </p:nvSpPr>
        <p:spPr>
          <a:xfrm>
            <a:off x="640080" y="1298448"/>
            <a:ext cx="1280160" cy="0"/>
          </a:xfrm>
          <a:prstGeom prst="line">
            <a:avLst/>
          </a:prstGeom>
          <a:noFill/>
          <a:ln w="28575">
            <a:solidFill>
              <a:srgbClr val="1E5AA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5" name="Shape 5"/>
          <p:cNvSpPr/>
          <p:nvPr/>
        </p:nvSpPr>
        <p:spPr>
          <a:xfrm>
            <a:off x="640080" y="6455664"/>
            <a:ext cx="10911535" cy="0"/>
          </a:xfrm>
          <a:prstGeom prst="line">
            <a:avLst/>
          </a:prstGeom>
          <a:noFill/>
          <a:ln w="7620">
            <a:solidFill>
              <a:srgbClr val="D9DFE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6" name="Text 6"/>
          <p:cNvSpPr/>
          <p:nvPr/>
        </p:nvSpPr>
        <p:spPr>
          <a:xfrm>
            <a:off x="640080" y="651052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8A94A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分行批发业务 AI 赋能与行内外系统实战</a:t>
            </a:r>
            <a:endParaRPr lang="en-US" sz="800" dirty="0"/>
          </a:p>
        </p:txBody>
      </p:sp>
      <p:sp>
        <p:nvSpPr>
          <p:cNvPr id="87" name="Text 7"/>
          <p:cNvSpPr/>
          <p:nvPr/>
        </p:nvSpPr>
        <p:spPr>
          <a:xfrm>
            <a:off x="11109960" y="6492240"/>
            <a:ext cx="438912" cy="237744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8A94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900" dirty="0"/>
          </a:p>
        </p:txBody>
      </p:sp>
      <p:graphicFrame>
        <p:nvGraphicFramePr>
          <p:cNvPr id="88" name="Table 0"/>
          <p:cNvGraphicFramePr>
            <a:graphicFrameLocks noGrp="1"/>
          </p:cNvGraphicFramePr>
          <p:nvPr/>
        </p:nvGraphicFramePr>
        <p:xfrm>
          <a:off x="640080" y="1554481"/>
          <a:ext cx="10875754" cy="4229942"/>
        </p:xfrm>
        <a:graphic>
          <a:graphicData uri="http://schemas.openxmlformats.org/drawingml/2006/table">
            <a:tbl>
              <a:tblPr/>
              <a:tblGrid>
                <a:gridCol w="3398674">
                  <a:extLst>
                    <a:ext uri="{9D8B030D-6E8A-4147-A177-3AD203B41FA5}">
                      <a16:colId xmlns:a16="http://schemas.microsoft.com/office/drawing/2014/main" val="1"/>
                    </a:ext>
                  </a:extLst>
                </a:gridCol>
                <a:gridCol w="4361630">
                  <a:extLst>
                    <a:ext uri="{9D8B030D-6E8A-4147-A177-3AD203B41FA5}">
                      <a16:colId xmlns:a16="http://schemas.microsoft.com/office/drawing/2014/main" val="2"/>
                    </a:ext>
                  </a:extLst>
                </a:gridCol>
                <a:gridCol w="3115450">
                  <a:extLst>
                    <a:ext uri="{9D8B030D-6E8A-4147-A177-3AD203B41FA5}">
                      <a16:colId xmlns:a16="http://schemas.microsoft.com/office/drawing/2014/main" val="3"/>
                    </a:ext>
                  </a:extLst>
                </a:gridCol>
              </a:tblGrid>
              <a:tr h="350043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5000"/>
                        </a:lnSpc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你要解决的问题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54864" marB="54864" anchor="ctr">
                    <a:lnL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5AA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5000"/>
                        </a:lnSpc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优先考虑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54864" marB="54864" anchor="ctr">
                    <a:lnL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5AA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5000"/>
                        </a:lnSpc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原因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54864" marB="54864" anchor="ctr">
                    <a:lnL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5A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"/>
                  </a:ext>
                </a:extLst>
              </a:tr>
              <a:tr h="427344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200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B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写材料、总结、分析、汇报提纲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anchor="ctr">
                    <a:lnL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200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B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ChatGPT、Claude、DeepSeek、通义千问、Kimi、豆包、智谱 GLM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anchor="ctr">
                    <a:lnL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200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B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文本理解、推理和生成能力强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anchor="ctr">
                    <a:lnL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"/>
                  </a:ext>
                </a:extLst>
              </a:tr>
              <a:tr h="350043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200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B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读长文档、政策、合同、年报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anchor="ctr">
                    <a:lnL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200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B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Kimi、Claude、Gemini、DeepSeek、豆包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anchor="ctr">
                    <a:lnL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200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B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长文阅读、提取、比较、总结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anchor="ctr">
                    <a:lnL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"/>
                  </a:ext>
                </a:extLst>
              </a:tr>
              <a:tr h="350043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200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B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做文档、表格、PPT、会议纪要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anchor="ctr">
                    <a:lnL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200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B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WorkBuddy、豆包办公任务模式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anchor="ctr">
                    <a:lnL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200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B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偏办公任务执行和成果交付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anchor="ctr">
                    <a:lnL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"/>
                  </a:ext>
                </a:extLst>
              </a:tr>
              <a:tr h="350043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200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B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多步骤资料搜集、研究、拜访准备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anchor="ctr">
                    <a:lnL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200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B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DeepSeek Harness、Claude 任务协作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anchor="ctr">
                    <a:lnL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200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B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可做 Agent 编排、跨文件协作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anchor="ctr">
                    <a:lnL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"/>
                  </a:ext>
                </a:extLst>
              </a:tr>
              <a:tr h="427344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200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B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写代码、补全、日常开发辅助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anchor="ctr">
                    <a:lnL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200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B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Copilot、通义灵码、CodeGeeX、MarsCode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anchor="ctr">
                    <a:lnL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200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B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IDE 插件型，安装即用、补全稳定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anchor="ctr">
                    <a:lnL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"/>
                  </a:ext>
                </a:extLst>
              </a:tr>
              <a:tr h="350043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200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B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复杂项目重构、多文件编辑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anchor="ctr">
                    <a:lnL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200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B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Cursor、Windsurf、Kimi Code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anchor="ctr">
                    <a:lnL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200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B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项目级上下文理解，跨文件 diff 直观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anchor="ctr">
                    <a:lnL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"/>
                  </a:ext>
                </a:extLst>
              </a:tr>
              <a:tr h="350043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200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B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终端里自主完成开发任务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anchor="ctr">
                    <a:lnL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200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B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Claude Code、Kimi Code、Qoder CN CLI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anchor="ctr">
                    <a:lnL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200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B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终端 Agent，可自主执行命令、跑测试、迭代修改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anchor="ctr">
                    <a:lnL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"/>
                  </a:ext>
                </a:extLst>
              </a:tr>
              <a:tr h="350043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200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B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创建可重复使用的智能体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anchor="ctr">
                    <a:lnL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200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B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扣子 Coze、Dify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anchor="ctr">
                    <a:lnL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200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B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沉淀场景化助手与工作流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anchor="ctr">
                    <a:lnL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"/>
                  </a:ext>
                </a:extLst>
              </a:tr>
              <a:tr h="350043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200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B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跨系统自动化流程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anchor="ctr">
                    <a:lnL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200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B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n8n、Dify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anchor="ctr">
                    <a:lnL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200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B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连接系统、自动执行任务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anchor="ctr">
                    <a:lnL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"/>
                  </a:ext>
                </a:extLst>
              </a:tr>
              <a:tr h="350043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200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B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授信、风险、合规、产品适用性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anchor="ctr">
                    <a:lnL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200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B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行内系统 + 人工判断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anchor="ctr">
                    <a:lnL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200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B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AI 只能辅助，不能最终决策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anchor="ctr">
                    <a:lnL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"/>
                  </a:ext>
                </a:extLst>
              </a:tr>
            </a:tbl>
          </a:graphicData>
        </a:graphic>
      </p:graphicFrame>
      <p:sp>
        <p:nvSpPr>
          <p:cNvPr id="89" name="Shape 8"/>
          <p:cNvSpPr/>
          <p:nvPr/>
        </p:nvSpPr>
        <p:spPr>
          <a:xfrm>
            <a:off x="640080" y="5925310"/>
            <a:ext cx="10875754" cy="502921"/>
          </a:xfrm>
          <a:prstGeom prst="roundRect">
            <a:avLst>
              <a:gd name="adj" fmla="val 6944"/>
            </a:avLst>
          </a:prstGeom>
          <a:solidFill>
            <a:srgbClr val="E9F0F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0" name="Shape 9"/>
          <p:cNvSpPr/>
          <p:nvPr/>
        </p:nvSpPr>
        <p:spPr>
          <a:xfrm>
            <a:off x="631731" y="5925310"/>
            <a:ext cx="45719" cy="502921"/>
          </a:xfrm>
          <a:prstGeom prst="rect">
            <a:avLst/>
          </a:prstGeom>
          <a:solidFill>
            <a:srgbClr val="1E5AA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1" name="Text 10"/>
          <p:cNvSpPr/>
          <p:nvPr/>
        </p:nvSpPr>
        <p:spPr>
          <a:xfrm>
            <a:off x="860331" y="5925310"/>
            <a:ext cx="10454335" cy="5029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746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各模型与工具功能高度重叠，大厂都在做全功能：记住按需求选，不凭名称、不看排名。</a:t>
            </a:r>
            <a:endParaRPr lang="en-US" sz="13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6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Shape 0"/>
          <p:cNvSpPr/>
          <p:nvPr/>
        </p:nvSpPr>
        <p:spPr>
          <a:xfrm>
            <a:off x="640080" y="457200"/>
            <a:ext cx="82296" cy="219456"/>
          </a:xfrm>
          <a:prstGeom prst="rect">
            <a:avLst/>
          </a:prstGeom>
          <a:solidFill>
            <a:srgbClr val="1E5AA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4" name="Text 1"/>
          <p:cNvSpPr/>
          <p:nvPr/>
        </p:nvSpPr>
        <p:spPr>
          <a:xfrm>
            <a:off x="804672" y="42976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1E5AA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第一部分 · 认知 AI</a:t>
            </a:r>
            <a:endParaRPr lang="en-US" sz="1050" dirty="0"/>
          </a:p>
        </p:txBody>
      </p:sp>
      <p:sp>
        <p:nvSpPr>
          <p:cNvPr id="95" name="Text 2"/>
          <p:cNvSpPr/>
          <p:nvPr/>
        </p:nvSpPr>
        <p:spPr>
          <a:xfrm>
            <a:off x="640080" y="792000"/>
            <a:ext cx="1091153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不比品牌，比匹配；不追排行榜，看需求</a:t>
            </a:r>
            <a:endParaRPr lang="en-US" sz="2200" dirty="0"/>
          </a:p>
        </p:txBody>
      </p:sp>
      <p:sp>
        <p:nvSpPr>
          <p:cNvPr id="96" name="Shape 3"/>
          <p:cNvSpPr/>
          <p:nvPr/>
        </p:nvSpPr>
        <p:spPr>
          <a:xfrm>
            <a:off x="640080" y="1298448"/>
            <a:ext cx="10911535" cy="0"/>
          </a:xfrm>
          <a:prstGeom prst="line">
            <a:avLst/>
          </a:prstGeom>
          <a:noFill/>
          <a:ln w="9525">
            <a:solidFill>
              <a:srgbClr val="D9DFE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7" name="Shape 4"/>
          <p:cNvSpPr/>
          <p:nvPr/>
        </p:nvSpPr>
        <p:spPr>
          <a:xfrm>
            <a:off x="640080" y="1298448"/>
            <a:ext cx="1280160" cy="0"/>
          </a:xfrm>
          <a:prstGeom prst="line">
            <a:avLst/>
          </a:prstGeom>
          <a:noFill/>
          <a:ln w="28575">
            <a:solidFill>
              <a:srgbClr val="1E5AA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8" name="Shape 5"/>
          <p:cNvSpPr/>
          <p:nvPr/>
        </p:nvSpPr>
        <p:spPr>
          <a:xfrm>
            <a:off x="640080" y="6455664"/>
            <a:ext cx="10911535" cy="0"/>
          </a:xfrm>
          <a:prstGeom prst="line">
            <a:avLst/>
          </a:prstGeom>
          <a:noFill/>
          <a:ln w="7620">
            <a:solidFill>
              <a:srgbClr val="D9DFE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9" name="Text 6"/>
          <p:cNvSpPr/>
          <p:nvPr/>
        </p:nvSpPr>
        <p:spPr>
          <a:xfrm>
            <a:off x="640080" y="651052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8A94A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分行批发业务 AI 赋能与行内外系统实战</a:t>
            </a:r>
            <a:endParaRPr lang="en-US" sz="800" dirty="0"/>
          </a:p>
        </p:txBody>
      </p:sp>
      <p:sp>
        <p:nvSpPr>
          <p:cNvPr id="100" name="Text 7"/>
          <p:cNvSpPr/>
          <p:nvPr/>
        </p:nvSpPr>
        <p:spPr>
          <a:xfrm>
            <a:off x="11109960" y="6492240"/>
            <a:ext cx="438912" cy="237744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8A94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900" dirty="0"/>
          </a:p>
        </p:txBody>
      </p:sp>
      <p:sp>
        <p:nvSpPr>
          <p:cNvPr id="101" name="Shape 8"/>
          <p:cNvSpPr/>
          <p:nvPr/>
        </p:nvSpPr>
        <p:spPr>
          <a:xfrm>
            <a:off x="640080" y="1627632"/>
            <a:ext cx="3502152" cy="3246120"/>
          </a:xfrm>
          <a:prstGeom prst="roundRect">
            <a:avLst>
              <a:gd name="adj" fmla="val 2254"/>
            </a:avLst>
          </a:prstGeom>
          <a:solidFill>
            <a:srgbClr val="FFFFFF"/>
          </a:solidFill>
          <a:ln w="9525">
            <a:solidFill>
              <a:srgbClr val="D9DFE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2" name="Shape 9"/>
          <p:cNvSpPr/>
          <p:nvPr/>
        </p:nvSpPr>
        <p:spPr>
          <a:xfrm>
            <a:off x="640080" y="1627632"/>
            <a:ext cx="3502152" cy="530352"/>
          </a:xfrm>
          <a:prstGeom prst="rect">
            <a:avLst/>
          </a:prstGeom>
          <a:solidFill>
            <a:srgbClr val="1B467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3" name="Text 10"/>
          <p:cNvSpPr/>
          <p:nvPr/>
        </p:nvSpPr>
        <p:spPr>
          <a:xfrm>
            <a:off x="914400" y="1627632"/>
            <a:ext cx="2743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差距</a:t>
            </a:r>
            <a:endParaRPr lang="en-US" dirty="0"/>
          </a:p>
        </p:txBody>
      </p:sp>
      <p:sp>
        <p:nvSpPr>
          <p:cNvPr id="104" name="Text 11"/>
          <p:cNvSpPr/>
          <p:nvPr/>
        </p:nvSpPr>
        <p:spPr>
          <a:xfrm>
            <a:off x="822960" y="2395728"/>
            <a:ext cx="3136392" cy="548640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1B46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3–6 个月</a:t>
            </a:r>
            <a:endParaRPr lang="en-US" sz="2300" dirty="0"/>
          </a:p>
        </p:txBody>
      </p:sp>
      <p:sp>
        <p:nvSpPr>
          <p:cNvPr id="105" name="Text 12"/>
          <p:cNvSpPr/>
          <p:nvPr/>
        </p:nvSpPr>
        <p:spPr>
          <a:xfrm>
            <a:off x="896112" y="3108960"/>
            <a:ext cx="2990088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2000"/>
              </a:lnSpc>
              <a:buNone/>
            </a:pPr>
            <a:r>
              <a:rPr lang="en-US" sz="1600" dirty="0">
                <a:solidFill>
                  <a:srgbClr val="5C67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 年 4 </a:t>
            </a:r>
            <a:r>
              <a:rPr lang="en-US" sz="1600" dirty="0" err="1">
                <a:solidFill>
                  <a:srgbClr val="5C67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月美财长</a:t>
            </a:r>
            <a:r>
              <a:rPr lang="zh-CN" altLang="en-US" sz="1600" dirty="0">
                <a:solidFill>
                  <a:srgbClr val="5C67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贝森特</a:t>
            </a:r>
            <a:r>
              <a:rPr lang="en-US" sz="1600" dirty="0" err="1">
                <a:solidFill>
                  <a:srgbClr val="5C67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援引彭博报道称，美国</a:t>
            </a:r>
            <a:r>
              <a:rPr lang="en-US" sz="1600" dirty="0">
                <a:solidFill>
                  <a:srgbClr val="5C67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AI 领先优势仅约 3–6 个月；有测评认为国产模型在部分场景已实现弯道超车。</a:t>
            </a:r>
            <a:endParaRPr lang="en-US" sz="1600" dirty="0"/>
          </a:p>
        </p:txBody>
      </p:sp>
      <p:sp>
        <p:nvSpPr>
          <p:cNvPr id="106" name="Shape 13"/>
          <p:cNvSpPr/>
          <p:nvPr/>
        </p:nvSpPr>
        <p:spPr>
          <a:xfrm>
            <a:off x="4343400" y="1627632"/>
            <a:ext cx="3502152" cy="3246120"/>
          </a:xfrm>
          <a:prstGeom prst="roundRect">
            <a:avLst>
              <a:gd name="adj" fmla="val 2254"/>
            </a:avLst>
          </a:prstGeom>
          <a:solidFill>
            <a:srgbClr val="FFFFFF"/>
          </a:solidFill>
          <a:ln w="9525">
            <a:solidFill>
              <a:srgbClr val="D9DFE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7" name="Shape 14"/>
          <p:cNvSpPr/>
          <p:nvPr/>
        </p:nvSpPr>
        <p:spPr>
          <a:xfrm>
            <a:off x="4343400" y="1627632"/>
            <a:ext cx="3502152" cy="530352"/>
          </a:xfrm>
          <a:prstGeom prst="rect">
            <a:avLst/>
          </a:prstGeom>
          <a:solidFill>
            <a:srgbClr val="B1433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8" name="Text 15"/>
          <p:cNvSpPr/>
          <p:nvPr/>
        </p:nvSpPr>
        <p:spPr>
          <a:xfrm>
            <a:off x="4617720" y="1627632"/>
            <a:ext cx="2743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访问门槛</a:t>
            </a:r>
            <a:endParaRPr lang="en-US" dirty="0"/>
          </a:p>
        </p:txBody>
      </p:sp>
      <p:sp>
        <p:nvSpPr>
          <p:cNvPr id="109" name="Text 16"/>
          <p:cNvSpPr/>
          <p:nvPr/>
        </p:nvSpPr>
        <p:spPr>
          <a:xfrm>
            <a:off x="4526280" y="2395728"/>
            <a:ext cx="3136392" cy="548640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B143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无法直接访问</a:t>
            </a:r>
            <a:endParaRPr lang="en-US" sz="2300" dirty="0"/>
          </a:p>
        </p:txBody>
      </p:sp>
      <p:sp>
        <p:nvSpPr>
          <p:cNvPr id="110" name="Text 17"/>
          <p:cNvSpPr/>
          <p:nvPr/>
        </p:nvSpPr>
        <p:spPr>
          <a:xfrm>
            <a:off x="4599432" y="3108960"/>
            <a:ext cx="2990088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2000"/>
              </a:lnSpc>
              <a:buNone/>
            </a:pPr>
            <a:r>
              <a:rPr lang="en-US" sz="1600" dirty="0">
                <a:solidFill>
                  <a:srgbClr val="5C67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国外主流 AI 服务在中国大陆无法直接使用；额外网络配置绝大多数情况下不被允许，也不应该被尝试。</a:t>
            </a:r>
            <a:endParaRPr lang="en-US" sz="1600" dirty="0"/>
          </a:p>
        </p:txBody>
      </p:sp>
      <p:sp>
        <p:nvSpPr>
          <p:cNvPr id="111" name="Shape 18"/>
          <p:cNvSpPr/>
          <p:nvPr/>
        </p:nvSpPr>
        <p:spPr>
          <a:xfrm>
            <a:off x="8046720" y="1627632"/>
            <a:ext cx="3502152" cy="3246120"/>
          </a:xfrm>
          <a:prstGeom prst="roundRect">
            <a:avLst>
              <a:gd name="adj" fmla="val 2254"/>
            </a:avLst>
          </a:prstGeom>
          <a:solidFill>
            <a:srgbClr val="FFFFFF"/>
          </a:solidFill>
          <a:ln w="9525">
            <a:solidFill>
              <a:srgbClr val="D9DFE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2" name="Shape 19"/>
          <p:cNvSpPr/>
          <p:nvPr/>
        </p:nvSpPr>
        <p:spPr>
          <a:xfrm>
            <a:off x="8046720" y="1627632"/>
            <a:ext cx="3502152" cy="530352"/>
          </a:xfrm>
          <a:prstGeom prst="rect">
            <a:avLst/>
          </a:prstGeom>
          <a:solidFill>
            <a:srgbClr val="B78A3E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3" name="Text 20"/>
          <p:cNvSpPr/>
          <p:nvPr/>
        </p:nvSpPr>
        <p:spPr>
          <a:xfrm>
            <a:off x="8321040" y="1627632"/>
            <a:ext cx="2743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成本门槛</a:t>
            </a:r>
            <a:endParaRPr lang="en-US" dirty="0"/>
          </a:p>
        </p:txBody>
      </p:sp>
      <p:sp>
        <p:nvSpPr>
          <p:cNvPr id="114" name="Text 21"/>
          <p:cNvSpPr/>
          <p:nvPr/>
        </p:nvSpPr>
        <p:spPr>
          <a:xfrm>
            <a:off x="8229600" y="2395728"/>
            <a:ext cx="3136392" cy="548640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B78A3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$20 / 月</a:t>
            </a:r>
            <a:endParaRPr lang="en-US" sz="2300" dirty="0"/>
          </a:p>
        </p:txBody>
      </p:sp>
      <p:sp>
        <p:nvSpPr>
          <p:cNvPr id="115" name="Text 22"/>
          <p:cNvSpPr/>
          <p:nvPr/>
        </p:nvSpPr>
        <p:spPr>
          <a:xfrm>
            <a:off x="8302752" y="3108960"/>
            <a:ext cx="2990088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2000"/>
              </a:lnSpc>
              <a:buNone/>
            </a:pPr>
            <a:r>
              <a:rPr lang="en-US" sz="1600" dirty="0">
                <a:solidFill>
                  <a:srgbClr val="5C67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ChatGPT Plus、Claude Pro、Cursor Pro 均约 20 美元 / 月；国产模型基础功能免费或明显更低，日常办公已足够。</a:t>
            </a:r>
            <a:endParaRPr lang="en-US" sz="1600" dirty="0"/>
          </a:p>
        </p:txBody>
      </p:sp>
      <p:sp>
        <p:nvSpPr>
          <p:cNvPr id="116" name="Shape 23"/>
          <p:cNvSpPr/>
          <p:nvPr/>
        </p:nvSpPr>
        <p:spPr>
          <a:xfrm>
            <a:off x="637337" y="5575985"/>
            <a:ext cx="10911535" cy="777240"/>
          </a:xfrm>
          <a:prstGeom prst="rect">
            <a:avLst/>
          </a:prstGeom>
          <a:solidFill>
            <a:srgbClr val="10345E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7" name="Shape 24"/>
          <p:cNvSpPr/>
          <p:nvPr/>
        </p:nvSpPr>
        <p:spPr>
          <a:xfrm>
            <a:off x="637337" y="5575985"/>
            <a:ext cx="73152" cy="777240"/>
          </a:xfrm>
          <a:prstGeom prst="rect">
            <a:avLst/>
          </a:prstGeom>
          <a:solidFill>
            <a:srgbClr val="B78A3E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8" name="Text 25"/>
          <p:cNvSpPr/>
          <p:nvPr/>
        </p:nvSpPr>
        <p:spPr>
          <a:xfrm>
            <a:off x="893369" y="5575985"/>
            <a:ext cx="104543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 AI 工具：要解决什么问题、哪个更顺手更合适，就用哪个。</a:t>
            </a:r>
            <a:endParaRPr lang="en-US" sz="16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0" name="图片 3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6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Shape 0"/>
          <p:cNvSpPr/>
          <p:nvPr/>
        </p:nvSpPr>
        <p:spPr>
          <a:xfrm>
            <a:off x="640080" y="457200"/>
            <a:ext cx="82296" cy="219456"/>
          </a:xfrm>
          <a:prstGeom prst="rect">
            <a:avLst/>
          </a:prstGeom>
          <a:solidFill>
            <a:srgbClr val="1E5AA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23" name="Text 1"/>
          <p:cNvSpPr/>
          <p:nvPr/>
        </p:nvSpPr>
        <p:spPr>
          <a:xfrm>
            <a:off x="804672" y="42976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1E5AA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第二部分 · </a:t>
            </a:r>
            <a:r>
              <a:rPr lang="zh-CN" altLang="en-US" sz="1050" b="1" kern="0" spc="100" dirty="0">
                <a:solidFill>
                  <a:srgbClr val="1E5AA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应用</a:t>
            </a:r>
            <a:r>
              <a:rPr lang="en-US" altLang="zh-CN" sz="1050" b="1" kern="0" spc="100" dirty="0">
                <a:solidFill>
                  <a:srgbClr val="1E5AA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</a:t>
            </a:r>
            <a:endParaRPr lang="en-US" sz="1050" dirty="0"/>
          </a:p>
        </p:txBody>
      </p:sp>
      <p:sp>
        <p:nvSpPr>
          <p:cNvPr id="124" name="Text 2"/>
          <p:cNvSpPr/>
          <p:nvPr/>
        </p:nvSpPr>
        <p:spPr>
          <a:xfrm>
            <a:off x="640080" y="792000"/>
            <a:ext cx="1091153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使用 AI 最大的误区：让“习惯”掩盖了问题</a:t>
            </a:r>
            <a:endParaRPr lang="en-US" sz="2200" dirty="0"/>
          </a:p>
        </p:txBody>
      </p:sp>
      <p:sp>
        <p:nvSpPr>
          <p:cNvPr id="125" name="Shape 3"/>
          <p:cNvSpPr/>
          <p:nvPr/>
        </p:nvSpPr>
        <p:spPr>
          <a:xfrm>
            <a:off x="640080" y="1298448"/>
            <a:ext cx="10911535" cy="0"/>
          </a:xfrm>
          <a:prstGeom prst="line">
            <a:avLst/>
          </a:prstGeom>
          <a:noFill/>
          <a:ln w="9525">
            <a:solidFill>
              <a:srgbClr val="D9DFE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6" name="Shape 4"/>
          <p:cNvSpPr/>
          <p:nvPr/>
        </p:nvSpPr>
        <p:spPr>
          <a:xfrm>
            <a:off x="640080" y="1298448"/>
            <a:ext cx="1280160" cy="0"/>
          </a:xfrm>
          <a:prstGeom prst="line">
            <a:avLst/>
          </a:prstGeom>
          <a:noFill/>
          <a:ln w="28575">
            <a:solidFill>
              <a:srgbClr val="1E5AA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7" name="Shape 5"/>
          <p:cNvSpPr/>
          <p:nvPr/>
        </p:nvSpPr>
        <p:spPr>
          <a:xfrm>
            <a:off x="640080" y="6455664"/>
            <a:ext cx="10911535" cy="0"/>
          </a:xfrm>
          <a:prstGeom prst="line">
            <a:avLst/>
          </a:prstGeom>
          <a:noFill/>
          <a:ln w="7620">
            <a:solidFill>
              <a:srgbClr val="D9DFE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8" name="Text 6"/>
          <p:cNvSpPr/>
          <p:nvPr/>
        </p:nvSpPr>
        <p:spPr>
          <a:xfrm>
            <a:off x="640080" y="651052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8A94A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分行批发业务 AI 赋能与行内外系统实战</a:t>
            </a:r>
            <a:endParaRPr lang="en-US" sz="800" dirty="0"/>
          </a:p>
        </p:txBody>
      </p:sp>
      <p:sp>
        <p:nvSpPr>
          <p:cNvPr id="129" name="Text 7"/>
          <p:cNvSpPr/>
          <p:nvPr/>
        </p:nvSpPr>
        <p:spPr>
          <a:xfrm>
            <a:off x="11109960" y="6492240"/>
            <a:ext cx="438912" cy="237744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8A94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900" dirty="0"/>
          </a:p>
        </p:txBody>
      </p:sp>
      <p:sp>
        <p:nvSpPr>
          <p:cNvPr id="130" name="Text 8"/>
          <p:cNvSpPr/>
          <p:nvPr/>
        </p:nvSpPr>
        <p:spPr>
          <a:xfrm>
            <a:off x="640080" y="1481328"/>
            <a:ext cx="1091153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5C67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报</a:t>
            </a:r>
            <a:r>
              <a:rPr lang="zh-CN" altLang="en-US" sz="1600" dirty="0">
                <a:solidFill>
                  <a:srgbClr val="5C67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告</a:t>
            </a:r>
            <a:r>
              <a:rPr lang="en-US" sz="1600" dirty="0" err="1">
                <a:solidFill>
                  <a:srgbClr val="5C67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花一下午复制粘贴、人肉盯数字找变化、跨系统重复录入</a:t>
            </a:r>
            <a:r>
              <a:rPr lang="en-US" sz="1600" dirty="0">
                <a:solidFill>
                  <a:srgbClr val="5C67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——这些从来不是“必须付出的体力”。</a:t>
            </a:r>
            <a:endParaRPr lang="en-US" sz="1600" dirty="0"/>
          </a:p>
        </p:txBody>
      </p:sp>
      <p:sp>
        <p:nvSpPr>
          <p:cNvPr id="131" name="Shape 9"/>
          <p:cNvSpPr/>
          <p:nvPr/>
        </p:nvSpPr>
        <p:spPr>
          <a:xfrm>
            <a:off x="630936" y="1996175"/>
            <a:ext cx="3502152" cy="301752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9525">
            <a:solidFill>
              <a:srgbClr val="D9DFE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2" name="Shape 10"/>
          <p:cNvSpPr/>
          <p:nvPr/>
        </p:nvSpPr>
        <p:spPr>
          <a:xfrm>
            <a:off x="640080" y="2011680"/>
            <a:ext cx="3502152" cy="621792"/>
          </a:xfrm>
          <a:prstGeom prst="rect">
            <a:avLst/>
          </a:prstGeom>
          <a:solidFill>
            <a:srgbClr val="1E5AA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33" name="Text 11"/>
          <p:cNvSpPr/>
          <p:nvPr/>
        </p:nvSpPr>
        <p:spPr>
          <a:xfrm>
            <a:off x="914400" y="2011680"/>
            <a:ext cx="30175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最耗时间的</a:t>
            </a:r>
            <a:endParaRPr lang="en-US" sz="2000" dirty="0"/>
          </a:p>
        </p:txBody>
      </p:sp>
      <p:sp>
        <p:nvSpPr>
          <p:cNvPr id="134" name="Shape 12"/>
          <p:cNvSpPr/>
          <p:nvPr/>
        </p:nvSpPr>
        <p:spPr>
          <a:xfrm>
            <a:off x="932688" y="2971800"/>
            <a:ext cx="82296" cy="82296"/>
          </a:xfrm>
          <a:prstGeom prst="rect">
            <a:avLst/>
          </a:prstGeom>
          <a:solidFill>
            <a:srgbClr val="1E5AA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35" name="Text 13"/>
          <p:cNvSpPr/>
          <p:nvPr/>
        </p:nvSpPr>
        <p:spPr>
          <a:xfrm>
            <a:off x="1143000" y="2761488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找资料、整理材料</a:t>
            </a:r>
            <a:endParaRPr lang="en-US" sz="1600" dirty="0"/>
          </a:p>
        </p:txBody>
      </p:sp>
      <p:sp>
        <p:nvSpPr>
          <p:cNvPr id="136" name="Shape 14"/>
          <p:cNvSpPr/>
          <p:nvPr/>
        </p:nvSpPr>
        <p:spPr>
          <a:xfrm>
            <a:off x="932688" y="3593592"/>
            <a:ext cx="82296" cy="82296"/>
          </a:xfrm>
          <a:prstGeom prst="rect">
            <a:avLst/>
          </a:prstGeom>
          <a:solidFill>
            <a:srgbClr val="1E5AA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37" name="Text 15"/>
          <p:cNvSpPr/>
          <p:nvPr/>
        </p:nvSpPr>
        <p:spPr>
          <a:xfrm>
            <a:off x="1143000" y="338328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汇总数据、写报告</a:t>
            </a:r>
            <a:endParaRPr lang="en-US" sz="1600" dirty="0"/>
          </a:p>
        </p:txBody>
      </p:sp>
      <p:sp>
        <p:nvSpPr>
          <p:cNvPr id="138" name="Shape 16"/>
          <p:cNvSpPr/>
          <p:nvPr/>
        </p:nvSpPr>
        <p:spPr>
          <a:xfrm>
            <a:off x="932688" y="4215384"/>
            <a:ext cx="82296" cy="82296"/>
          </a:xfrm>
          <a:prstGeom prst="rect">
            <a:avLst/>
          </a:prstGeom>
          <a:solidFill>
            <a:srgbClr val="1E5AA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39" name="Text 17"/>
          <p:cNvSpPr/>
          <p:nvPr/>
        </p:nvSpPr>
        <p:spPr>
          <a:xfrm>
            <a:off x="1143000" y="4005072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准备汇报</a:t>
            </a:r>
            <a:endParaRPr lang="en-US" sz="1600" dirty="0"/>
          </a:p>
        </p:txBody>
      </p:sp>
      <p:sp>
        <p:nvSpPr>
          <p:cNvPr id="140" name="Shape 18"/>
          <p:cNvSpPr/>
          <p:nvPr/>
        </p:nvSpPr>
        <p:spPr>
          <a:xfrm>
            <a:off x="4334256" y="1993392"/>
            <a:ext cx="3502152" cy="301752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9525">
            <a:solidFill>
              <a:srgbClr val="D9DFE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1" name="Shape 19"/>
          <p:cNvSpPr/>
          <p:nvPr/>
        </p:nvSpPr>
        <p:spPr>
          <a:xfrm>
            <a:off x="4343400" y="2011680"/>
            <a:ext cx="3502152" cy="621792"/>
          </a:xfrm>
          <a:prstGeom prst="rect">
            <a:avLst/>
          </a:prstGeom>
          <a:solidFill>
            <a:srgbClr val="B78A3E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42" name="Text 20"/>
          <p:cNvSpPr/>
          <p:nvPr/>
        </p:nvSpPr>
        <p:spPr>
          <a:xfrm>
            <a:off x="4617720" y="2011680"/>
            <a:ext cx="30175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最重复的</a:t>
            </a:r>
            <a:endParaRPr lang="en-US" sz="2000" dirty="0"/>
          </a:p>
        </p:txBody>
      </p:sp>
      <p:sp>
        <p:nvSpPr>
          <p:cNvPr id="143" name="Shape 21"/>
          <p:cNvSpPr/>
          <p:nvPr/>
        </p:nvSpPr>
        <p:spPr>
          <a:xfrm>
            <a:off x="4636008" y="2971800"/>
            <a:ext cx="82296" cy="82296"/>
          </a:xfrm>
          <a:prstGeom prst="rect">
            <a:avLst/>
          </a:prstGeom>
          <a:solidFill>
            <a:srgbClr val="B78A3E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44" name="Text 22"/>
          <p:cNvSpPr/>
          <p:nvPr/>
        </p:nvSpPr>
        <p:spPr>
          <a:xfrm>
            <a:off x="4846320" y="2761488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同类任务反复做</a:t>
            </a:r>
            <a:endParaRPr lang="en-US" sz="1600" dirty="0"/>
          </a:p>
        </p:txBody>
      </p:sp>
      <p:sp>
        <p:nvSpPr>
          <p:cNvPr id="145" name="Shape 23"/>
          <p:cNvSpPr/>
          <p:nvPr/>
        </p:nvSpPr>
        <p:spPr>
          <a:xfrm>
            <a:off x="4636008" y="3593592"/>
            <a:ext cx="82296" cy="82296"/>
          </a:xfrm>
          <a:prstGeom prst="rect">
            <a:avLst/>
          </a:prstGeom>
          <a:solidFill>
            <a:srgbClr val="B78A3E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46" name="Text 24"/>
          <p:cNvSpPr/>
          <p:nvPr/>
        </p:nvSpPr>
        <p:spPr>
          <a:xfrm>
            <a:off x="4846320" y="338328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同样格式反复调</a:t>
            </a:r>
            <a:endParaRPr lang="en-US" sz="1600" dirty="0"/>
          </a:p>
        </p:txBody>
      </p:sp>
      <p:sp>
        <p:nvSpPr>
          <p:cNvPr id="147" name="Shape 25"/>
          <p:cNvSpPr/>
          <p:nvPr/>
        </p:nvSpPr>
        <p:spPr>
          <a:xfrm>
            <a:off x="4636008" y="4215384"/>
            <a:ext cx="82296" cy="82296"/>
          </a:xfrm>
          <a:prstGeom prst="rect">
            <a:avLst/>
          </a:prstGeom>
          <a:solidFill>
            <a:srgbClr val="B78A3E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48" name="Text 26"/>
          <p:cNvSpPr/>
          <p:nvPr/>
        </p:nvSpPr>
        <p:spPr>
          <a:xfrm>
            <a:off x="4846320" y="4005072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跨系统录入核对</a:t>
            </a:r>
            <a:endParaRPr lang="en-US" sz="1600" dirty="0"/>
          </a:p>
        </p:txBody>
      </p:sp>
      <p:sp>
        <p:nvSpPr>
          <p:cNvPr id="149" name="Shape 27"/>
          <p:cNvSpPr/>
          <p:nvPr/>
        </p:nvSpPr>
        <p:spPr>
          <a:xfrm>
            <a:off x="8044599" y="1996175"/>
            <a:ext cx="3502151" cy="3014737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9525">
            <a:solidFill>
              <a:srgbClr val="D9DFE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0" name="Shape 28"/>
          <p:cNvSpPr/>
          <p:nvPr/>
        </p:nvSpPr>
        <p:spPr>
          <a:xfrm>
            <a:off x="8046720" y="2011680"/>
            <a:ext cx="3502152" cy="621792"/>
          </a:xfrm>
          <a:prstGeom prst="rect">
            <a:avLst/>
          </a:prstGeom>
          <a:solidFill>
            <a:srgbClr val="2E7D6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51" name="Text 29"/>
          <p:cNvSpPr/>
          <p:nvPr/>
        </p:nvSpPr>
        <p:spPr>
          <a:xfrm>
            <a:off x="8321040" y="2011680"/>
            <a:ext cx="30175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最需要动脑的</a:t>
            </a:r>
            <a:endParaRPr lang="en-US" sz="2000" dirty="0"/>
          </a:p>
        </p:txBody>
      </p:sp>
      <p:sp>
        <p:nvSpPr>
          <p:cNvPr id="152" name="Shape 30"/>
          <p:cNvSpPr/>
          <p:nvPr/>
        </p:nvSpPr>
        <p:spPr>
          <a:xfrm>
            <a:off x="8339328" y="2971800"/>
            <a:ext cx="82296" cy="82296"/>
          </a:xfrm>
          <a:prstGeom prst="rect">
            <a:avLst/>
          </a:prstGeom>
          <a:solidFill>
            <a:srgbClr val="2E7D6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53" name="Text 31"/>
          <p:cNvSpPr/>
          <p:nvPr/>
        </p:nvSpPr>
        <p:spPr>
          <a:xfrm>
            <a:off x="8535504" y="2754707"/>
            <a:ext cx="2783619" cy="5024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判断优先级、分析原因</a:t>
            </a:r>
            <a:endParaRPr lang="en-US" sz="1600" dirty="0"/>
          </a:p>
        </p:txBody>
      </p:sp>
      <p:sp>
        <p:nvSpPr>
          <p:cNvPr id="154" name="Shape 32"/>
          <p:cNvSpPr/>
          <p:nvPr/>
        </p:nvSpPr>
        <p:spPr>
          <a:xfrm>
            <a:off x="8339328" y="3593592"/>
            <a:ext cx="82296" cy="82296"/>
          </a:xfrm>
          <a:prstGeom prst="rect">
            <a:avLst/>
          </a:prstGeom>
          <a:solidFill>
            <a:srgbClr val="2E7D6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55" name="Text 33"/>
          <p:cNvSpPr/>
          <p:nvPr/>
        </p:nvSpPr>
        <p:spPr>
          <a:xfrm>
            <a:off x="8535504" y="3376499"/>
            <a:ext cx="2783619" cy="5024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形成结论、设计方案</a:t>
            </a:r>
            <a:endParaRPr lang="en-US" sz="1600" dirty="0"/>
          </a:p>
        </p:txBody>
      </p:sp>
      <p:sp>
        <p:nvSpPr>
          <p:cNvPr id="156" name="Shape 34"/>
          <p:cNvSpPr/>
          <p:nvPr/>
        </p:nvSpPr>
        <p:spPr>
          <a:xfrm>
            <a:off x="8339328" y="4215384"/>
            <a:ext cx="82296" cy="82296"/>
          </a:xfrm>
          <a:prstGeom prst="rect">
            <a:avLst/>
          </a:prstGeom>
          <a:solidFill>
            <a:srgbClr val="2E7D6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57" name="Text 35"/>
          <p:cNvSpPr/>
          <p:nvPr/>
        </p:nvSpPr>
        <p:spPr>
          <a:xfrm>
            <a:off x="8535504" y="3998291"/>
            <a:ext cx="2783619" cy="5024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权衡取舍</a:t>
            </a:r>
            <a:endParaRPr lang="en-US" sz="1600" dirty="0"/>
          </a:p>
        </p:txBody>
      </p:sp>
      <p:sp>
        <p:nvSpPr>
          <p:cNvPr id="158" name="Shape 36"/>
          <p:cNvSpPr/>
          <p:nvPr/>
        </p:nvSpPr>
        <p:spPr>
          <a:xfrm>
            <a:off x="608076" y="5617199"/>
            <a:ext cx="10911535" cy="713232"/>
          </a:xfrm>
          <a:prstGeom prst="rect">
            <a:avLst/>
          </a:prstGeom>
          <a:solidFill>
            <a:srgbClr val="10345E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59" name="Shape 37"/>
          <p:cNvSpPr/>
          <p:nvPr/>
        </p:nvSpPr>
        <p:spPr>
          <a:xfrm>
            <a:off x="608076" y="5617199"/>
            <a:ext cx="73152" cy="713232"/>
          </a:xfrm>
          <a:prstGeom prst="rect">
            <a:avLst/>
          </a:prstGeom>
          <a:solidFill>
            <a:srgbClr val="B78A3E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60" name="Text 38"/>
          <p:cNvSpPr/>
          <p:nvPr/>
        </p:nvSpPr>
        <p:spPr>
          <a:xfrm>
            <a:off x="864108" y="5617199"/>
            <a:ext cx="1045433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落入这三类的事，都先问一句：这件事，能不能换一种方式完成？</a:t>
            </a:r>
            <a:endParaRPr lang="en-US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6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Shape 0"/>
          <p:cNvSpPr/>
          <p:nvPr/>
        </p:nvSpPr>
        <p:spPr>
          <a:xfrm>
            <a:off x="640080" y="457200"/>
            <a:ext cx="82296" cy="219456"/>
          </a:xfrm>
          <a:prstGeom prst="rect">
            <a:avLst/>
          </a:prstGeom>
          <a:solidFill>
            <a:srgbClr val="1E5AA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63" name="Text 1"/>
          <p:cNvSpPr/>
          <p:nvPr/>
        </p:nvSpPr>
        <p:spPr>
          <a:xfrm>
            <a:off x="804672" y="42976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altLang="zh-CN" sz="1050" b="1" kern="0" spc="100" dirty="0">
                <a:solidFill>
                  <a:srgbClr val="1E5AA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第二部分 · </a:t>
            </a:r>
            <a:r>
              <a:rPr lang="zh-CN" altLang="en-US" sz="1050" b="1" kern="0" spc="100" dirty="0">
                <a:solidFill>
                  <a:srgbClr val="1E5AA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应用</a:t>
            </a:r>
            <a:r>
              <a:rPr lang="en-US" altLang="zh-CN" sz="1050" b="1" kern="0" spc="100" dirty="0">
                <a:solidFill>
                  <a:srgbClr val="1E5AA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</a:t>
            </a:r>
            <a:endParaRPr lang="en-US" altLang="zh-CN" sz="1050" dirty="0"/>
          </a:p>
        </p:txBody>
      </p:sp>
      <p:sp>
        <p:nvSpPr>
          <p:cNvPr id="164" name="Text 2"/>
          <p:cNvSpPr/>
          <p:nvPr/>
        </p:nvSpPr>
        <p:spPr>
          <a:xfrm>
            <a:off x="640080" y="792000"/>
            <a:ext cx="1091153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带着模糊问题进入对话，让 AI 帮你把问题问清楚</a:t>
            </a:r>
            <a:endParaRPr lang="en-US" sz="2200" dirty="0"/>
          </a:p>
        </p:txBody>
      </p:sp>
      <p:sp>
        <p:nvSpPr>
          <p:cNvPr id="165" name="Shape 3"/>
          <p:cNvSpPr/>
          <p:nvPr/>
        </p:nvSpPr>
        <p:spPr>
          <a:xfrm>
            <a:off x="640080" y="1298448"/>
            <a:ext cx="10911535" cy="0"/>
          </a:xfrm>
          <a:prstGeom prst="line">
            <a:avLst/>
          </a:prstGeom>
          <a:noFill/>
          <a:ln w="9525">
            <a:solidFill>
              <a:srgbClr val="D9DFE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6" name="Shape 4"/>
          <p:cNvSpPr/>
          <p:nvPr/>
        </p:nvSpPr>
        <p:spPr>
          <a:xfrm>
            <a:off x="640080" y="1298448"/>
            <a:ext cx="1280160" cy="0"/>
          </a:xfrm>
          <a:prstGeom prst="line">
            <a:avLst/>
          </a:prstGeom>
          <a:noFill/>
          <a:ln w="28575">
            <a:solidFill>
              <a:srgbClr val="1E5AA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7" name="Shape 5"/>
          <p:cNvSpPr/>
          <p:nvPr/>
        </p:nvSpPr>
        <p:spPr>
          <a:xfrm>
            <a:off x="640080" y="6455664"/>
            <a:ext cx="10911535" cy="0"/>
          </a:xfrm>
          <a:prstGeom prst="line">
            <a:avLst/>
          </a:prstGeom>
          <a:noFill/>
          <a:ln w="7620">
            <a:solidFill>
              <a:srgbClr val="D9DFE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8" name="Text 6"/>
          <p:cNvSpPr/>
          <p:nvPr/>
        </p:nvSpPr>
        <p:spPr>
          <a:xfrm>
            <a:off x="640080" y="651052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8A94A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分行批发业务 AI 赋能与行内外系统实战</a:t>
            </a:r>
            <a:endParaRPr lang="en-US" sz="800" dirty="0"/>
          </a:p>
        </p:txBody>
      </p:sp>
      <p:sp>
        <p:nvSpPr>
          <p:cNvPr id="169" name="Text 7"/>
          <p:cNvSpPr/>
          <p:nvPr/>
        </p:nvSpPr>
        <p:spPr>
          <a:xfrm>
            <a:off x="11109960" y="6492240"/>
            <a:ext cx="438912" cy="237744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8A94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</a:t>
            </a:r>
            <a:endParaRPr lang="en-US" sz="900" dirty="0"/>
          </a:p>
        </p:txBody>
      </p:sp>
      <p:sp>
        <p:nvSpPr>
          <p:cNvPr id="170" name="Shape 8"/>
          <p:cNvSpPr/>
          <p:nvPr/>
        </p:nvSpPr>
        <p:spPr>
          <a:xfrm>
            <a:off x="640080" y="1783080"/>
            <a:ext cx="2011680" cy="1800000"/>
          </a:xfrm>
          <a:prstGeom prst="roundRect">
            <a:avLst>
              <a:gd name="adj" fmla="val 4118"/>
            </a:avLst>
          </a:prstGeom>
          <a:solidFill>
            <a:srgbClr val="FFFFFF"/>
          </a:solidFill>
          <a:ln w="9525">
            <a:solidFill>
              <a:srgbClr val="D9DFE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1" name="Shape 9"/>
          <p:cNvSpPr/>
          <p:nvPr/>
        </p:nvSpPr>
        <p:spPr>
          <a:xfrm>
            <a:off x="640080" y="1783080"/>
            <a:ext cx="2011680" cy="603504"/>
          </a:xfrm>
          <a:prstGeom prst="rect">
            <a:avLst/>
          </a:prstGeom>
          <a:solidFill>
            <a:srgbClr val="1E5AA0"/>
          </a:solidFill>
          <a:ln/>
        </p:spPr>
        <p:txBody>
          <a:bodyPr/>
          <a:lstStyle/>
          <a:p>
            <a:endParaRPr sz="2000" dirty="0"/>
          </a:p>
        </p:txBody>
      </p:sp>
      <p:sp>
        <p:nvSpPr>
          <p:cNvPr id="172" name="Text 10"/>
          <p:cNvSpPr/>
          <p:nvPr/>
        </p:nvSpPr>
        <p:spPr>
          <a:xfrm>
            <a:off x="786384" y="1783080"/>
            <a:ext cx="384048" cy="603504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900" dirty="0"/>
          </a:p>
        </p:txBody>
      </p:sp>
      <p:sp>
        <p:nvSpPr>
          <p:cNvPr id="173" name="Text 11"/>
          <p:cNvSpPr/>
          <p:nvPr/>
        </p:nvSpPr>
        <p:spPr>
          <a:xfrm>
            <a:off x="1170432" y="1783080"/>
            <a:ext cx="140817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说困扰</a:t>
            </a:r>
            <a:endParaRPr lang="en-US" sz="2000" dirty="0"/>
          </a:p>
        </p:txBody>
      </p:sp>
      <p:sp>
        <p:nvSpPr>
          <p:cNvPr id="174" name="Text 12"/>
          <p:cNvSpPr/>
          <p:nvPr/>
        </p:nvSpPr>
        <p:spPr>
          <a:xfrm>
            <a:off x="804672" y="2532888"/>
            <a:ext cx="168249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8000"/>
              </a:lnSpc>
              <a:buNone/>
            </a:pPr>
            <a:r>
              <a:rPr lang="en-US" sz="1600" dirty="0">
                <a:solidFill>
                  <a:srgbClr val="5C67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把真实感受说出来，不要求完整</a:t>
            </a:r>
            <a:endParaRPr lang="en-US" sz="1600" dirty="0"/>
          </a:p>
        </p:txBody>
      </p:sp>
      <p:sp>
        <p:nvSpPr>
          <p:cNvPr id="175" name="Text 13"/>
          <p:cNvSpPr/>
          <p:nvPr/>
        </p:nvSpPr>
        <p:spPr>
          <a:xfrm>
            <a:off x="2615184" y="2286000"/>
            <a:ext cx="286436" cy="457200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B78A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176" name="Shape 14"/>
          <p:cNvSpPr/>
          <p:nvPr/>
        </p:nvSpPr>
        <p:spPr>
          <a:xfrm>
            <a:off x="2865044" y="1783080"/>
            <a:ext cx="2011680" cy="1800000"/>
          </a:xfrm>
          <a:prstGeom prst="roundRect">
            <a:avLst>
              <a:gd name="adj" fmla="val 4118"/>
            </a:avLst>
          </a:prstGeom>
          <a:solidFill>
            <a:srgbClr val="FFFFFF"/>
          </a:solidFill>
          <a:ln w="9525">
            <a:solidFill>
              <a:srgbClr val="D9DFE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7" name="Shape 15"/>
          <p:cNvSpPr/>
          <p:nvPr/>
        </p:nvSpPr>
        <p:spPr>
          <a:xfrm>
            <a:off x="2865044" y="1783080"/>
            <a:ext cx="2011680" cy="603504"/>
          </a:xfrm>
          <a:prstGeom prst="rect">
            <a:avLst/>
          </a:prstGeom>
          <a:solidFill>
            <a:srgbClr val="1B467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78" name="Text 16"/>
          <p:cNvSpPr/>
          <p:nvPr/>
        </p:nvSpPr>
        <p:spPr>
          <a:xfrm>
            <a:off x="3011348" y="1783080"/>
            <a:ext cx="384048" cy="603504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900" dirty="0"/>
          </a:p>
        </p:txBody>
      </p:sp>
      <p:sp>
        <p:nvSpPr>
          <p:cNvPr id="179" name="Text 17"/>
          <p:cNvSpPr/>
          <p:nvPr/>
        </p:nvSpPr>
        <p:spPr>
          <a:xfrm>
            <a:off x="3395396" y="1783080"/>
            <a:ext cx="140817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 AI 追问</a:t>
            </a:r>
            <a:endParaRPr lang="en-US" sz="2000" dirty="0"/>
          </a:p>
        </p:txBody>
      </p:sp>
      <p:sp>
        <p:nvSpPr>
          <p:cNvPr id="180" name="Text 18"/>
          <p:cNvSpPr/>
          <p:nvPr/>
        </p:nvSpPr>
        <p:spPr>
          <a:xfrm>
            <a:off x="3029636" y="2532888"/>
            <a:ext cx="168249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8000"/>
              </a:lnSpc>
              <a:buNone/>
            </a:pPr>
            <a:r>
              <a:rPr lang="en-US" sz="1600" dirty="0">
                <a:solidFill>
                  <a:srgbClr val="5C67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问清目标、范围、对象、约束与输出</a:t>
            </a:r>
            <a:endParaRPr lang="en-US" sz="1600" dirty="0"/>
          </a:p>
        </p:txBody>
      </p:sp>
      <p:sp>
        <p:nvSpPr>
          <p:cNvPr id="181" name="Text 19"/>
          <p:cNvSpPr/>
          <p:nvPr/>
        </p:nvSpPr>
        <p:spPr>
          <a:xfrm>
            <a:off x="4840148" y="2286000"/>
            <a:ext cx="286436" cy="457200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B78A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182" name="Shape 20"/>
          <p:cNvSpPr/>
          <p:nvPr/>
        </p:nvSpPr>
        <p:spPr>
          <a:xfrm>
            <a:off x="5090008" y="1783080"/>
            <a:ext cx="2011680" cy="1800000"/>
          </a:xfrm>
          <a:prstGeom prst="roundRect">
            <a:avLst>
              <a:gd name="adj" fmla="val 4118"/>
            </a:avLst>
          </a:prstGeom>
          <a:solidFill>
            <a:srgbClr val="FFFFFF"/>
          </a:solidFill>
          <a:ln w="9525">
            <a:solidFill>
              <a:srgbClr val="D9DFE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3" name="Shape 21"/>
          <p:cNvSpPr/>
          <p:nvPr/>
        </p:nvSpPr>
        <p:spPr>
          <a:xfrm>
            <a:off x="5090008" y="1783080"/>
            <a:ext cx="2011680" cy="603504"/>
          </a:xfrm>
          <a:prstGeom prst="rect">
            <a:avLst/>
          </a:prstGeom>
          <a:solidFill>
            <a:srgbClr val="2E7D6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84" name="Text 22"/>
          <p:cNvSpPr/>
          <p:nvPr/>
        </p:nvSpPr>
        <p:spPr>
          <a:xfrm>
            <a:off x="5236312" y="1783080"/>
            <a:ext cx="384048" cy="603504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900" dirty="0"/>
          </a:p>
        </p:txBody>
      </p:sp>
      <p:sp>
        <p:nvSpPr>
          <p:cNvPr id="185" name="Text 23"/>
          <p:cNvSpPr/>
          <p:nvPr/>
        </p:nvSpPr>
        <p:spPr>
          <a:xfrm>
            <a:off x="5486171" y="1783080"/>
            <a:ext cx="154236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判类型路径</a:t>
            </a:r>
            <a:endParaRPr lang="en-US" sz="2000" dirty="0"/>
          </a:p>
        </p:txBody>
      </p:sp>
      <p:sp>
        <p:nvSpPr>
          <p:cNvPr id="186" name="Text 24"/>
          <p:cNvSpPr/>
          <p:nvPr/>
        </p:nvSpPr>
        <p:spPr>
          <a:xfrm>
            <a:off x="5254600" y="2532888"/>
            <a:ext cx="168249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8000"/>
              </a:lnSpc>
              <a:buNone/>
            </a:pPr>
            <a:r>
              <a:rPr lang="en-US" sz="1600" dirty="0">
                <a:solidFill>
                  <a:srgbClr val="5C67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预测 / 诊断 / 决策 / 生成，给可选路径</a:t>
            </a:r>
            <a:endParaRPr lang="en-US" sz="1600" dirty="0"/>
          </a:p>
        </p:txBody>
      </p:sp>
      <p:sp>
        <p:nvSpPr>
          <p:cNvPr id="187" name="Text 25"/>
          <p:cNvSpPr/>
          <p:nvPr/>
        </p:nvSpPr>
        <p:spPr>
          <a:xfrm>
            <a:off x="7065112" y="2286000"/>
            <a:ext cx="286436" cy="457200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B78A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188" name="Shape 26"/>
          <p:cNvSpPr/>
          <p:nvPr/>
        </p:nvSpPr>
        <p:spPr>
          <a:xfrm>
            <a:off x="7314971" y="1783080"/>
            <a:ext cx="2011680" cy="1800000"/>
          </a:xfrm>
          <a:prstGeom prst="roundRect">
            <a:avLst>
              <a:gd name="adj" fmla="val 4118"/>
            </a:avLst>
          </a:prstGeom>
          <a:solidFill>
            <a:srgbClr val="FFFFFF"/>
          </a:solidFill>
          <a:ln w="9525">
            <a:solidFill>
              <a:srgbClr val="D9DFE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9" name="Shape 27"/>
          <p:cNvSpPr/>
          <p:nvPr/>
        </p:nvSpPr>
        <p:spPr>
          <a:xfrm>
            <a:off x="7314971" y="1783080"/>
            <a:ext cx="2011680" cy="603504"/>
          </a:xfrm>
          <a:prstGeom prst="rect">
            <a:avLst/>
          </a:prstGeom>
          <a:solidFill>
            <a:srgbClr val="B78A3E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90" name="Text 28"/>
          <p:cNvSpPr/>
          <p:nvPr/>
        </p:nvSpPr>
        <p:spPr>
          <a:xfrm>
            <a:off x="7461275" y="1783080"/>
            <a:ext cx="384048" cy="603504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900" dirty="0"/>
          </a:p>
        </p:txBody>
      </p:sp>
      <p:sp>
        <p:nvSpPr>
          <p:cNvPr id="191" name="Text 29"/>
          <p:cNvSpPr/>
          <p:nvPr/>
        </p:nvSpPr>
        <p:spPr>
          <a:xfrm>
            <a:off x="7845323" y="1783080"/>
            <a:ext cx="140817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人选路径</a:t>
            </a:r>
            <a:endParaRPr lang="en-US" sz="2000" dirty="0"/>
          </a:p>
        </p:txBody>
      </p:sp>
      <p:sp>
        <p:nvSpPr>
          <p:cNvPr id="192" name="Text 30"/>
          <p:cNvSpPr/>
          <p:nvPr/>
        </p:nvSpPr>
        <p:spPr>
          <a:xfrm>
            <a:off x="7479563" y="2532888"/>
            <a:ext cx="168249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8000"/>
              </a:lnSpc>
              <a:buNone/>
            </a:pPr>
            <a:r>
              <a:rPr lang="en-US" sz="1600" dirty="0">
                <a:solidFill>
                  <a:srgbClr val="5C67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确认方向，补充 AI 不知道的背景约束</a:t>
            </a:r>
            <a:endParaRPr lang="en-US" sz="1600" dirty="0"/>
          </a:p>
        </p:txBody>
      </p:sp>
      <p:sp>
        <p:nvSpPr>
          <p:cNvPr id="193" name="Text 31"/>
          <p:cNvSpPr/>
          <p:nvPr/>
        </p:nvSpPr>
        <p:spPr>
          <a:xfrm>
            <a:off x="9290075" y="2286000"/>
            <a:ext cx="286436" cy="457200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B78A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194" name="Shape 32"/>
          <p:cNvSpPr/>
          <p:nvPr/>
        </p:nvSpPr>
        <p:spPr>
          <a:xfrm>
            <a:off x="9539935" y="1783080"/>
            <a:ext cx="2011680" cy="1800000"/>
          </a:xfrm>
          <a:prstGeom prst="roundRect">
            <a:avLst>
              <a:gd name="adj" fmla="val 4118"/>
            </a:avLst>
          </a:prstGeom>
          <a:solidFill>
            <a:srgbClr val="FFFFFF"/>
          </a:solidFill>
          <a:ln w="9525">
            <a:solidFill>
              <a:srgbClr val="D9DFE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5" name="Shape 33"/>
          <p:cNvSpPr/>
          <p:nvPr/>
        </p:nvSpPr>
        <p:spPr>
          <a:xfrm>
            <a:off x="9539935" y="1783080"/>
            <a:ext cx="2011680" cy="603504"/>
          </a:xfrm>
          <a:prstGeom prst="rect">
            <a:avLst/>
          </a:prstGeom>
          <a:solidFill>
            <a:srgbClr val="8A6A35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96" name="Text 34"/>
          <p:cNvSpPr/>
          <p:nvPr/>
        </p:nvSpPr>
        <p:spPr>
          <a:xfrm>
            <a:off x="9686239" y="1783080"/>
            <a:ext cx="384048" cy="603504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900" dirty="0"/>
          </a:p>
        </p:txBody>
      </p:sp>
      <p:sp>
        <p:nvSpPr>
          <p:cNvPr id="197" name="Text 35"/>
          <p:cNvSpPr/>
          <p:nvPr/>
        </p:nvSpPr>
        <p:spPr>
          <a:xfrm>
            <a:off x="10070287" y="1783080"/>
            <a:ext cx="140817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执行与验证</a:t>
            </a:r>
            <a:endParaRPr lang="en-US" sz="2000" dirty="0"/>
          </a:p>
        </p:txBody>
      </p:sp>
      <p:sp>
        <p:nvSpPr>
          <p:cNvPr id="198" name="Text 36"/>
          <p:cNvSpPr/>
          <p:nvPr/>
        </p:nvSpPr>
        <p:spPr>
          <a:xfrm>
            <a:off x="9704527" y="2532888"/>
            <a:ext cx="168249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8000"/>
              </a:lnSpc>
              <a:buNone/>
            </a:pPr>
            <a:r>
              <a:rPr lang="en-US" sz="1600" dirty="0">
                <a:solidFill>
                  <a:srgbClr val="5C67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执行输出，人核实事实、判断风险</a:t>
            </a:r>
            <a:endParaRPr lang="en-US" sz="1600" dirty="0"/>
          </a:p>
        </p:txBody>
      </p:sp>
      <p:sp>
        <p:nvSpPr>
          <p:cNvPr id="199" name="Shape 37"/>
          <p:cNvSpPr/>
          <p:nvPr/>
        </p:nvSpPr>
        <p:spPr>
          <a:xfrm>
            <a:off x="640080" y="3703320"/>
            <a:ext cx="10911535" cy="1594534"/>
          </a:xfrm>
          <a:prstGeom prst="roundRect">
            <a:avLst>
              <a:gd name="adj" fmla="val 6087"/>
            </a:avLst>
          </a:prstGeom>
          <a:solidFill>
            <a:srgbClr val="FFFFFF"/>
          </a:solidFill>
          <a:ln w="9525">
            <a:solidFill>
              <a:srgbClr val="D9DFE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0" name="Shape 38"/>
          <p:cNvSpPr/>
          <p:nvPr/>
        </p:nvSpPr>
        <p:spPr>
          <a:xfrm>
            <a:off x="640080" y="3703320"/>
            <a:ext cx="45719" cy="1594534"/>
          </a:xfrm>
          <a:prstGeom prst="rect">
            <a:avLst/>
          </a:prstGeom>
          <a:solidFill>
            <a:srgbClr val="B78A3E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01" name="Text 39"/>
          <p:cNvSpPr/>
          <p:nvPr/>
        </p:nvSpPr>
        <p:spPr>
          <a:xfrm>
            <a:off x="914400" y="384962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B78A3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第一步示例</a:t>
            </a:r>
            <a:endParaRPr lang="en-US" sz="1100" dirty="0"/>
          </a:p>
        </p:txBody>
      </p:sp>
      <p:sp>
        <p:nvSpPr>
          <p:cNvPr id="202" name="Text 40"/>
          <p:cNvSpPr/>
          <p:nvPr/>
        </p:nvSpPr>
        <p:spPr>
          <a:xfrm>
            <a:off x="896112" y="4309285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“最近销售数据不太对，但我说不清哪里不对。”</a:t>
            </a:r>
            <a:endParaRPr lang="en-US" sz="2000" dirty="0"/>
          </a:p>
        </p:txBody>
      </p:sp>
      <p:sp>
        <p:nvSpPr>
          <p:cNvPr id="203" name="Text 41"/>
          <p:cNvSpPr/>
          <p:nvPr/>
        </p:nvSpPr>
        <p:spPr>
          <a:xfrm>
            <a:off x="914400" y="4906106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5C67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随即追问：看趋势还是找异常？按区域还是按产品？给谁看？哪些结论不能自动下？</a:t>
            </a:r>
            <a:endParaRPr lang="en-US" sz="1600" dirty="0"/>
          </a:p>
        </p:txBody>
      </p:sp>
      <p:sp>
        <p:nvSpPr>
          <p:cNvPr id="204" name="Shape 42"/>
          <p:cNvSpPr/>
          <p:nvPr/>
        </p:nvSpPr>
        <p:spPr>
          <a:xfrm>
            <a:off x="640080" y="5662246"/>
            <a:ext cx="10911535" cy="713232"/>
          </a:xfrm>
          <a:prstGeom prst="rect">
            <a:avLst/>
          </a:prstGeom>
          <a:solidFill>
            <a:srgbClr val="10345E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05" name="Shape 43"/>
          <p:cNvSpPr/>
          <p:nvPr/>
        </p:nvSpPr>
        <p:spPr>
          <a:xfrm>
            <a:off x="640080" y="5662246"/>
            <a:ext cx="73152" cy="713232"/>
          </a:xfrm>
          <a:prstGeom prst="rect">
            <a:avLst/>
          </a:prstGeom>
          <a:solidFill>
            <a:srgbClr val="B78A3E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06" name="Text 44"/>
          <p:cNvSpPr/>
          <p:nvPr/>
        </p:nvSpPr>
        <p:spPr>
          <a:xfrm>
            <a:off x="896112" y="5662246"/>
            <a:ext cx="1045433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不是等想清楚再用 AI，而是带着模糊问题进入对话，让 AI 帮你把问题问清楚。</a:t>
            </a:r>
            <a:endParaRPr lang="en-US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6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Shape 0"/>
          <p:cNvSpPr/>
          <p:nvPr/>
        </p:nvSpPr>
        <p:spPr>
          <a:xfrm>
            <a:off x="640080" y="457200"/>
            <a:ext cx="82296" cy="219456"/>
          </a:xfrm>
          <a:prstGeom prst="rect">
            <a:avLst/>
          </a:prstGeom>
          <a:solidFill>
            <a:srgbClr val="1E5AA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09" name="Text 1"/>
          <p:cNvSpPr/>
          <p:nvPr/>
        </p:nvSpPr>
        <p:spPr>
          <a:xfrm>
            <a:off x="804672" y="42976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altLang="zh-CN" sz="1050" b="1" kern="0" spc="100" dirty="0">
                <a:solidFill>
                  <a:srgbClr val="1E5AA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第二部分 · </a:t>
            </a:r>
            <a:r>
              <a:rPr lang="zh-CN" altLang="en-US" sz="1050" b="1" kern="0" spc="100" dirty="0">
                <a:solidFill>
                  <a:srgbClr val="1E5AA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应用</a:t>
            </a:r>
            <a:r>
              <a:rPr lang="en-US" altLang="zh-CN" sz="1050" b="1" kern="0" spc="100" dirty="0">
                <a:solidFill>
                  <a:srgbClr val="1E5AA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</a:t>
            </a:r>
            <a:endParaRPr lang="en-US" altLang="zh-CN" sz="1050" dirty="0"/>
          </a:p>
        </p:txBody>
      </p:sp>
      <p:sp>
        <p:nvSpPr>
          <p:cNvPr id="210" name="Text 2"/>
          <p:cNvSpPr/>
          <p:nvPr/>
        </p:nvSpPr>
        <p:spPr>
          <a:xfrm>
            <a:off x="640080" y="792000"/>
            <a:ext cx="1091153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不替你拍板，而是帮你把答案想出来、试出来、验出来</a:t>
            </a:r>
            <a:endParaRPr lang="en-US" sz="2200" dirty="0"/>
          </a:p>
        </p:txBody>
      </p:sp>
      <p:sp>
        <p:nvSpPr>
          <p:cNvPr id="211" name="Shape 3"/>
          <p:cNvSpPr/>
          <p:nvPr/>
        </p:nvSpPr>
        <p:spPr>
          <a:xfrm>
            <a:off x="640080" y="1298448"/>
            <a:ext cx="10911535" cy="0"/>
          </a:xfrm>
          <a:prstGeom prst="line">
            <a:avLst/>
          </a:prstGeom>
          <a:noFill/>
          <a:ln w="9525">
            <a:solidFill>
              <a:srgbClr val="D9DFE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2" name="Shape 4"/>
          <p:cNvSpPr/>
          <p:nvPr/>
        </p:nvSpPr>
        <p:spPr>
          <a:xfrm>
            <a:off x="640080" y="1298448"/>
            <a:ext cx="1280160" cy="0"/>
          </a:xfrm>
          <a:prstGeom prst="line">
            <a:avLst/>
          </a:prstGeom>
          <a:noFill/>
          <a:ln w="28575">
            <a:solidFill>
              <a:srgbClr val="1E5AA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3" name="Shape 5"/>
          <p:cNvSpPr/>
          <p:nvPr/>
        </p:nvSpPr>
        <p:spPr>
          <a:xfrm>
            <a:off x="640080" y="6455664"/>
            <a:ext cx="10911535" cy="0"/>
          </a:xfrm>
          <a:prstGeom prst="line">
            <a:avLst/>
          </a:prstGeom>
          <a:noFill/>
          <a:ln w="7620">
            <a:solidFill>
              <a:srgbClr val="D9DFE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4" name="Text 6"/>
          <p:cNvSpPr/>
          <p:nvPr/>
        </p:nvSpPr>
        <p:spPr>
          <a:xfrm>
            <a:off x="640080" y="651052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8A94A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分行批发业务 AI 赋能与行内外系统实战</a:t>
            </a:r>
            <a:endParaRPr lang="en-US" sz="800" dirty="0"/>
          </a:p>
        </p:txBody>
      </p:sp>
      <p:sp>
        <p:nvSpPr>
          <p:cNvPr id="215" name="Text 7"/>
          <p:cNvSpPr/>
          <p:nvPr/>
        </p:nvSpPr>
        <p:spPr>
          <a:xfrm>
            <a:off x="11109960" y="6492240"/>
            <a:ext cx="438912" cy="237744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8A94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900" dirty="0"/>
          </a:p>
        </p:txBody>
      </p:sp>
      <p:sp>
        <p:nvSpPr>
          <p:cNvPr id="216" name="Shape 8"/>
          <p:cNvSpPr/>
          <p:nvPr/>
        </p:nvSpPr>
        <p:spPr>
          <a:xfrm>
            <a:off x="640080" y="1536192"/>
            <a:ext cx="4846320" cy="4224528"/>
          </a:xfrm>
          <a:prstGeom prst="roundRect">
            <a:avLst>
              <a:gd name="adj" fmla="val 1732"/>
            </a:avLst>
          </a:prstGeom>
          <a:solidFill>
            <a:srgbClr val="FFFFFF"/>
          </a:solidFill>
          <a:ln w="9525">
            <a:solidFill>
              <a:srgbClr val="D9DFE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7" name="Text 9"/>
          <p:cNvSpPr/>
          <p:nvPr/>
        </p:nvSpPr>
        <p:spPr>
          <a:xfrm>
            <a:off x="932688" y="1755648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1746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帮你完成三件事</a:t>
            </a:r>
            <a:endParaRPr lang="en-US" sz="2000" dirty="0"/>
          </a:p>
        </p:txBody>
      </p:sp>
      <p:sp>
        <p:nvSpPr>
          <p:cNvPr id="218" name="Shape 10"/>
          <p:cNvSpPr/>
          <p:nvPr/>
        </p:nvSpPr>
        <p:spPr>
          <a:xfrm>
            <a:off x="932688" y="2286000"/>
            <a:ext cx="457200" cy="457200"/>
          </a:xfrm>
          <a:prstGeom prst="ellipse">
            <a:avLst/>
          </a:prstGeom>
          <a:solidFill>
            <a:srgbClr val="1E5AA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19" name="Text 11"/>
          <p:cNvSpPr/>
          <p:nvPr/>
        </p:nvSpPr>
        <p:spPr>
          <a:xfrm>
            <a:off x="932688" y="2286000"/>
            <a:ext cx="457200" cy="457200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220" name="Text 12"/>
          <p:cNvSpPr/>
          <p:nvPr/>
        </p:nvSpPr>
        <p:spPr>
          <a:xfrm>
            <a:off x="1572768" y="2304288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b="1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帮你澄清问题</a:t>
            </a:r>
            <a:endParaRPr lang="en-US" dirty="0"/>
          </a:p>
        </p:txBody>
      </p:sp>
      <p:sp>
        <p:nvSpPr>
          <p:cNvPr id="221" name="Text 13"/>
          <p:cNvSpPr/>
          <p:nvPr/>
        </p:nvSpPr>
        <p:spPr>
          <a:xfrm>
            <a:off x="1572768" y="2670048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5C67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把模糊困扰变成清晰目标</a:t>
            </a:r>
            <a:endParaRPr lang="en-US" sz="1600" dirty="0"/>
          </a:p>
        </p:txBody>
      </p:sp>
      <p:sp>
        <p:nvSpPr>
          <p:cNvPr id="222" name="Shape 14"/>
          <p:cNvSpPr/>
          <p:nvPr/>
        </p:nvSpPr>
        <p:spPr>
          <a:xfrm>
            <a:off x="932688" y="3364992"/>
            <a:ext cx="457200" cy="457200"/>
          </a:xfrm>
          <a:prstGeom prst="ellipse">
            <a:avLst/>
          </a:prstGeom>
          <a:solidFill>
            <a:srgbClr val="1E5AA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23" name="Text 15"/>
          <p:cNvSpPr/>
          <p:nvPr/>
        </p:nvSpPr>
        <p:spPr>
          <a:xfrm>
            <a:off x="932688" y="3364992"/>
            <a:ext cx="457200" cy="457200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224" name="Text 16"/>
          <p:cNvSpPr/>
          <p:nvPr/>
        </p:nvSpPr>
        <p:spPr>
          <a:xfrm>
            <a:off x="1572768" y="338328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b="1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帮你试路径</a:t>
            </a:r>
            <a:endParaRPr lang="en-US" dirty="0"/>
          </a:p>
        </p:txBody>
      </p:sp>
      <p:sp>
        <p:nvSpPr>
          <p:cNvPr id="225" name="Text 17"/>
          <p:cNvSpPr/>
          <p:nvPr/>
        </p:nvSpPr>
        <p:spPr>
          <a:xfrm>
            <a:off x="1572768" y="3749040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5C67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给出多个可选思路，让你比较选择</a:t>
            </a:r>
            <a:endParaRPr lang="en-US" sz="1600" dirty="0"/>
          </a:p>
        </p:txBody>
      </p:sp>
      <p:sp>
        <p:nvSpPr>
          <p:cNvPr id="226" name="Shape 18"/>
          <p:cNvSpPr/>
          <p:nvPr/>
        </p:nvSpPr>
        <p:spPr>
          <a:xfrm>
            <a:off x="932688" y="4443984"/>
            <a:ext cx="457200" cy="457200"/>
          </a:xfrm>
          <a:prstGeom prst="ellipse">
            <a:avLst/>
          </a:prstGeom>
          <a:solidFill>
            <a:srgbClr val="1E5AA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27" name="Text 19"/>
          <p:cNvSpPr/>
          <p:nvPr/>
        </p:nvSpPr>
        <p:spPr>
          <a:xfrm>
            <a:off x="932688" y="4443984"/>
            <a:ext cx="457200" cy="457200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228" name="Text 20"/>
          <p:cNvSpPr/>
          <p:nvPr/>
        </p:nvSpPr>
        <p:spPr>
          <a:xfrm>
            <a:off x="1572768" y="4462272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b="1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帮你验证结论</a:t>
            </a:r>
            <a:endParaRPr lang="en-US" dirty="0"/>
          </a:p>
        </p:txBody>
      </p:sp>
      <p:sp>
        <p:nvSpPr>
          <p:cNvPr id="229" name="Text 21"/>
          <p:cNvSpPr/>
          <p:nvPr/>
        </p:nvSpPr>
        <p:spPr>
          <a:xfrm>
            <a:off x="1572768" y="4828032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5C67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提出反方意见、风险点和待核实事项</a:t>
            </a:r>
            <a:endParaRPr lang="en-US" sz="1600" dirty="0"/>
          </a:p>
        </p:txBody>
      </p:sp>
      <p:sp>
        <p:nvSpPr>
          <p:cNvPr id="230" name="Shape 22"/>
          <p:cNvSpPr/>
          <p:nvPr/>
        </p:nvSpPr>
        <p:spPr>
          <a:xfrm>
            <a:off x="5760720" y="1536192"/>
            <a:ext cx="5788152" cy="4224528"/>
          </a:xfrm>
          <a:prstGeom prst="roundRect">
            <a:avLst>
              <a:gd name="adj" fmla="val 1732"/>
            </a:avLst>
          </a:prstGeom>
          <a:solidFill>
            <a:srgbClr val="E9F0F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31" name="Text 23"/>
          <p:cNvSpPr/>
          <p:nvPr/>
        </p:nvSpPr>
        <p:spPr>
          <a:xfrm>
            <a:off x="6053328" y="1755648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1746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五种可以直接用的提问方式</a:t>
            </a:r>
            <a:endParaRPr lang="en-US" sz="2000" dirty="0"/>
          </a:p>
        </p:txBody>
      </p:sp>
      <p:sp>
        <p:nvSpPr>
          <p:cNvPr id="232" name="Text 24"/>
          <p:cNvSpPr/>
          <p:nvPr/>
        </p:nvSpPr>
        <p:spPr>
          <a:xfrm>
            <a:off x="6053328" y="2286000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“请你先访谈我，帮我把这个问题问清楚。”</a:t>
            </a:r>
            <a:endParaRPr lang="en-US" sz="1600" dirty="0"/>
          </a:p>
        </p:txBody>
      </p:sp>
      <p:sp>
        <p:nvSpPr>
          <p:cNvPr id="233" name="Shape 25"/>
          <p:cNvSpPr/>
          <p:nvPr/>
        </p:nvSpPr>
        <p:spPr>
          <a:xfrm>
            <a:off x="6053328" y="2852928"/>
            <a:ext cx="5257800" cy="0"/>
          </a:xfrm>
          <a:prstGeom prst="line">
            <a:avLst/>
          </a:prstGeom>
          <a:noFill/>
          <a:ln w="7620">
            <a:solidFill>
              <a:srgbClr val="C5D6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4" name="Text 26"/>
          <p:cNvSpPr/>
          <p:nvPr/>
        </p:nvSpPr>
        <p:spPr>
          <a:xfrm>
            <a:off x="6053328" y="2907792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“请判断这是哪类问题，给我两到三条可选路径。”</a:t>
            </a:r>
            <a:endParaRPr lang="en-US" sz="1600" dirty="0"/>
          </a:p>
        </p:txBody>
      </p:sp>
      <p:sp>
        <p:nvSpPr>
          <p:cNvPr id="235" name="Shape 27"/>
          <p:cNvSpPr/>
          <p:nvPr/>
        </p:nvSpPr>
        <p:spPr>
          <a:xfrm>
            <a:off x="6053328" y="3474720"/>
            <a:ext cx="5257800" cy="0"/>
          </a:xfrm>
          <a:prstGeom prst="line">
            <a:avLst/>
          </a:prstGeom>
          <a:noFill/>
          <a:ln w="7620">
            <a:solidFill>
              <a:srgbClr val="C5D6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6" name="Text 28"/>
          <p:cNvSpPr/>
          <p:nvPr/>
        </p:nvSpPr>
        <p:spPr>
          <a:xfrm>
            <a:off x="6053328" y="3529584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“请你扮演反方，质疑我这个判断。”</a:t>
            </a:r>
            <a:endParaRPr lang="en-US" sz="1600" dirty="0"/>
          </a:p>
        </p:txBody>
      </p:sp>
      <p:sp>
        <p:nvSpPr>
          <p:cNvPr id="237" name="Shape 29"/>
          <p:cNvSpPr/>
          <p:nvPr/>
        </p:nvSpPr>
        <p:spPr>
          <a:xfrm>
            <a:off x="6053328" y="4096512"/>
            <a:ext cx="5257800" cy="0"/>
          </a:xfrm>
          <a:prstGeom prst="line">
            <a:avLst/>
          </a:prstGeom>
          <a:noFill/>
          <a:ln w="7620">
            <a:solidFill>
              <a:srgbClr val="C5D6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8" name="Text 30"/>
          <p:cNvSpPr/>
          <p:nvPr/>
        </p:nvSpPr>
        <p:spPr>
          <a:xfrm>
            <a:off x="6053328" y="4151376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“请列出哪些是事实、哪些是假设、哪些需要核实。”</a:t>
            </a:r>
            <a:endParaRPr lang="en-US" sz="1600" dirty="0"/>
          </a:p>
        </p:txBody>
      </p:sp>
      <p:sp>
        <p:nvSpPr>
          <p:cNvPr id="239" name="Shape 31"/>
          <p:cNvSpPr/>
          <p:nvPr/>
        </p:nvSpPr>
        <p:spPr>
          <a:xfrm>
            <a:off x="6053328" y="4718304"/>
            <a:ext cx="5257800" cy="0"/>
          </a:xfrm>
          <a:prstGeom prst="line">
            <a:avLst/>
          </a:prstGeom>
          <a:noFill/>
          <a:ln w="7620">
            <a:solidFill>
              <a:srgbClr val="C5D6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0" name="Text 32"/>
          <p:cNvSpPr/>
          <p:nvPr/>
        </p:nvSpPr>
        <p:spPr>
          <a:xfrm>
            <a:off x="6053328" y="4773168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“请把结论整理成我可以自己判断的版本。”</a:t>
            </a:r>
            <a:endParaRPr lang="en-US" sz="1600" dirty="0"/>
          </a:p>
        </p:txBody>
      </p:sp>
      <p:sp>
        <p:nvSpPr>
          <p:cNvPr id="241" name="Shape 33"/>
          <p:cNvSpPr/>
          <p:nvPr/>
        </p:nvSpPr>
        <p:spPr>
          <a:xfrm>
            <a:off x="640080" y="5870448"/>
            <a:ext cx="10911535" cy="457200"/>
          </a:xfrm>
          <a:prstGeom prst="rect">
            <a:avLst/>
          </a:prstGeom>
          <a:solidFill>
            <a:srgbClr val="10345E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42" name="Shape 34"/>
          <p:cNvSpPr/>
          <p:nvPr/>
        </p:nvSpPr>
        <p:spPr>
          <a:xfrm>
            <a:off x="640080" y="5870448"/>
            <a:ext cx="73152" cy="457200"/>
          </a:xfrm>
          <a:prstGeom prst="rect">
            <a:avLst/>
          </a:prstGeom>
          <a:solidFill>
            <a:srgbClr val="B78A3E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43" name="Text 35"/>
          <p:cNvSpPr/>
          <p:nvPr/>
        </p:nvSpPr>
        <p:spPr>
          <a:xfrm>
            <a:off x="896112" y="5870448"/>
            <a:ext cx="104543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不是替你给答案——最终答案，仍然是你自己的。</a:t>
            </a:r>
            <a:endParaRPr lang="en-US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6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Shape 0"/>
          <p:cNvSpPr/>
          <p:nvPr/>
        </p:nvSpPr>
        <p:spPr>
          <a:xfrm>
            <a:off x="640080" y="457200"/>
            <a:ext cx="82296" cy="219456"/>
          </a:xfrm>
          <a:prstGeom prst="rect">
            <a:avLst/>
          </a:prstGeom>
          <a:solidFill>
            <a:srgbClr val="1E5AA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77" name="Text 1"/>
          <p:cNvSpPr/>
          <p:nvPr/>
        </p:nvSpPr>
        <p:spPr>
          <a:xfrm>
            <a:off x="804672" y="42976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altLang="zh-CN" sz="1050" b="1" kern="0" spc="100" dirty="0">
                <a:solidFill>
                  <a:srgbClr val="1E5AA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第二部分 · </a:t>
            </a:r>
            <a:r>
              <a:rPr lang="zh-CN" altLang="en-US" sz="1050" b="1" kern="0" spc="100" dirty="0">
                <a:solidFill>
                  <a:srgbClr val="1E5AA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应用</a:t>
            </a:r>
            <a:r>
              <a:rPr lang="en-US" altLang="zh-CN" sz="1050" b="1" kern="0" spc="100" dirty="0">
                <a:solidFill>
                  <a:srgbClr val="1E5AA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</a:t>
            </a:r>
            <a:endParaRPr lang="en-US" altLang="zh-CN" sz="1050" dirty="0"/>
          </a:p>
        </p:txBody>
      </p:sp>
      <p:sp>
        <p:nvSpPr>
          <p:cNvPr id="278" name="Text 2"/>
          <p:cNvSpPr/>
          <p:nvPr/>
        </p:nvSpPr>
        <p:spPr>
          <a:xfrm>
            <a:off x="640080" y="792000"/>
            <a:ext cx="1091153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可以引导拆解，但人必须守住三件事</a:t>
            </a:r>
            <a:endParaRPr lang="en-US" sz="2200" dirty="0"/>
          </a:p>
        </p:txBody>
      </p:sp>
      <p:sp>
        <p:nvSpPr>
          <p:cNvPr id="279" name="Shape 3"/>
          <p:cNvSpPr/>
          <p:nvPr/>
        </p:nvSpPr>
        <p:spPr>
          <a:xfrm>
            <a:off x="640080" y="1298448"/>
            <a:ext cx="10911535" cy="0"/>
          </a:xfrm>
          <a:prstGeom prst="line">
            <a:avLst/>
          </a:prstGeom>
          <a:noFill/>
          <a:ln w="9525">
            <a:solidFill>
              <a:srgbClr val="D9DFE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80" name="Shape 4"/>
          <p:cNvSpPr/>
          <p:nvPr/>
        </p:nvSpPr>
        <p:spPr>
          <a:xfrm>
            <a:off x="640080" y="1298448"/>
            <a:ext cx="1280160" cy="0"/>
          </a:xfrm>
          <a:prstGeom prst="line">
            <a:avLst/>
          </a:prstGeom>
          <a:noFill/>
          <a:ln w="28575">
            <a:solidFill>
              <a:srgbClr val="1E5AA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81" name="Shape 5"/>
          <p:cNvSpPr/>
          <p:nvPr/>
        </p:nvSpPr>
        <p:spPr>
          <a:xfrm>
            <a:off x="640080" y="6455664"/>
            <a:ext cx="10911535" cy="0"/>
          </a:xfrm>
          <a:prstGeom prst="line">
            <a:avLst/>
          </a:prstGeom>
          <a:noFill/>
          <a:ln w="7620">
            <a:solidFill>
              <a:srgbClr val="D9DFE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82" name="Text 6"/>
          <p:cNvSpPr/>
          <p:nvPr/>
        </p:nvSpPr>
        <p:spPr>
          <a:xfrm>
            <a:off x="640080" y="651052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8A94A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分行批发业务 AI 赋能与行内外系统实战</a:t>
            </a:r>
            <a:endParaRPr lang="en-US" sz="800" dirty="0"/>
          </a:p>
        </p:txBody>
      </p:sp>
      <p:sp>
        <p:nvSpPr>
          <p:cNvPr id="283" name="Text 7"/>
          <p:cNvSpPr/>
          <p:nvPr/>
        </p:nvSpPr>
        <p:spPr>
          <a:xfrm>
            <a:off x="11109960" y="6492240"/>
            <a:ext cx="438912" cy="237744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8A94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</a:t>
            </a:r>
            <a:endParaRPr lang="en-US" sz="900" dirty="0"/>
          </a:p>
        </p:txBody>
      </p:sp>
      <p:sp>
        <p:nvSpPr>
          <p:cNvPr id="284" name="Shape 8"/>
          <p:cNvSpPr/>
          <p:nvPr/>
        </p:nvSpPr>
        <p:spPr>
          <a:xfrm>
            <a:off x="635508" y="1938528"/>
            <a:ext cx="3502152" cy="310896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 w="9525">
            <a:solidFill>
              <a:srgbClr val="D9DFE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85" name="Shape 9"/>
          <p:cNvSpPr/>
          <p:nvPr/>
        </p:nvSpPr>
        <p:spPr>
          <a:xfrm>
            <a:off x="640080" y="1874520"/>
            <a:ext cx="3502152" cy="109728"/>
          </a:xfrm>
          <a:prstGeom prst="rect">
            <a:avLst/>
          </a:prstGeom>
          <a:solidFill>
            <a:srgbClr val="1E5AA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86" name="Text 10"/>
          <p:cNvSpPr/>
          <p:nvPr/>
        </p:nvSpPr>
        <p:spPr>
          <a:xfrm>
            <a:off x="960120" y="2286000"/>
            <a:ext cx="914400" cy="731520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4400" b="1" dirty="0">
                <a:solidFill>
                  <a:srgbClr val="1E5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4400" dirty="0"/>
          </a:p>
        </p:txBody>
      </p:sp>
      <p:sp>
        <p:nvSpPr>
          <p:cNvPr id="287" name="Text 11"/>
          <p:cNvSpPr/>
          <p:nvPr/>
        </p:nvSpPr>
        <p:spPr>
          <a:xfrm>
            <a:off x="960120" y="320040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提供真实背景</a:t>
            </a:r>
            <a:endParaRPr lang="en-US" sz="2000" dirty="0"/>
          </a:p>
        </p:txBody>
      </p:sp>
      <p:sp>
        <p:nvSpPr>
          <p:cNvPr id="288" name="Shape 12"/>
          <p:cNvSpPr/>
          <p:nvPr/>
        </p:nvSpPr>
        <p:spPr>
          <a:xfrm>
            <a:off x="960120" y="3703320"/>
            <a:ext cx="1097280" cy="0"/>
          </a:xfrm>
          <a:prstGeom prst="line">
            <a:avLst/>
          </a:prstGeom>
          <a:noFill/>
          <a:ln w="19050">
            <a:solidFill>
              <a:srgbClr val="1E5AA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89" name="Text 13"/>
          <p:cNvSpPr/>
          <p:nvPr/>
        </p:nvSpPr>
        <p:spPr>
          <a:xfrm>
            <a:off x="960120" y="3886200"/>
            <a:ext cx="2880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5C67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行内情况、历史沿革和真实约束，AI 都不知道</a:t>
            </a:r>
            <a:endParaRPr lang="en-US" sz="1600" dirty="0"/>
          </a:p>
        </p:txBody>
      </p:sp>
      <p:sp>
        <p:nvSpPr>
          <p:cNvPr id="290" name="Shape 14"/>
          <p:cNvSpPr/>
          <p:nvPr/>
        </p:nvSpPr>
        <p:spPr>
          <a:xfrm>
            <a:off x="4343400" y="1874520"/>
            <a:ext cx="3502152" cy="310896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 w="9525">
            <a:solidFill>
              <a:srgbClr val="D9DFE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91" name="Shape 15"/>
          <p:cNvSpPr/>
          <p:nvPr/>
        </p:nvSpPr>
        <p:spPr>
          <a:xfrm>
            <a:off x="4343400" y="1874520"/>
            <a:ext cx="3502152" cy="109728"/>
          </a:xfrm>
          <a:prstGeom prst="rect">
            <a:avLst/>
          </a:prstGeom>
          <a:solidFill>
            <a:srgbClr val="B78A3E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92" name="Text 16"/>
          <p:cNvSpPr/>
          <p:nvPr/>
        </p:nvSpPr>
        <p:spPr>
          <a:xfrm>
            <a:off x="4663440" y="2286000"/>
            <a:ext cx="914400" cy="731520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4400" b="1" dirty="0">
                <a:solidFill>
                  <a:srgbClr val="B78A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4400" dirty="0"/>
          </a:p>
        </p:txBody>
      </p:sp>
      <p:sp>
        <p:nvSpPr>
          <p:cNvPr id="293" name="Text 17"/>
          <p:cNvSpPr/>
          <p:nvPr/>
        </p:nvSpPr>
        <p:spPr>
          <a:xfrm>
            <a:off x="4663440" y="320040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选择路径</a:t>
            </a:r>
            <a:endParaRPr lang="en-US" sz="2000" dirty="0"/>
          </a:p>
        </p:txBody>
      </p:sp>
      <p:sp>
        <p:nvSpPr>
          <p:cNvPr id="294" name="Shape 18"/>
          <p:cNvSpPr/>
          <p:nvPr/>
        </p:nvSpPr>
        <p:spPr>
          <a:xfrm>
            <a:off x="4663440" y="3703320"/>
            <a:ext cx="1097280" cy="0"/>
          </a:xfrm>
          <a:prstGeom prst="line">
            <a:avLst/>
          </a:prstGeom>
          <a:noFill/>
          <a:ln w="19050">
            <a:solidFill>
              <a:srgbClr val="B78A3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95" name="Text 19"/>
          <p:cNvSpPr/>
          <p:nvPr/>
        </p:nvSpPr>
        <p:spPr>
          <a:xfrm>
            <a:off x="4663440" y="3886200"/>
            <a:ext cx="2880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5C67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可以给多个方案，但选哪条路，要人来定</a:t>
            </a:r>
            <a:endParaRPr lang="en-US" sz="1600" dirty="0"/>
          </a:p>
        </p:txBody>
      </p:sp>
      <p:sp>
        <p:nvSpPr>
          <p:cNvPr id="296" name="Shape 20"/>
          <p:cNvSpPr/>
          <p:nvPr/>
        </p:nvSpPr>
        <p:spPr>
          <a:xfrm>
            <a:off x="8046720" y="1874520"/>
            <a:ext cx="3502152" cy="310896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 w="9525">
            <a:solidFill>
              <a:srgbClr val="D9DFE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97" name="Shape 21"/>
          <p:cNvSpPr/>
          <p:nvPr/>
        </p:nvSpPr>
        <p:spPr>
          <a:xfrm>
            <a:off x="8046720" y="1874520"/>
            <a:ext cx="3502152" cy="109728"/>
          </a:xfrm>
          <a:prstGeom prst="rect">
            <a:avLst/>
          </a:prstGeom>
          <a:solidFill>
            <a:srgbClr val="B1433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98" name="Text 22"/>
          <p:cNvSpPr/>
          <p:nvPr/>
        </p:nvSpPr>
        <p:spPr>
          <a:xfrm>
            <a:off x="8366760" y="2286000"/>
            <a:ext cx="914400" cy="731520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4400" b="1" dirty="0">
                <a:solidFill>
                  <a:srgbClr val="B143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4400" dirty="0"/>
          </a:p>
        </p:txBody>
      </p:sp>
      <p:sp>
        <p:nvSpPr>
          <p:cNvPr id="299" name="Text 23"/>
          <p:cNvSpPr/>
          <p:nvPr/>
        </p:nvSpPr>
        <p:spPr>
          <a:xfrm>
            <a:off x="8366760" y="320040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承担判断</a:t>
            </a:r>
            <a:endParaRPr lang="en-US" sz="2000" dirty="0"/>
          </a:p>
        </p:txBody>
      </p:sp>
      <p:sp>
        <p:nvSpPr>
          <p:cNvPr id="300" name="Shape 24"/>
          <p:cNvSpPr/>
          <p:nvPr/>
        </p:nvSpPr>
        <p:spPr>
          <a:xfrm>
            <a:off x="8366760" y="3703320"/>
            <a:ext cx="1097280" cy="0"/>
          </a:xfrm>
          <a:prstGeom prst="line">
            <a:avLst/>
          </a:prstGeom>
          <a:noFill/>
          <a:ln w="19050">
            <a:solidFill>
              <a:srgbClr val="B1433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01" name="Text 25"/>
          <p:cNvSpPr/>
          <p:nvPr/>
        </p:nvSpPr>
        <p:spPr>
          <a:xfrm>
            <a:off x="8366760" y="3886200"/>
            <a:ext cx="2880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5C67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事实核实、风险判断、合规边界、最终决策不交给 AI</a:t>
            </a:r>
            <a:endParaRPr lang="en-US" sz="1600" dirty="0"/>
          </a:p>
        </p:txBody>
      </p:sp>
      <p:sp>
        <p:nvSpPr>
          <p:cNvPr id="302" name="Shape 26"/>
          <p:cNvSpPr/>
          <p:nvPr/>
        </p:nvSpPr>
        <p:spPr>
          <a:xfrm>
            <a:off x="647852" y="5678157"/>
            <a:ext cx="10911535" cy="685800"/>
          </a:xfrm>
          <a:prstGeom prst="rect">
            <a:avLst/>
          </a:prstGeom>
          <a:solidFill>
            <a:srgbClr val="10345E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03" name="Shape 27"/>
          <p:cNvSpPr/>
          <p:nvPr/>
        </p:nvSpPr>
        <p:spPr>
          <a:xfrm>
            <a:off x="647852" y="5678157"/>
            <a:ext cx="73152" cy="685800"/>
          </a:xfrm>
          <a:prstGeom prst="rect">
            <a:avLst/>
          </a:prstGeom>
          <a:solidFill>
            <a:srgbClr val="B78A3E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04" name="Text 28"/>
          <p:cNvSpPr/>
          <p:nvPr/>
        </p:nvSpPr>
        <p:spPr>
          <a:xfrm>
            <a:off x="903884" y="5678157"/>
            <a:ext cx="104543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可以引导拆解，但拆解后的方向选择和价值判断，仍然在人。</a:t>
            </a:r>
            <a:endParaRPr lang="en-US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6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Shape 0"/>
          <p:cNvSpPr/>
          <p:nvPr/>
        </p:nvSpPr>
        <p:spPr>
          <a:xfrm>
            <a:off x="640080" y="457200"/>
            <a:ext cx="82296" cy="219456"/>
          </a:xfrm>
          <a:prstGeom prst="rect">
            <a:avLst/>
          </a:prstGeom>
          <a:solidFill>
            <a:srgbClr val="1E5AA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07" name="Text 1"/>
          <p:cNvSpPr/>
          <p:nvPr/>
        </p:nvSpPr>
        <p:spPr>
          <a:xfrm>
            <a:off x="804672" y="42976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altLang="zh-CN" sz="1050" b="1" kern="0" spc="100" dirty="0">
                <a:solidFill>
                  <a:srgbClr val="1E5AA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第二部分 · </a:t>
            </a:r>
            <a:r>
              <a:rPr lang="zh-CN" altLang="en-US" sz="1050" b="1" kern="0" spc="100" dirty="0">
                <a:solidFill>
                  <a:srgbClr val="1E5AA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应用</a:t>
            </a:r>
            <a:r>
              <a:rPr lang="en-US" altLang="zh-CN" sz="1050" b="1" kern="0" spc="100" dirty="0">
                <a:solidFill>
                  <a:srgbClr val="1E5AA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</a:t>
            </a:r>
            <a:endParaRPr lang="en-US" altLang="zh-CN" sz="1050" dirty="0"/>
          </a:p>
        </p:txBody>
      </p:sp>
      <p:sp>
        <p:nvSpPr>
          <p:cNvPr id="308" name="Text 2"/>
          <p:cNvSpPr/>
          <p:nvPr/>
        </p:nvSpPr>
        <p:spPr>
          <a:xfrm>
            <a:off x="640080" y="792000"/>
            <a:ext cx="1091153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常见案例：从“帮我写”，</a:t>
            </a:r>
            <a:r>
              <a:rPr lang="en-US" sz="2200" b="1" dirty="0" err="1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到“先帮我清楚</a:t>
            </a:r>
            <a:r>
              <a:rPr lang="en-US" sz="2200" b="1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”</a:t>
            </a:r>
            <a:endParaRPr lang="en-US" sz="2200" dirty="0"/>
          </a:p>
        </p:txBody>
      </p:sp>
      <p:sp>
        <p:nvSpPr>
          <p:cNvPr id="309" name="Shape 3"/>
          <p:cNvSpPr/>
          <p:nvPr/>
        </p:nvSpPr>
        <p:spPr>
          <a:xfrm>
            <a:off x="640080" y="1298448"/>
            <a:ext cx="10911535" cy="0"/>
          </a:xfrm>
          <a:prstGeom prst="line">
            <a:avLst/>
          </a:prstGeom>
          <a:noFill/>
          <a:ln w="9525">
            <a:solidFill>
              <a:srgbClr val="D9DFE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0" name="Shape 4"/>
          <p:cNvSpPr/>
          <p:nvPr/>
        </p:nvSpPr>
        <p:spPr>
          <a:xfrm>
            <a:off x="640080" y="1298448"/>
            <a:ext cx="1280160" cy="0"/>
          </a:xfrm>
          <a:prstGeom prst="line">
            <a:avLst/>
          </a:prstGeom>
          <a:noFill/>
          <a:ln w="28575">
            <a:solidFill>
              <a:srgbClr val="1E5AA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1" name="Shape 5"/>
          <p:cNvSpPr/>
          <p:nvPr/>
        </p:nvSpPr>
        <p:spPr>
          <a:xfrm>
            <a:off x="640080" y="6455664"/>
            <a:ext cx="10911535" cy="0"/>
          </a:xfrm>
          <a:prstGeom prst="line">
            <a:avLst/>
          </a:prstGeom>
          <a:noFill/>
          <a:ln w="7620">
            <a:solidFill>
              <a:srgbClr val="D9DFE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2" name="Text 6"/>
          <p:cNvSpPr/>
          <p:nvPr/>
        </p:nvSpPr>
        <p:spPr>
          <a:xfrm>
            <a:off x="640080" y="651052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8A94A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分行批发业务 AI 赋能与行内外系统实战</a:t>
            </a:r>
            <a:endParaRPr lang="en-US" sz="800" dirty="0"/>
          </a:p>
        </p:txBody>
      </p:sp>
      <p:sp>
        <p:nvSpPr>
          <p:cNvPr id="313" name="Text 7"/>
          <p:cNvSpPr/>
          <p:nvPr/>
        </p:nvSpPr>
        <p:spPr>
          <a:xfrm>
            <a:off x="11109960" y="6492240"/>
            <a:ext cx="438912" cy="237744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8A94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</a:t>
            </a:r>
            <a:endParaRPr lang="en-US" sz="900" dirty="0"/>
          </a:p>
        </p:txBody>
      </p:sp>
      <p:sp>
        <p:nvSpPr>
          <p:cNvPr id="314" name="Shape 8"/>
          <p:cNvSpPr/>
          <p:nvPr/>
        </p:nvSpPr>
        <p:spPr>
          <a:xfrm>
            <a:off x="640080" y="1554480"/>
            <a:ext cx="5212080" cy="4526280"/>
          </a:xfrm>
          <a:prstGeom prst="roundRect">
            <a:avLst>
              <a:gd name="adj" fmla="val 1616"/>
            </a:avLst>
          </a:prstGeom>
          <a:solidFill>
            <a:srgbClr val="FFFFFF"/>
          </a:solidFill>
          <a:ln w="9525">
            <a:solidFill>
              <a:srgbClr val="D9DFE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5" name="Shape 9"/>
          <p:cNvSpPr/>
          <p:nvPr/>
        </p:nvSpPr>
        <p:spPr>
          <a:xfrm>
            <a:off x="640080" y="1554480"/>
            <a:ext cx="5212080" cy="566928"/>
          </a:xfrm>
          <a:prstGeom prst="rect">
            <a:avLst/>
          </a:prstGeom>
          <a:solidFill>
            <a:srgbClr val="1E5AA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16" name="Text 10"/>
          <p:cNvSpPr/>
          <p:nvPr/>
        </p:nvSpPr>
        <p:spPr>
          <a:xfrm>
            <a:off x="914400" y="1554480"/>
            <a:ext cx="4572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场景一 · 项目复盘</a:t>
            </a:r>
            <a:endParaRPr lang="en-US" sz="2000" dirty="0"/>
          </a:p>
        </p:txBody>
      </p:sp>
      <p:sp>
        <p:nvSpPr>
          <p:cNvPr id="317" name="Text 11"/>
          <p:cNvSpPr/>
          <p:nvPr/>
        </p:nvSpPr>
        <p:spPr>
          <a:xfrm>
            <a:off x="914400" y="228600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b="1" dirty="0">
                <a:solidFill>
                  <a:srgbClr val="8A94A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原任务</a:t>
            </a:r>
            <a:endParaRPr lang="en-US" dirty="0"/>
          </a:p>
        </p:txBody>
      </p:sp>
      <p:sp>
        <p:nvSpPr>
          <p:cNvPr id="318" name="Text 12"/>
          <p:cNvSpPr/>
          <p:nvPr/>
        </p:nvSpPr>
        <p:spPr>
          <a:xfrm>
            <a:off x="895714" y="2679192"/>
            <a:ext cx="4663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5C67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帮我写项目复盘报告。</a:t>
            </a:r>
            <a:endParaRPr lang="en-US" sz="1600" dirty="0"/>
          </a:p>
        </p:txBody>
      </p:sp>
      <p:sp>
        <p:nvSpPr>
          <p:cNvPr id="319" name="Text 13"/>
          <p:cNvSpPr/>
          <p:nvPr/>
        </p:nvSpPr>
        <p:spPr>
          <a:xfrm>
            <a:off x="914400" y="309067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b="1" dirty="0">
                <a:solidFill>
                  <a:srgbClr val="1E5AA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新方式</a:t>
            </a:r>
            <a:endParaRPr lang="en-US" dirty="0"/>
          </a:p>
        </p:txBody>
      </p:sp>
      <p:sp>
        <p:nvSpPr>
          <p:cNvPr id="320" name="Text 14"/>
          <p:cNvSpPr/>
          <p:nvPr/>
        </p:nvSpPr>
        <p:spPr>
          <a:xfrm>
            <a:off x="914400" y="3511297"/>
            <a:ext cx="4709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600" b="1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“我不确定复盘重点是什么，请先问我几个问题，帮我找到真正值得复盘的问题。”</a:t>
            </a:r>
            <a:endParaRPr lang="en-US" sz="1600" dirty="0"/>
          </a:p>
        </p:txBody>
      </p:sp>
      <p:sp>
        <p:nvSpPr>
          <p:cNvPr id="321" name="Shape 15"/>
          <p:cNvSpPr/>
          <p:nvPr/>
        </p:nvSpPr>
        <p:spPr>
          <a:xfrm>
            <a:off x="914400" y="4370832"/>
            <a:ext cx="4663440" cy="0"/>
          </a:xfrm>
          <a:prstGeom prst="line">
            <a:avLst/>
          </a:prstGeom>
          <a:noFill/>
          <a:ln w="9525">
            <a:solidFill>
              <a:srgbClr val="D9DFE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22" name="Text 16"/>
          <p:cNvSpPr/>
          <p:nvPr/>
        </p:nvSpPr>
        <p:spPr>
          <a:xfrm>
            <a:off x="914400" y="449884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b="1" dirty="0">
                <a:solidFill>
                  <a:srgbClr val="1E5AA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追问与产出</a:t>
            </a:r>
            <a:endParaRPr lang="en-US" dirty="0"/>
          </a:p>
        </p:txBody>
      </p:sp>
      <p:sp>
        <p:nvSpPr>
          <p:cNvPr id="323" name="Shape 17"/>
          <p:cNvSpPr/>
          <p:nvPr/>
        </p:nvSpPr>
        <p:spPr>
          <a:xfrm>
            <a:off x="932688" y="4864608"/>
            <a:ext cx="82296" cy="82296"/>
          </a:xfrm>
          <a:prstGeom prst="rect">
            <a:avLst/>
          </a:prstGeom>
          <a:solidFill>
            <a:srgbClr val="1E5AA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24" name="Text 18"/>
          <p:cNvSpPr/>
          <p:nvPr/>
        </p:nvSpPr>
        <p:spPr>
          <a:xfrm>
            <a:off x="1143000" y="4791456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项目目标与实际结果</a:t>
            </a:r>
            <a:endParaRPr lang="en-US" sz="1600" dirty="0"/>
          </a:p>
        </p:txBody>
      </p:sp>
      <p:sp>
        <p:nvSpPr>
          <p:cNvPr id="325" name="Shape 19"/>
          <p:cNvSpPr/>
          <p:nvPr/>
        </p:nvSpPr>
        <p:spPr>
          <a:xfrm>
            <a:off x="932688" y="5248656"/>
            <a:ext cx="82296" cy="82296"/>
          </a:xfrm>
          <a:prstGeom prst="rect">
            <a:avLst/>
          </a:prstGeom>
          <a:solidFill>
            <a:srgbClr val="1E5AA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26" name="Text 20"/>
          <p:cNvSpPr/>
          <p:nvPr/>
        </p:nvSpPr>
        <p:spPr>
          <a:xfrm>
            <a:off x="1143000" y="5175504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关键节点与偏差原因</a:t>
            </a:r>
            <a:endParaRPr lang="en-US" sz="1600" dirty="0"/>
          </a:p>
        </p:txBody>
      </p:sp>
      <p:sp>
        <p:nvSpPr>
          <p:cNvPr id="327" name="Shape 21"/>
          <p:cNvSpPr/>
          <p:nvPr/>
        </p:nvSpPr>
        <p:spPr>
          <a:xfrm>
            <a:off x="932688" y="5632704"/>
            <a:ext cx="82296" cy="82296"/>
          </a:xfrm>
          <a:prstGeom prst="rect">
            <a:avLst/>
          </a:prstGeom>
          <a:solidFill>
            <a:srgbClr val="1E5AA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28" name="Text 22"/>
          <p:cNvSpPr/>
          <p:nvPr/>
        </p:nvSpPr>
        <p:spPr>
          <a:xfrm>
            <a:off x="1143000" y="5559552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谁最关心复盘、复盘后要推动什么</a:t>
            </a:r>
            <a:endParaRPr lang="en-US" sz="1600" dirty="0"/>
          </a:p>
        </p:txBody>
      </p:sp>
      <p:sp>
        <p:nvSpPr>
          <p:cNvPr id="329" name="Shape 23"/>
          <p:cNvSpPr/>
          <p:nvPr/>
        </p:nvSpPr>
        <p:spPr>
          <a:xfrm>
            <a:off x="6336792" y="1554480"/>
            <a:ext cx="5212080" cy="4526280"/>
          </a:xfrm>
          <a:prstGeom prst="roundRect">
            <a:avLst>
              <a:gd name="adj" fmla="val 1616"/>
            </a:avLst>
          </a:prstGeom>
          <a:solidFill>
            <a:srgbClr val="FFFFFF"/>
          </a:solidFill>
          <a:ln w="9525">
            <a:solidFill>
              <a:srgbClr val="D9DFE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30" name="Shape 24"/>
          <p:cNvSpPr/>
          <p:nvPr/>
        </p:nvSpPr>
        <p:spPr>
          <a:xfrm>
            <a:off x="6336792" y="1554480"/>
            <a:ext cx="5212080" cy="566928"/>
          </a:xfrm>
          <a:prstGeom prst="rect">
            <a:avLst/>
          </a:prstGeom>
          <a:solidFill>
            <a:srgbClr val="2E7D6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31" name="Text 25"/>
          <p:cNvSpPr/>
          <p:nvPr/>
        </p:nvSpPr>
        <p:spPr>
          <a:xfrm>
            <a:off x="6611112" y="1554480"/>
            <a:ext cx="4572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场景二 · 跨部门会议准备</a:t>
            </a:r>
            <a:endParaRPr lang="en-US" sz="2000" dirty="0"/>
          </a:p>
        </p:txBody>
      </p:sp>
      <p:sp>
        <p:nvSpPr>
          <p:cNvPr id="332" name="Text 26"/>
          <p:cNvSpPr/>
          <p:nvPr/>
        </p:nvSpPr>
        <p:spPr>
          <a:xfrm>
            <a:off x="6611112" y="228600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b="1" dirty="0">
                <a:solidFill>
                  <a:srgbClr val="8A94A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原任务</a:t>
            </a:r>
            <a:endParaRPr lang="en-US" dirty="0"/>
          </a:p>
        </p:txBody>
      </p:sp>
      <p:sp>
        <p:nvSpPr>
          <p:cNvPr id="333" name="Text 27"/>
          <p:cNvSpPr/>
          <p:nvPr/>
        </p:nvSpPr>
        <p:spPr>
          <a:xfrm>
            <a:off x="6611112" y="2664481"/>
            <a:ext cx="4663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5C67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帮我准备跨部门会议材料。</a:t>
            </a:r>
            <a:endParaRPr lang="en-US" sz="1600" dirty="0"/>
          </a:p>
        </p:txBody>
      </p:sp>
      <p:sp>
        <p:nvSpPr>
          <p:cNvPr id="334" name="Text 28"/>
          <p:cNvSpPr/>
          <p:nvPr/>
        </p:nvSpPr>
        <p:spPr>
          <a:xfrm>
            <a:off x="6611112" y="309067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b="1" dirty="0">
                <a:solidFill>
                  <a:srgbClr val="2E7D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新方式</a:t>
            </a:r>
            <a:endParaRPr lang="en-US" dirty="0"/>
          </a:p>
        </p:txBody>
      </p:sp>
      <p:sp>
        <p:nvSpPr>
          <p:cNvPr id="335" name="Text 29"/>
          <p:cNvSpPr/>
          <p:nvPr/>
        </p:nvSpPr>
        <p:spPr>
          <a:xfrm>
            <a:off x="6620256" y="3479292"/>
            <a:ext cx="4709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600" b="1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“我不确定各方真正的分歧在哪，请帮我拆解各方诉求与冲突点。”</a:t>
            </a:r>
            <a:endParaRPr lang="en-US" sz="1600" dirty="0"/>
          </a:p>
        </p:txBody>
      </p:sp>
      <p:sp>
        <p:nvSpPr>
          <p:cNvPr id="336" name="Shape 30"/>
          <p:cNvSpPr/>
          <p:nvPr/>
        </p:nvSpPr>
        <p:spPr>
          <a:xfrm>
            <a:off x="6611112" y="4370832"/>
            <a:ext cx="4663440" cy="0"/>
          </a:xfrm>
          <a:prstGeom prst="line">
            <a:avLst/>
          </a:prstGeom>
          <a:noFill/>
          <a:ln w="9525">
            <a:solidFill>
              <a:srgbClr val="D9DFE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37" name="Text 31"/>
          <p:cNvSpPr/>
          <p:nvPr/>
        </p:nvSpPr>
        <p:spPr>
          <a:xfrm>
            <a:off x="6611112" y="449884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b="1" dirty="0">
                <a:solidFill>
                  <a:srgbClr val="2E7D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追问与产出</a:t>
            </a:r>
            <a:endParaRPr lang="en-US" dirty="0"/>
          </a:p>
        </p:txBody>
      </p:sp>
      <p:sp>
        <p:nvSpPr>
          <p:cNvPr id="338" name="Shape 32"/>
          <p:cNvSpPr/>
          <p:nvPr/>
        </p:nvSpPr>
        <p:spPr>
          <a:xfrm>
            <a:off x="6629400" y="4864608"/>
            <a:ext cx="82296" cy="82296"/>
          </a:xfrm>
          <a:prstGeom prst="rect">
            <a:avLst/>
          </a:prstGeom>
          <a:solidFill>
            <a:srgbClr val="2E7D6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39" name="Text 33"/>
          <p:cNvSpPr/>
          <p:nvPr/>
        </p:nvSpPr>
        <p:spPr>
          <a:xfrm>
            <a:off x="6839712" y="4791456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会议目标、参与方与各自立场</a:t>
            </a:r>
            <a:endParaRPr lang="en-US" sz="1600" dirty="0"/>
          </a:p>
        </p:txBody>
      </p:sp>
      <p:sp>
        <p:nvSpPr>
          <p:cNvPr id="340" name="Shape 34"/>
          <p:cNvSpPr/>
          <p:nvPr/>
        </p:nvSpPr>
        <p:spPr>
          <a:xfrm>
            <a:off x="6629400" y="5248656"/>
            <a:ext cx="82296" cy="82296"/>
          </a:xfrm>
          <a:prstGeom prst="rect">
            <a:avLst/>
          </a:prstGeom>
          <a:solidFill>
            <a:srgbClr val="2E7D6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41" name="Text 35"/>
          <p:cNvSpPr/>
          <p:nvPr/>
        </p:nvSpPr>
        <p:spPr>
          <a:xfrm>
            <a:off x="6839712" y="5175504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历史背景与不能碰的边界</a:t>
            </a:r>
            <a:endParaRPr lang="en-US" sz="1600" dirty="0"/>
          </a:p>
        </p:txBody>
      </p:sp>
      <p:sp>
        <p:nvSpPr>
          <p:cNvPr id="342" name="Shape 36"/>
          <p:cNvSpPr/>
          <p:nvPr/>
        </p:nvSpPr>
        <p:spPr>
          <a:xfrm>
            <a:off x="6629400" y="5632704"/>
            <a:ext cx="82296" cy="82296"/>
          </a:xfrm>
          <a:prstGeom prst="rect">
            <a:avLst/>
          </a:prstGeom>
          <a:solidFill>
            <a:srgbClr val="2E7D6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43" name="Text 37"/>
          <p:cNvSpPr/>
          <p:nvPr/>
        </p:nvSpPr>
        <p:spPr>
          <a:xfrm>
            <a:off x="6839712" y="5559552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产出：议题清单、冲突点、沟通路径</a:t>
            </a:r>
            <a:endParaRPr lang="en-US" sz="16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6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Shape 0"/>
          <p:cNvSpPr/>
          <p:nvPr/>
        </p:nvSpPr>
        <p:spPr>
          <a:xfrm>
            <a:off x="640080" y="457200"/>
            <a:ext cx="82296" cy="219456"/>
          </a:xfrm>
          <a:prstGeom prst="rect">
            <a:avLst/>
          </a:prstGeom>
          <a:solidFill>
            <a:srgbClr val="1E5AA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46" name="Text 1"/>
          <p:cNvSpPr/>
          <p:nvPr/>
        </p:nvSpPr>
        <p:spPr>
          <a:xfrm>
            <a:off x="804672" y="42976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altLang="zh-CN" sz="1050" b="1" kern="0" spc="100" dirty="0">
                <a:solidFill>
                  <a:srgbClr val="1E5AA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第二部分 · </a:t>
            </a:r>
            <a:r>
              <a:rPr lang="zh-CN" altLang="en-US" sz="1050" b="1" kern="0" spc="100" dirty="0">
                <a:solidFill>
                  <a:srgbClr val="1E5AA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应用</a:t>
            </a:r>
            <a:r>
              <a:rPr lang="en-US" altLang="zh-CN" sz="1050" b="1" kern="0" spc="100" dirty="0">
                <a:solidFill>
                  <a:srgbClr val="1E5AA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</a:t>
            </a:r>
            <a:endParaRPr lang="en-US" altLang="zh-CN" sz="1050" dirty="0"/>
          </a:p>
        </p:txBody>
      </p:sp>
      <p:sp>
        <p:nvSpPr>
          <p:cNvPr id="347" name="Text 2"/>
          <p:cNvSpPr/>
          <p:nvPr/>
        </p:nvSpPr>
        <p:spPr>
          <a:xfrm>
            <a:off x="640080" y="792000"/>
            <a:ext cx="1091153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任务决定 AI 做什么，问题决定 AI 价值多大</a:t>
            </a:r>
            <a:endParaRPr lang="en-US" sz="2200" dirty="0"/>
          </a:p>
        </p:txBody>
      </p:sp>
      <p:sp>
        <p:nvSpPr>
          <p:cNvPr id="348" name="Shape 3"/>
          <p:cNvSpPr/>
          <p:nvPr/>
        </p:nvSpPr>
        <p:spPr>
          <a:xfrm>
            <a:off x="640080" y="1298448"/>
            <a:ext cx="10911535" cy="0"/>
          </a:xfrm>
          <a:prstGeom prst="line">
            <a:avLst/>
          </a:prstGeom>
          <a:noFill/>
          <a:ln w="9525">
            <a:solidFill>
              <a:srgbClr val="D9DFE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49" name="Shape 4"/>
          <p:cNvSpPr/>
          <p:nvPr/>
        </p:nvSpPr>
        <p:spPr>
          <a:xfrm>
            <a:off x="640080" y="1298448"/>
            <a:ext cx="1280160" cy="0"/>
          </a:xfrm>
          <a:prstGeom prst="line">
            <a:avLst/>
          </a:prstGeom>
          <a:noFill/>
          <a:ln w="28575">
            <a:solidFill>
              <a:srgbClr val="1E5AA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50" name="Shape 5"/>
          <p:cNvSpPr/>
          <p:nvPr/>
        </p:nvSpPr>
        <p:spPr>
          <a:xfrm>
            <a:off x="640080" y="6455664"/>
            <a:ext cx="10911535" cy="0"/>
          </a:xfrm>
          <a:prstGeom prst="line">
            <a:avLst/>
          </a:prstGeom>
          <a:noFill/>
          <a:ln w="7620">
            <a:solidFill>
              <a:srgbClr val="D9DFE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51" name="Text 6"/>
          <p:cNvSpPr/>
          <p:nvPr/>
        </p:nvSpPr>
        <p:spPr>
          <a:xfrm>
            <a:off x="640080" y="651052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8A94A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分行批发业务 AI 赋能与行内外系统实战</a:t>
            </a:r>
            <a:endParaRPr lang="en-US" sz="800" dirty="0"/>
          </a:p>
        </p:txBody>
      </p:sp>
      <p:sp>
        <p:nvSpPr>
          <p:cNvPr id="352" name="Text 7"/>
          <p:cNvSpPr/>
          <p:nvPr/>
        </p:nvSpPr>
        <p:spPr>
          <a:xfrm>
            <a:off x="11109960" y="6492240"/>
            <a:ext cx="438912" cy="237744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8A94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</a:t>
            </a:r>
            <a:endParaRPr lang="en-US" sz="900" dirty="0"/>
          </a:p>
        </p:txBody>
      </p:sp>
      <p:sp>
        <p:nvSpPr>
          <p:cNvPr id="353" name="Shape 8"/>
          <p:cNvSpPr/>
          <p:nvPr/>
        </p:nvSpPr>
        <p:spPr>
          <a:xfrm>
            <a:off x="640080" y="2103120"/>
            <a:ext cx="2468880" cy="252000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9525">
            <a:solidFill>
              <a:srgbClr val="D9DFE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54" name="Shape 9"/>
          <p:cNvSpPr/>
          <p:nvPr/>
        </p:nvSpPr>
        <p:spPr>
          <a:xfrm>
            <a:off x="640080" y="2103120"/>
            <a:ext cx="2468880" cy="91440"/>
          </a:xfrm>
          <a:prstGeom prst="rect">
            <a:avLst/>
          </a:prstGeom>
          <a:solidFill>
            <a:srgbClr val="1E5AA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55" name="Shape 10"/>
          <p:cNvSpPr/>
          <p:nvPr/>
        </p:nvSpPr>
        <p:spPr>
          <a:xfrm>
            <a:off x="1618488" y="2395728"/>
            <a:ext cx="512064" cy="512064"/>
          </a:xfrm>
          <a:prstGeom prst="ellipse">
            <a:avLst/>
          </a:prstGeom>
          <a:solidFill>
            <a:srgbClr val="1E5AA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56" name="Text 11"/>
          <p:cNvSpPr/>
          <p:nvPr/>
        </p:nvSpPr>
        <p:spPr>
          <a:xfrm>
            <a:off x="1618488" y="2395728"/>
            <a:ext cx="512064" cy="512064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700" dirty="0"/>
          </a:p>
        </p:txBody>
      </p:sp>
      <p:sp>
        <p:nvSpPr>
          <p:cNvPr id="357" name="Text 12"/>
          <p:cNvSpPr/>
          <p:nvPr/>
        </p:nvSpPr>
        <p:spPr>
          <a:xfrm>
            <a:off x="822960" y="3035808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发现问题</a:t>
            </a:r>
            <a:endParaRPr lang="en-US" sz="2000" dirty="0"/>
          </a:p>
        </p:txBody>
      </p:sp>
      <p:sp>
        <p:nvSpPr>
          <p:cNvPr id="358" name="Text 13"/>
          <p:cNvSpPr/>
          <p:nvPr/>
        </p:nvSpPr>
        <p:spPr>
          <a:xfrm>
            <a:off x="828526" y="3557015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600" dirty="0">
                <a:solidFill>
                  <a:srgbClr val="5C67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发现“习惯”掩盖的真问题</a:t>
            </a:r>
            <a:endParaRPr lang="en-US" sz="1600" dirty="0"/>
          </a:p>
        </p:txBody>
      </p:sp>
      <p:sp>
        <p:nvSpPr>
          <p:cNvPr id="359" name="Text 14"/>
          <p:cNvSpPr/>
          <p:nvPr/>
        </p:nvSpPr>
        <p:spPr>
          <a:xfrm>
            <a:off x="3090672" y="2670048"/>
            <a:ext cx="384048" cy="457200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B78A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360" name="Shape 15"/>
          <p:cNvSpPr/>
          <p:nvPr/>
        </p:nvSpPr>
        <p:spPr>
          <a:xfrm>
            <a:off x="3453689" y="2103120"/>
            <a:ext cx="2468880" cy="252000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9525">
            <a:solidFill>
              <a:srgbClr val="D9DFE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61" name="Shape 16"/>
          <p:cNvSpPr/>
          <p:nvPr/>
        </p:nvSpPr>
        <p:spPr>
          <a:xfrm>
            <a:off x="3453689" y="2103120"/>
            <a:ext cx="2468880" cy="91440"/>
          </a:xfrm>
          <a:prstGeom prst="rect">
            <a:avLst/>
          </a:prstGeom>
          <a:solidFill>
            <a:srgbClr val="1B467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62" name="Shape 17"/>
          <p:cNvSpPr/>
          <p:nvPr/>
        </p:nvSpPr>
        <p:spPr>
          <a:xfrm>
            <a:off x="4432097" y="2395728"/>
            <a:ext cx="512064" cy="512064"/>
          </a:xfrm>
          <a:prstGeom prst="ellipse">
            <a:avLst/>
          </a:prstGeom>
          <a:solidFill>
            <a:srgbClr val="1B467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63" name="Text 18"/>
          <p:cNvSpPr/>
          <p:nvPr/>
        </p:nvSpPr>
        <p:spPr>
          <a:xfrm>
            <a:off x="4432097" y="2395728"/>
            <a:ext cx="512064" cy="512064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700" dirty="0"/>
          </a:p>
        </p:txBody>
      </p:sp>
      <p:sp>
        <p:nvSpPr>
          <p:cNvPr id="364" name="Text 19"/>
          <p:cNvSpPr/>
          <p:nvPr/>
        </p:nvSpPr>
        <p:spPr>
          <a:xfrm>
            <a:off x="3636569" y="3035808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带着问题用</a:t>
            </a:r>
            <a:endParaRPr lang="en-US" sz="2000" dirty="0"/>
          </a:p>
        </p:txBody>
      </p:sp>
      <p:sp>
        <p:nvSpPr>
          <p:cNvPr id="365" name="Text 20"/>
          <p:cNvSpPr/>
          <p:nvPr/>
        </p:nvSpPr>
        <p:spPr>
          <a:xfrm>
            <a:off x="3636569" y="3556883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600" dirty="0">
                <a:solidFill>
                  <a:srgbClr val="5C67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进入对话，让 AI 问清楚</a:t>
            </a:r>
            <a:endParaRPr lang="en-US" sz="1600" dirty="0"/>
          </a:p>
        </p:txBody>
      </p:sp>
      <p:sp>
        <p:nvSpPr>
          <p:cNvPr id="366" name="Text 21"/>
          <p:cNvSpPr/>
          <p:nvPr/>
        </p:nvSpPr>
        <p:spPr>
          <a:xfrm>
            <a:off x="5904281" y="2670048"/>
            <a:ext cx="384048" cy="457200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B78A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367" name="Shape 22"/>
          <p:cNvSpPr/>
          <p:nvPr/>
        </p:nvSpPr>
        <p:spPr>
          <a:xfrm>
            <a:off x="6267298" y="2103120"/>
            <a:ext cx="2468880" cy="252000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9525">
            <a:solidFill>
              <a:srgbClr val="D9DFE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68" name="Shape 23"/>
          <p:cNvSpPr/>
          <p:nvPr/>
        </p:nvSpPr>
        <p:spPr>
          <a:xfrm>
            <a:off x="6267298" y="2103120"/>
            <a:ext cx="2468880" cy="91440"/>
          </a:xfrm>
          <a:prstGeom prst="rect">
            <a:avLst/>
          </a:prstGeom>
          <a:solidFill>
            <a:srgbClr val="2E7D6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69" name="Shape 24"/>
          <p:cNvSpPr/>
          <p:nvPr/>
        </p:nvSpPr>
        <p:spPr>
          <a:xfrm>
            <a:off x="7245706" y="2395728"/>
            <a:ext cx="512064" cy="512064"/>
          </a:xfrm>
          <a:prstGeom prst="ellipse">
            <a:avLst/>
          </a:prstGeom>
          <a:solidFill>
            <a:srgbClr val="2E7D6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70" name="Text 25"/>
          <p:cNvSpPr/>
          <p:nvPr/>
        </p:nvSpPr>
        <p:spPr>
          <a:xfrm>
            <a:off x="7245706" y="2395728"/>
            <a:ext cx="512064" cy="512064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700" dirty="0"/>
          </a:p>
        </p:txBody>
      </p:sp>
      <p:sp>
        <p:nvSpPr>
          <p:cNvPr id="371" name="Text 26"/>
          <p:cNvSpPr/>
          <p:nvPr/>
        </p:nvSpPr>
        <p:spPr>
          <a:xfrm>
            <a:off x="6450178" y="3035808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试</a:t>
            </a:r>
            <a:r>
              <a:rPr lang="zh-CN" altLang="en-US" sz="2000" b="1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和</a:t>
            </a:r>
            <a:r>
              <a:rPr lang="en-US" sz="2000" b="1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</a:t>
            </a:r>
            <a:endParaRPr lang="en-US" sz="2000" dirty="0"/>
          </a:p>
        </p:txBody>
      </p:sp>
      <p:sp>
        <p:nvSpPr>
          <p:cNvPr id="372" name="Text 27"/>
          <p:cNvSpPr/>
          <p:nvPr/>
        </p:nvSpPr>
        <p:spPr>
          <a:xfrm>
            <a:off x="6450178" y="3553338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600" dirty="0">
                <a:solidFill>
                  <a:srgbClr val="5C67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试路径、验证结论</a:t>
            </a:r>
            <a:endParaRPr lang="en-US" sz="1600" dirty="0"/>
          </a:p>
        </p:txBody>
      </p:sp>
      <p:sp>
        <p:nvSpPr>
          <p:cNvPr id="373" name="Text 28"/>
          <p:cNvSpPr/>
          <p:nvPr/>
        </p:nvSpPr>
        <p:spPr>
          <a:xfrm>
            <a:off x="8717890" y="2670048"/>
            <a:ext cx="384048" cy="457200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B78A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374" name="Shape 29"/>
          <p:cNvSpPr/>
          <p:nvPr/>
        </p:nvSpPr>
        <p:spPr>
          <a:xfrm>
            <a:off x="9080906" y="2103120"/>
            <a:ext cx="2468880" cy="252000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9525">
            <a:solidFill>
              <a:srgbClr val="D9DFE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75" name="Shape 30"/>
          <p:cNvSpPr/>
          <p:nvPr/>
        </p:nvSpPr>
        <p:spPr>
          <a:xfrm>
            <a:off x="9080906" y="2103120"/>
            <a:ext cx="2468880" cy="91440"/>
          </a:xfrm>
          <a:prstGeom prst="rect">
            <a:avLst/>
          </a:prstGeom>
          <a:solidFill>
            <a:srgbClr val="B78A3E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76" name="Shape 31"/>
          <p:cNvSpPr/>
          <p:nvPr/>
        </p:nvSpPr>
        <p:spPr>
          <a:xfrm>
            <a:off x="10059314" y="2395728"/>
            <a:ext cx="512064" cy="512064"/>
          </a:xfrm>
          <a:prstGeom prst="ellipse">
            <a:avLst/>
          </a:prstGeom>
          <a:solidFill>
            <a:srgbClr val="B78A3E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77" name="Text 32"/>
          <p:cNvSpPr/>
          <p:nvPr/>
        </p:nvSpPr>
        <p:spPr>
          <a:xfrm>
            <a:off x="10059314" y="2395728"/>
            <a:ext cx="512064" cy="512064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700" dirty="0"/>
          </a:p>
        </p:txBody>
      </p:sp>
      <p:sp>
        <p:nvSpPr>
          <p:cNvPr id="378" name="Text 33"/>
          <p:cNvSpPr/>
          <p:nvPr/>
        </p:nvSpPr>
        <p:spPr>
          <a:xfrm>
            <a:off x="9263786" y="3035808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人来决策</a:t>
            </a:r>
            <a:endParaRPr lang="en-US" sz="2000" dirty="0"/>
          </a:p>
        </p:txBody>
      </p:sp>
      <p:sp>
        <p:nvSpPr>
          <p:cNvPr id="379" name="Text 34"/>
          <p:cNvSpPr/>
          <p:nvPr/>
        </p:nvSpPr>
        <p:spPr>
          <a:xfrm>
            <a:off x="9263786" y="3556883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600" dirty="0">
                <a:solidFill>
                  <a:srgbClr val="5C67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人选择、人判断、人决策</a:t>
            </a:r>
            <a:endParaRPr lang="en-US" sz="1600" dirty="0"/>
          </a:p>
        </p:txBody>
      </p:sp>
      <p:sp>
        <p:nvSpPr>
          <p:cNvPr id="380" name="Shape 35"/>
          <p:cNvSpPr/>
          <p:nvPr/>
        </p:nvSpPr>
        <p:spPr>
          <a:xfrm>
            <a:off x="633626" y="5422392"/>
            <a:ext cx="10911535" cy="868680"/>
          </a:xfrm>
          <a:prstGeom prst="rect">
            <a:avLst/>
          </a:prstGeom>
          <a:solidFill>
            <a:srgbClr val="10345E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81" name="Shape 36"/>
          <p:cNvSpPr/>
          <p:nvPr/>
        </p:nvSpPr>
        <p:spPr>
          <a:xfrm>
            <a:off x="633626" y="5422392"/>
            <a:ext cx="73152" cy="868680"/>
          </a:xfrm>
          <a:prstGeom prst="rect">
            <a:avLst/>
          </a:prstGeom>
          <a:solidFill>
            <a:srgbClr val="B78A3E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82" name="Text 37"/>
          <p:cNvSpPr/>
          <p:nvPr/>
        </p:nvSpPr>
        <p:spPr>
          <a:xfrm>
            <a:off x="889658" y="5422392"/>
            <a:ext cx="1045433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不是先问“AI 能做什么”，而是先问：“我真正要解决的是什么？”——带着问题，和 AI 一起，得到属于自己的答案。</a:t>
            </a:r>
            <a:endParaRPr lang="en-US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4" name="图片 2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6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Shape 0"/>
          <p:cNvSpPr/>
          <p:nvPr/>
        </p:nvSpPr>
        <p:spPr>
          <a:xfrm>
            <a:off x="640080" y="457200"/>
            <a:ext cx="82296" cy="219456"/>
          </a:xfrm>
          <a:prstGeom prst="rect">
            <a:avLst/>
          </a:prstGeom>
          <a:solidFill>
            <a:srgbClr val="1E5AA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87" name="Text 1"/>
          <p:cNvSpPr/>
          <p:nvPr/>
        </p:nvSpPr>
        <p:spPr>
          <a:xfrm>
            <a:off x="804672" y="42976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1E5AA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第三部分 · 边界</a:t>
            </a:r>
            <a:endParaRPr lang="en-US" sz="1050" dirty="0"/>
          </a:p>
        </p:txBody>
      </p:sp>
      <p:sp>
        <p:nvSpPr>
          <p:cNvPr id="388" name="Text 2"/>
          <p:cNvSpPr/>
          <p:nvPr/>
        </p:nvSpPr>
        <p:spPr>
          <a:xfrm>
            <a:off x="640080" y="792000"/>
            <a:ext cx="1091153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银行场景一定要守边界：效率越高，越要安全</a:t>
            </a:r>
            <a:endParaRPr lang="en-US" sz="2200" dirty="0"/>
          </a:p>
        </p:txBody>
      </p:sp>
      <p:sp>
        <p:nvSpPr>
          <p:cNvPr id="389" name="Shape 3"/>
          <p:cNvSpPr/>
          <p:nvPr/>
        </p:nvSpPr>
        <p:spPr>
          <a:xfrm>
            <a:off x="640080" y="1298448"/>
            <a:ext cx="10911535" cy="0"/>
          </a:xfrm>
          <a:prstGeom prst="line">
            <a:avLst/>
          </a:prstGeom>
          <a:noFill/>
          <a:ln w="9525">
            <a:solidFill>
              <a:srgbClr val="D9DFE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90" name="Shape 4"/>
          <p:cNvSpPr/>
          <p:nvPr/>
        </p:nvSpPr>
        <p:spPr>
          <a:xfrm>
            <a:off x="640080" y="1298448"/>
            <a:ext cx="1280160" cy="0"/>
          </a:xfrm>
          <a:prstGeom prst="line">
            <a:avLst/>
          </a:prstGeom>
          <a:noFill/>
          <a:ln w="28575">
            <a:solidFill>
              <a:srgbClr val="1E5AA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91" name="Shape 5"/>
          <p:cNvSpPr/>
          <p:nvPr/>
        </p:nvSpPr>
        <p:spPr>
          <a:xfrm>
            <a:off x="640080" y="6455664"/>
            <a:ext cx="10911535" cy="0"/>
          </a:xfrm>
          <a:prstGeom prst="line">
            <a:avLst/>
          </a:prstGeom>
          <a:noFill/>
          <a:ln w="7620">
            <a:solidFill>
              <a:srgbClr val="D9DFE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92" name="Text 6"/>
          <p:cNvSpPr/>
          <p:nvPr/>
        </p:nvSpPr>
        <p:spPr>
          <a:xfrm>
            <a:off x="640080" y="651052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8A94A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分行批发业务 AI 赋能与行内外系统实战</a:t>
            </a:r>
            <a:endParaRPr lang="en-US" sz="800" dirty="0"/>
          </a:p>
        </p:txBody>
      </p:sp>
      <p:sp>
        <p:nvSpPr>
          <p:cNvPr id="393" name="Text 7"/>
          <p:cNvSpPr/>
          <p:nvPr/>
        </p:nvSpPr>
        <p:spPr>
          <a:xfrm>
            <a:off x="11109960" y="6492240"/>
            <a:ext cx="438912" cy="237744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8A94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</a:t>
            </a:r>
            <a:endParaRPr lang="en-US" sz="900" dirty="0"/>
          </a:p>
        </p:txBody>
      </p:sp>
      <p:sp>
        <p:nvSpPr>
          <p:cNvPr id="394" name="Text 8"/>
          <p:cNvSpPr/>
          <p:nvPr/>
        </p:nvSpPr>
        <p:spPr>
          <a:xfrm>
            <a:off x="640080" y="1481328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dirty="0">
                <a:solidFill>
                  <a:srgbClr val="5C67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边界守不住，效率越高，风险越大。四道边界各有分工：</a:t>
            </a:r>
            <a:endParaRPr lang="en-US" dirty="0"/>
          </a:p>
        </p:txBody>
      </p:sp>
      <p:sp>
        <p:nvSpPr>
          <p:cNvPr id="395" name="Shape 9"/>
          <p:cNvSpPr/>
          <p:nvPr/>
        </p:nvSpPr>
        <p:spPr>
          <a:xfrm>
            <a:off x="640080" y="1920240"/>
            <a:ext cx="5330952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9525">
            <a:solidFill>
              <a:srgbClr val="D9DFE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96" name="Shape 10"/>
          <p:cNvSpPr/>
          <p:nvPr/>
        </p:nvSpPr>
        <p:spPr>
          <a:xfrm>
            <a:off x="640080" y="1920240"/>
            <a:ext cx="109728" cy="1965960"/>
          </a:xfrm>
          <a:prstGeom prst="rect">
            <a:avLst/>
          </a:prstGeom>
          <a:solidFill>
            <a:srgbClr val="1E5AA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97" name="Text 11"/>
          <p:cNvSpPr/>
          <p:nvPr/>
        </p:nvSpPr>
        <p:spPr>
          <a:xfrm>
            <a:off x="1005840" y="221284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1E5AA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数据边界</a:t>
            </a:r>
            <a:endParaRPr lang="en-US" sz="2000" dirty="0"/>
          </a:p>
        </p:txBody>
      </p:sp>
      <p:sp>
        <p:nvSpPr>
          <p:cNvPr id="398" name="Shape 12"/>
          <p:cNvSpPr/>
          <p:nvPr/>
        </p:nvSpPr>
        <p:spPr>
          <a:xfrm>
            <a:off x="4343400" y="2231136"/>
            <a:ext cx="1371600" cy="310896"/>
          </a:xfrm>
          <a:prstGeom prst="roundRect">
            <a:avLst>
              <a:gd name="adj" fmla="val 50000"/>
            </a:avLst>
          </a:prstGeom>
          <a:solidFill>
            <a:srgbClr val="1E5AA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99" name="Text 13"/>
          <p:cNvSpPr/>
          <p:nvPr/>
        </p:nvSpPr>
        <p:spPr>
          <a:xfrm>
            <a:off x="4343400" y="2231136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先决条件</a:t>
            </a:r>
            <a:endParaRPr lang="en-US" sz="1050" dirty="0"/>
          </a:p>
        </p:txBody>
      </p:sp>
      <p:sp>
        <p:nvSpPr>
          <p:cNvPr id="400" name="Text 14"/>
          <p:cNvSpPr/>
          <p:nvPr/>
        </p:nvSpPr>
        <p:spPr>
          <a:xfrm>
            <a:off x="1005840" y="2926080"/>
            <a:ext cx="4663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先确认能不能给，再考虑怎么给</a:t>
            </a:r>
            <a:endParaRPr lang="en-US" dirty="0"/>
          </a:p>
        </p:txBody>
      </p:sp>
      <p:sp>
        <p:nvSpPr>
          <p:cNvPr id="401" name="Shape 15"/>
          <p:cNvSpPr/>
          <p:nvPr/>
        </p:nvSpPr>
        <p:spPr>
          <a:xfrm>
            <a:off x="6217920" y="1920240"/>
            <a:ext cx="5330952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9525">
            <a:solidFill>
              <a:srgbClr val="D9DFE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02" name="Shape 16"/>
          <p:cNvSpPr/>
          <p:nvPr/>
        </p:nvSpPr>
        <p:spPr>
          <a:xfrm>
            <a:off x="6217920" y="1920240"/>
            <a:ext cx="109728" cy="1965960"/>
          </a:xfrm>
          <a:prstGeom prst="rect">
            <a:avLst/>
          </a:prstGeom>
          <a:solidFill>
            <a:srgbClr val="1B467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03" name="Text 17"/>
          <p:cNvSpPr/>
          <p:nvPr/>
        </p:nvSpPr>
        <p:spPr>
          <a:xfrm>
            <a:off x="6583680" y="221284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1B46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事实边界</a:t>
            </a:r>
            <a:endParaRPr lang="en-US" sz="2000" dirty="0"/>
          </a:p>
        </p:txBody>
      </p:sp>
      <p:sp>
        <p:nvSpPr>
          <p:cNvPr id="404" name="Shape 18"/>
          <p:cNvSpPr/>
          <p:nvPr/>
        </p:nvSpPr>
        <p:spPr>
          <a:xfrm>
            <a:off x="9921240" y="2231136"/>
            <a:ext cx="1371600" cy="310896"/>
          </a:xfrm>
          <a:prstGeom prst="roundRect">
            <a:avLst>
              <a:gd name="adj" fmla="val 50000"/>
            </a:avLst>
          </a:prstGeom>
          <a:solidFill>
            <a:srgbClr val="1B467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05" name="Text 19"/>
          <p:cNvSpPr/>
          <p:nvPr/>
        </p:nvSpPr>
        <p:spPr>
          <a:xfrm>
            <a:off x="9921240" y="2231136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质量要求</a:t>
            </a:r>
            <a:endParaRPr lang="en-US" sz="1050" dirty="0"/>
          </a:p>
        </p:txBody>
      </p:sp>
      <p:sp>
        <p:nvSpPr>
          <p:cNvPr id="406" name="Text 20"/>
          <p:cNvSpPr/>
          <p:nvPr/>
        </p:nvSpPr>
        <p:spPr>
          <a:xfrm>
            <a:off x="6583680" y="2926080"/>
            <a:ext cx="4663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可以找线索，但不能替我们证明事实</a:t>
            </a:r>
            <a:endParaRPr lang="en-US" dirty="0"/>
          </a:p>
        </p:txBody>
      </p:sp>
      <p:sp>
        <p:nvSpPr>
          <p:cNvPr id="407" name="Shape 21"/>
          <p:cNvSpPr/>
          <p:nvPr/>
        </p:nvSpPr>
        <p:spPr>
          <a:xfrm>
            <a:off x="640080" y="4069080"/>
            <a:ext cx="5330952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9525">
            <a:solidFill>
              <a:srgbClr val="D9DFE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08" name="Shape 22"/>
          <p:cNvSpPr/>
          <p:nvPr/>
        </p:nvSpPr>
        <p:spPr>
          <a:xfrm>
            <a:off x="640080" y="4069080"/>
            <a:ext cx="109728" cy="1965960"/>
          </a:xfrm>
          <a:prstGeom prst="rect">
            <a:avLst/>
          </a:prstGeom>
          <a:solidFill>
            <a:srgbClr val="B78A3E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09" name="Text 23"/>
          <p:cNvSpPr/>
          <p:nvPr/>
        </p:nvSpPr>
        <p:spPr>
          <a:xfrm>
            <a:off x="1005840" y="436168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B78A3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决策边界</a:t>
            </a:r>
            <a:endParaRPr lang="en-US" sz="2000" dirty="0"/>
          </a:p>
        </p:txBody>
      </p:sp>
      <p:sp>
        <p:nvSpPr>
          <p:cNvPr id="410" name="Shape 24"/>
          <p:cNvSpPr/>
          <p:nvPr/>
        </p:nvSpPr>
        <p:spPr>
          <a:xfrm>
            <a:off x="4343400" y="4379976"/>
            <a:ext cx="1371600" cy="310896"/>
          </a:xfrm>
          <a:prstGeom prst="roundRect">
            <a:avLst>
              <a:gd name="adj" fmla="val 50000"/>
            </a:avLst>
          </a:prstGeom>
          <a:solidFill>
            <a:srgbClr val="B78A3E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11" name="Text 25"/>
          <p:cNvSpPr/>
          <p:nvPr/>
        </p:nvSpPr>
        <p:spPr>
          <a:xfrm>
            <a:off x="4343400" y="4379976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责任归属</a:t>
            </a:r>
            <a:endParaRPr lang="en-US" sz="1050" dirty="0"/>
          </a:p>
        </p:txBody>
      </p:sp>
      <p:sp>
        <p:nvSpPr>
          <p:cNvPr id="412" name="Text 26"/>
          <p:cNvSpPr/>
          <p:nvPr/>
        </p:nvSpPr>
        <p:spPr>
          <a:xfrm>
            <a:off x="1005840" y="5074920"/>
            <a:ext cx="4663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负责辅助，人负责拍板</a:t>
            </a:r>
            <a:endParaRPr lang="en-US" dirty="0"/>
          </a:p>
        </p:txBody>
      </p:sp>
      <p:sp>
        <p:nvSpPr>
          <p:cNvPr id="413" name="Shape 27"/>
          <p:cNvSpPr/>
          <p:nvPr/>
        </p:nvSpPr>
        <p:spPr>
          <a:xfrm>
            <a:off x="6217920" y="4069080"/>
            <a:ext cx="5330952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9525">
            <a:solidFill>
              <a:srgbClr val="D9DFE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14" name="Shape 28"/>
          <p:cNvSpPr/>
          <p:nvPr/>
        </p:nvSpPr>
        <p:spPr>
          <a:xfrm>
            <a:off x="6217920" y="4069080"/>
            <a:ext cx="109728" cy="1965960"/>
          </a:xfrm>
          <a:prstGeom prst="rect">
            <a:avLst/>
          </a:prstGeom>
          <a:solidFill>
            <a:srgbClr val="2E7D6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15" name="Text 29"/>
          <p:cNvSpPr/>
          <p:nvPr/>
        </p:nvSpPr>
        <p:spPr>
          <a:xfrm>
            <a:off x="6583680" y="436168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2E7D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系统边界</a:t>
            </a:r>
            <a:endParaRPr lang="en-US" sz="2000" dirty="0"/>
          </a:p>
        </p:txBody>
      </p:sp>
      <p:sp>
        <p:nvSpPr>
          <p:cNvPr id="416" name="Shape 30"/>
          <p:cNvSpPr/>
          <p:nvPr/>
        </p:nvSpPr>
        <p:spPr>
          <a:xfrm>
            <a:off x="9921240" y="4379976"/>
            <a:ext cx="1371600" cy="310896"/>
          </a:xfrm>
          <a:prstGeom prst="roundRect">
            <a:avLst>
              <a:gd name="adj" fmla="val 50000"/>
            </a:avLst>
          </a:prstGeom>
          <a:solidFill>
            <a:srgbClr val="2E7D6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17" name="Text 31"/>
          <p:cNvSpPr/>
          <p:nvPr/>
        </p:nvSpPr>
        <p:spPr>
          <a:xfrm>
            <a:off x="9921240" y="4379976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环境约束</a:t>
            </a:r>
            <a:endParaRPr lang="en-US" sz="1050" dirty="0"/>
          </a:p>
        </p:txBody>
      </p:sp>
      <p:sp>
        <p:nvSpPr>
          <p:cNvPr id="418" name="Text 32"/>
          <p:cNvSpPr/>
          <p:nvPr/>
        </p:nvSpPr>
        <p:spPr>
          <a:xfrm>
            <a:off x="6583680" y="5074920"/>
            <a:ext cx="4663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行内允许用什么，就用什么</a:t>
            </a:r>
            <a:endParaRPr lang="en-US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6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Shape 0"/>
          <p:cNvSpPr/>
          <p:nvPr/>
        </p:nvSpPr>
        <p:spPr>
          <a:xfrm>
            <a:off x="640080" y="457200"/>
            <a:ext cx="82296" cy="219456"/>
          </a:xfrm>
          <a:prstGeom prst="rect">
            <a:avLst/>
          </a:prstGeom>
          <a:solidFill>
            <a:srgbClr val="1E5AA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21" name="Text 1"/>
          <p:cNvSpPr/>
          <p:nvPr/>
        </p:nvSpPr>
        <p:spPr>
          <a:xfrm>
            <a:off x="804672" y="42976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1E5AA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第三部分 · 边界</a:t>
            </a:r>
            <a:endParaRPr lang="en-US" sz="1050" dirty="0"/>
          </a:p>
        </p:txBody>
      </p:sp>
      <p:sp>
        <p:nvSpPr>
          <p:cNvPr id="422" name="Text 2"/>
          <p:cNvSpPr/>
          <p:nvPr/>
        </p:nvSpPr>
        <p:spPr>
          <a:xfrm>
            <a:off x="640080" y="792000"/>
            <a:ext cx="1091153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数据边界：先确认能不能给，再考虑怎么给</a:t>
            </a:r>
            <a:endParaRPr lang="en-US" sz="2200" dirty="0"/>
          </a:p>
        </p:txBody>
      </p:sp>
      <p:sp>
        <p:nvSpPr>
          <p:cNvPr id="423" name="Shape 3"/>
          <p:cNvSpPr/>
          <p:nvPr/>
        </p:nvSpPr>
        <p:spPr>
          <a:xfrm>
            <a:off x="640080" y="1298448"/>
            <a:ext cx="10911535" cy="0"/>
          </a:xfrm>
          <a:prstGeom prst="line">
            <a:avLst/>
          </a:prstGeom>
          <a:noFill/>
          <a:ln w="9525">
            <a:solidFill>
              <a:srgbClr val="D9DFE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24" name="Shape 4"/>
          <p:cNvSpPr/>
          <p:nvPr/>
        </p:nvSpPr>
        <p:spPr>
          <a:xfrm>
            <a:off x="640080" y="1298448"/>
            <a:ext cx="1280160" cy="0"/>
          </a:xfrm>
          <a:prstGeom prst="line">
            <a:avLst/>
          </a:prstGeom>
          <a:noFill/>
          <a:ln w="28575">
            <a:solidFill>
              <a:srgbClr val="1E5AA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25" name="Shape 5"/>
          <p:cNvSpPr/>
          <p:nvPr/>
        </p:nvSpPr>
        <p:spPr>
          <a:xfrm>
            <a:off x="640080" y="6455664"/>
            <a:ext cx="10911535" cy="0"/>
          </a:xfrm>
          <a:prstGeom prst="line">
            <a:avLst/>
          </a:prstGeom>
          <a:noFill/>
          <a:ln w="7620">
            <a:solidFill>
              <a:srgbClr val="D9DFE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26" name="Text 6"/>
          <p:cNvSpPr/>
          <p:nvPr/>
        </p:nvSpPr>
        <p:spPr>
          <a:xfrm>
            <a:off x="640080" y="651052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8A94A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分行批发业务 AI 赋能与行内外系统实战</a:t>
            </a:r>
            <a:endParaRPr lang="en-US" sz="800" dirty="0"/>
          </a:p>
        </p:txBody>
      </p:sp>
      <p:sp>
        <p:nvSpPr>
          <p:cNvPr id="427" name="Text 7"/>
          <p:cNvSpPr/>
          <p:nvPr/>
        </p:nvSpPr>
        <p:spPr>
          <a:xfrm>
            <a:off x="11109960" y="6492240"/>
            <a:ext cx="438912" cy="237744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8A94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</a:t>
            </a:r>
            <a:endParaRPr lang="en-US" sz="900" dirty="0"/>
          </a:p>
        </p:txBody>
      </p:sp>
      <p:sp>
        <p:nvSpPr>
          <p:cNvPr id="428" name="Shape 8"/>
          <p:cNvSpPr/>
          <p:nvPr/>
        </p:nvSpPr>
        <p:spPr>
          <a:xfrm>
            <a:off x="640080" y="1536192"/>
            <a:ext cx="5330952" cy="4160520"/>
          </a:xfrm>
          <a:prstGeom prst="roundRect">
            <a:avLst>
              <a:gd name="adj" fmla="val 1758"/>
            </a:avLst>
          </a:prstGeom>
          <a:solidFill>
            <a:srgbClr val="FFFFFF"/>
          </a:solidFill>
          <a:ln w="9525">
            <a:solidFill>
              <a:srgbClr val="D9DFE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29" name="Shape 9"/>
          <p:cNvSpPr/>
          <p:nvPr/>
        </p:nvSpPr>
        <p:spPr>
          <a:xfrm>
            <a:off x="640080" y="1536192"/>
            <a:ext cx="5330952" cy="502920"/>
          </a:xfrm>
          <a:prstGeom prst="rect">
            <a:avLst/>
          </a:prstGeom>
          <a:solidFill>
            <a:srgbClr val="1B467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30" name="Text 10"/>
          <p:cNvSpPr/>
          <p:nvPr/>
        </p:nvSpPr>
        <p:spPr>
          <a:xfrm>
            <a:off x="914400" y="1536192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需要特别注意的数据（包括但不限于）</a:t>
            </a:r>
            <a:endParaRPr lang="en-US" sz="2000" dirty="0"/>
          </a:p>
        </p:txBody>
      </p:sp>
      <p:sp>
        <p:nvSpPr>
          <p:cNvPr id="431" name="Shape 11"/>
          <p:cNvSpPr/>
          <p:nvPr/>
        </p:nvSpPr>
        <p:spPr>
          <a:xfrm>
            <a:off x="932688" y="2359152"/>
            <a:ext cx="82296" cy="82296"/>
          </a:xfrm>
          <a:prstGeom prst="rect">
            <a:avLst/>
          </a:prstGeom>
          <a:solidFill>
            <a:srgbClr val="B1433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32" name="Text 12"/>
          <p:cNvSpPr/>
          <p:nvPr/>
        </p:nvSpPr>
        <p:spPr>
          <a:xfrm>
            <a:off x="1143000" y="2267712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客户身份信息、联系方式、账户信息</a:t>
            </a:r>
            <a:endParaRPr lang="en-US" sz="1600" dirty="0"/>
          </a:p>
        </p:txBody>
      </p:sp>
      <p:sp>
        <p:nvSpPr>
          <p:cNvPr id="433" name="Shape 13"/>
          <p:cNvSpPr/>
          <p:nvPr/>
        </p:nvSpPr>
        <p:spPr>
          <a:xfrm>
            <a:off x="932688" y="2980944"/>
            <a:ext cx="82296" cy="82296"/>
          </a:xfrm>
          <a:prstGeom prst="rect">
            <a:avLst/>
          </a:prstGeom>
          <a:solidFill>
            <a:srgbClr val="B1433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34" name="Text 14"/>
          <p:cNvSpPr/>
          <p:nvPr/>
        </p:nvSpPr>
        <p:spPr>
          <a:xfrm>
            <a:off x="1143000" y="2889504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交易流水、授信材料、征信信息、合同文本</a:t>
            </a:r>
            <a:endParaRPr lang="en-US" sz="1600" dirty="0"/>
          </a:p>
        </p:txBody>
      </p:sp>
      <p:sp>
        <p:nvSpPr>
          <p:cNvPr id="435" name="Shape 15"/>
          <p:cNvSpPr/>
          <p:nvPr/>
        </p:nvSpPr>
        <p:spPr>
          <a:xfrm>
            <a:off x="932688" y="3602736"/>
            <a:ext cx="82296" cy="82296"/>
          </a:xfrm>
          <a:prstGeom prst="rect">
            <a:avLst/>
          </a:prstGeom>
          <a:solidFill>
            <a:srgbClr val="B1433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36" name="Text 16"/>
          <p:cNvSpPr/>
          <p:nvPr/>
        </p:nvSpPr>
        <p:spPr>
          <a:xfrm>
            <a:off x="1143000" y="3511296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内部报告、风险分类、定价策略、审批意见</a:t>
            </a:r>
            <a:endParaRPr lang="en-US" sz="1600" dirty="0"/>
          </a:p>
        </p:txBody>
      </p:sp>
      <p:sp>
        <p:nvSpPr>
          <p:cNvPr id="437" name="Shape 17"/>
          <p:cNvSpPr/>
          <p:nvPr/>
        </p:nvSpPr>
        <p:spPr>
          <a:xfrm>
            <a:off x="932688" y="4224528"/>
            <a:ext cx="82296" cy="82296"/>
          </a:xfrm>
          <a:prstGeom prst="rect">
            <a:avLst/>
          </a:prstGeom>
          <a:solidFill>
            <a:srgbClr val="B1433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38" name="Text 18"/>
          <p:cNvSpPr/>
          <p:nvPr/>
        </p:nvSpPr>
        <p:spPr>
          <a:xfrm>
            <a:off x="1143000" y="4133088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未公开的经营数据、系统截图、会议纪要</a:t>
            </a:r>
            <a:endParaRPr lang="en-US" sz="1600" dirty="0"/>
          </a:p>
        </p:txBody>
      </p:sp>
      <p:sp>
        <p:nvSpPr>
          <p:cNvPr id="439" name="Shape 19"/>
          <p:cNvSpPr/>
          <p:nvPr/>
        </p:nvSpPr>
        <p:spPr>
          <a:xfrm>
            <a:off x="932688" y="4846320"/>
            <a:ext cx="82296" cy="82296"/>
          </a:xfrm>
          <a:prstGeom prst="rect">
            <a:avLst/>
          </a:prstGeom>
          <a:solidFill>
            <a:srgbClr val="B1433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40" name="Text 20"/>
          <p:cNvSpPr/>
          <p:nvPr/>
        </p:nvSpPr>
        <p:spPr>
          <a:xfrm>
            <a:off x="1143000" y="475488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其他行内明确要求保护的数据</a:t>
            </a:r>
            <a:endParaRPr lang="en-US" sz="1600" dirty="0"/>
          </a:p>
        </p:txBody>
      </p:sp>
      <p:sp>
        <p:nvSpPr>
          <p:cNvPr id="441" name="Shape 21"/>
          <p:cNvSpPr/>
          <p:nvPr/>
        </p:nvSpPr>
        <p:spPr>
          <a:xfrm>
            <a:off x="6212752" y="1536192"/>
            <a:ext cx="5330952" cy="4160520"/>
          </a:xfrm>
          <a:prstGeom prst="roundRect">
            <a:avLst>
              <a:gd name="adj" fmla="val 1758"/>
            </a:avLst>
          </a:prstGeom>
          <a:solidFill>
            <a:srgbClr val="FFFFFF"/>
          </a:solidFill>
          <a:ln w="9525">
            <a:solidFill>
              <a:srgbClr val="D9DFE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42" name="Shape 22"/>
          <p:cNvSpPr/>
          <p:nvPr/>
        </p:nvSpPr>
        <p:spPr>
          <a:xfrm>
            <a:off x="6495155" y="1812500"/>
            <a:ext cx="475488" cy="475488"/>
          </a:xfrm>
          <a:prstGeom prst="ellipse">
            <a:avLst/>
          </a:prstGeom>
          <a:solidFill>
            <a:srgbClr val="1E5AA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43" name="Text 23"/>
          <p:cNvSpPr/>
          <p:nvPr/>
        </p:nvSpPr>
        <p:spPr>
          <a:xfrm>
            <a:off x="6510528" y="1783080"/>
            <a:ext cx="475488" cy="475488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444" name="Text 24"/>
          <p:cNvSpPr/>
          <p:nvPr/>
        </p:nvSpPr>
        <p:spPr>
          <a:xfrm>
            <a:off x="7212362" y="1828800"/>
            <a:ext cx="1584165" cy="3017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b="1" dirty="0">
                <a:solidFill>
                  <a:srgbClr val="1E5AA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先分类</a:t>
            </a:r>
            <a:endParaRPr lang="en-US" dirty="0"/>
          </a:p>
        </p:txBody>
      </p:sp>
      <p:sp>
        <p:nvSpPr>
          <p:cNvPr id="445" name="Text 25"/>
          <p:cNvSpPr/>
          <p:nvPr/>
        </p:nvSpPr>
        <p:spPr>
          <a:xfrm>
            <a:off x="7216603" y="2148840"/>
            <a:ext cx="4251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8000"/>
              </a:lnSpc>
              <a:buNone/>
            </a:pPr>
            <a:r>
              <a:rPr lang="en-US" sz="1600" dirty="0">
                <a:solidFill>
                  <a:srgbClr val="5C67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这是公开信息、内部信息，还是敏感信息？</a:t>
            </a:r>
            <a:endParaRPr lang="en-US" sz="1600" dirty="0"/>
          </a:p>
        </p:txBody>
      </p:sp>
      <p:sp>
        <p:nvSpPr>
          <p:cNvPr id="446" name="Shape 26"/>
          <p:cNvSpPr/>
          <p:nvPr/>
        </p:nvSpPr>
        <p:spPr>
          <a:xfrm>
            <a:off x="6510528" y="3044952"/>
            <a:ext cx="475488" cy="475488"/>
          </a:xfrm>
          <a:prstGeom prst="ellipse">
            <a:avLst/>
          </a:prstGeom>
          <a:solidFill>
            <a:srgbClr val="1B467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47" name="Text 27"/>
          <p:cNvSpPr/>
          <p:nvPr/>
        </p:nvSpPr>
        <p:spPr>
          <a:xfrm>
            <a:off x="6510528" y="3044952"/>
            <a:ext cx="475488" cy="475488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448" name="Text 28"/>
          <p:cNvSpPr/>
          <p:nvPr/>
        </p:nvSpPr>
        <p:spPr>
          <a:xfrm>
            <a:off x="7212362" y="3118102"/>
            <a:ext cx="1584166" cy="2743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b="1" dirty="0">
                <a:solidFill>
                  <a:srgbClr val="1B46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再确认</a:t>
            </a:r>
            <a:endParaRPr lang="en-US" dirty="0"/>
          </a:p>
        </p:txBody>
      </p:sp>
      <p:sp>
        <p:nvSpPr>
          <p:cNvPr id="449" name="Text 29"/>
          <p:cNvSpPr/>
          <p:nvPr/>
        </p:nvSpPr>
        <p:spPr>
          <a:xfrm>
            <a:off x="7212362" y="3447288"/>
            <a:ext cx="4251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8000"/>
              </a:lnSpc>
              <a:buNone/>
            </a:pPr>
            <a:r>
              <a:rPr lang="en-US" sz="1600" dirty="0">
                <a:solidFill>
                  <a:srgbClr val="5C67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行内是否允许使用这类工具？是否允许输入这类数据？是否需要脱敏或授权？</a:t>
            </a:r>
            <a:endParaRPr lang="en-US" sz="1600" dirty="0"/>
          </a:p>
        </p:txBody>
      </p:sp>
      <p:sp>
        <p:nvSpPr>
          <p:cNvPr id="450" name="Shape 30"/>
          <p:cNvSpPr/>
          <p:nvPr/>
        </p:nvSpPr>
        <p:spPr>
          <a:xfrm>
            <a:off x="6510528" y="4306824"/>
            <a:ext cx="475488" cy="475488"/>
          </a:xfrm>
          <a:prstGeom prst="ellipse">
            <a:avLst/>
          </a:prstGeom>
          <a:solidFill>
            <a:srgbClr val="2E7D6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51" name="Text 31"/>
          <p:cNvSpPr/>
          <p:nvPr/>
        </p:nvSpPr>
        <p:spPr>
          <a:xfrm>
            <a:off x="6510528" y="4306824"/>
            <a:ext cx="475488" cy="475488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452" name="Text 32"/>
          <p:cNvSpPr/>
          <p:nvPr/>
        </p:nvSpPr>
        <p:spPr>
          <a:xfrm>
            <a:off x="7212360" y="4416550"/>
            <a:ext cx="1584167" cy="2377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b="1" dirty="0">
                <a:solidFill>
                  <a:srgbClr val="2E7D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后使用</a:t>
            </a:r>
            <a:endParaRPr lang="en-US" dirty="0"/>
          </a:p>
        </p:txBody>
      </p:sp>
      <p:sp>
        <p:nvSpPr>
          <p:cNvPr id="453" name="Text 33"/>
          <p:cNvSpPr/>
          <p:nvPr/>
        </p:nvSpPr>
        <p:spPr>
          <a:xfrm>
            <a:off x="7212360" y="4745736"/>
            <a:ext cx="400732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8000"/>
              </a:lnSpc>
              <a:buNone/>
            </a:pPr>
            <a:r>
              <a:rPr lang="en-US" sz="1600" dirty="0">
                <a:solidFill>
                  <a:srgbClr val="5C67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坚持最小必要原则：能不输入就不输入，能脱敏就脱敏。</a:t>
            </a:r>
            <a:endParaRPr lang="en-US" sz="1600" dirty="0"/>
          </a:p>
        </p:txBody>
      </p:sp>
      <p:sp>
        <p:nvSpPr>
          <p:cNvPr id="454" name="Shape 34"/>
          <p:cNvSpPr/>
          <p:nvPr/>
        </p:nvSpPr>
        <p:spPr>
          <a:xfrm>
            <a:off x="640080" y="5833872"/>
            <a:ext cx="10911535" cy="457200"/>
          </a:xfrm>
          <a:prstGeom prst="rect">
            <a:avLst/>
          </a:prstGeom>
          <a:solidFill>
            <a:srgbClr val="10345E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55" name="Shape 35"/>
          <p:cNvSpPr/>
          <p:nvPr/>
        </p:nvSpPr>
        <p:spPr>
          <a:xfrm>
            <a:off x="640080" y="5833872"/>
            <a:ext cx="73152" cy="457200"/>
          </a:xfrm>
          <a:prstGeom prst="rect">
            <a:avLst/>
          </a:prstGeom>
          <a:solidFill>
            <a:srgbClr val="B78A3E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56" name="Text 36"/>
          <p:cNvSpPr/>
          <p:nvPr/>
        </p:nvSpPr>
        <p:spPr>
          <a:xfrm>
            <a:off x="896112" y="5833872"/>
            <a:ext cx="104543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b="1" dirty="0" err="1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行内要求优先于工具便利</a:t>
            </a:r>
            <a:r>
              <a:rPr lang="en-US" sz="13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3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6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Shape 0"/>
          <p:cNvSpPr/>
          <p:nvPr/>
        </p:nvSpPr>
        <p:spPr>
          <a:xfrm>
            <a:off x="640080" y="457200"/>
            <a:ext cx="82296" cy="219456"/>
          </a:xfrm>
          <a:prstGeom prst="rect">
            <a:avLst/>
          </a:prstGeom>
          <a:solidFill>
            <a:srgbClr val="1E5AA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59" name="Text 1"/>
          <p:cNvSpPr/>
          <p:nvPr/>
        </p:nvSpPr>
        <p:spPr>
          <a:xfrm>
            <a:off x="804672" y="42976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1E5AA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第三部分 · 边界</a:t>
            </a:r>
            <a:endParaRPr lang="en-US" sz="1050" dirty="0"/>
          </a:p>
        </p:txBody>
      </p:sp>
      <p:sp>
        <p:nvSpPr>
          <p:cNvPr id="460" name="Text 2"/>
          <p:cNvSpPr/>
          <p:nvPr/>
        </p:nvSpPr>
        <p:spPr>
          <a:xfrm>
            <a:off x="640080" y="792000"/>
            <a:ext cx="1091153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事实边界：AI 可以找线索，但不能替我们证明事实</a:t>
            </a:r>
            <a:endParaRPr lang="en-US" sz="2200" dirty="0"/>
          </a:p>
        </p:txBody>
      </p:sp>
      <p:sp>
        <p:nvSpPr>
          <p:cNvPr id="461" name="Shape 3"/>
          <p:cNvSpPr/>
          <p:nvPr/>
        </p:nvSpPr>
        <p:spPr>
          <a:xfrm>
            <a:off x="640080" y="1298448"/>
            <a:ext cx="10911535" cy="0"/>
          </a:xfrm>
          <a:prstGeom prst="line">
            <a:avLst/>
          </a:prstGeom>
          <a:noFill/>
          <a:ln w="9525">
            <a:solidFill>
              <a:srgbClr val="D9DFE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62" name="Shape 4"/>
          <p:cNvSpPr/>
          <p:nvPr/>
        </p:nvSpPr>
        <p:spPr>
          <a:xfrm>
            <a:off x="640080" y="1298448"/>
            <a:ext cx="1280160" cy="0"/>
          </a:xfrm>
          <a:prstGeom prst="line">
            <a:avLst/>
          </a:prstGeom>
          <a:noFill/>
          <a:ln w="28575">
            <a:solidFill>
              <a:srgbClr val="1E5AA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63" name="Shape 5"/>
          <p:cNvSpPr/>
          <p:nvPr/>
        </p:nvSpPr>
        <p:spPr>
          <a:xfrm>
            <a:off x="640080" y="6455664"/>
            <a:ext cx="10911535" cy="0"/>
          </a:xfrm>
          <a:prstGeom prst="line">
            <a:avLst/>
          </a:prstGeom>
          <a:noFill/>
          <a:ln w="7620">
            <a:solidFill>
              <a:srgbClr val="D9DFE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64" name="Text 6"/>
          <p:cNvSpPr/>
          <p:nvPr/>
        </p:nvSpPr>
        <p:spPr>
          <a:xfrm>
            <a:off x="640080" y="651052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8A94A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分行批发业务 AI 赋能与行内外系统实战</a:t>
            </a:r>
            <a:endParaRPr lang="en-US" sz="800" dirty="0"/>
          </a:p>
        </p:txBody>
      </p:sp>
      <p:sp>
        <p:nvSpPr>
          <p:cNvPr id="465" name="Text 7"/>
          <p:cNvSpPr/>
          <p:nvPr/>
        </p:nvSpPr>
        <p:spPr>
          <a:xfrm>
            <a:off x="11109960" y="6492240"/>
            <a:ext cx="438912" cy="237744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8A94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</a:t>
            </a:r>
            <a:endParaRPr lang="en-US" sz="900" dirty="0"/>
          </a:p>
        </p:txBody>
      </p:sp>
      <p:sp>
        <p:nvSpPr>
          <p:cNvPr id="466" name="Shape 8"/>
          <p:cNvSpPr/>
          <p:nvPr/>
        </p:nvSpPr>
        <p:spPr>
          <a:xfrm>
            <a:off x="640080" y="1517904"/>
            <a:ext cx="10911535" cy="914400"/>
          </a:xfrm>
          <a:prstGeom prst="roundRect">
            <a:avLst>
              <a:gd name="adj" fmla="val 7000"/>
            </a:avLst>
          </a:prstGeom>
          <a:solidFill>
            <a:srgbClr val="F7E9E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67" name="Shape 9"/>
          <p:cNvSpPr/>
          <p:nvPr/>
        </p:nvSpPr>
        <p:spPr>
          <a:xfrm>
            <a:off x="640080" y="1517904"/>
            <a:ext cx="91440" cy="914400"/>
          </a:xfrm>
          <a:prstGeom prst="rect">
            <a:avLst/>
          </a:prstGeom>
          <a:solidFill>
            <a:srgbClr val="B1433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68" name="Text 10"/>
          <p:cNvSpPr/>
          <p:nvPr/>
        </p:nvSpPr>
        <p:spPr>
          <a:xfrm>
            <a:off x="932688" y="1517904"/>
            <a:ext cx="10241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2000" b="1" dirty="0">
                <a:solidFill>
                  <a:srgbClr val="B143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可能产生错误、过时或推测内容，甚至编造看起来很像真的引用、数据和案例。</a:t>
            </a:r>
            <a:endParaRPr lang="en-US" sz="2000" dirty="0"/>
          </a:p>
        </p:txBody>
      </p:sp>
      <p:sp>
        <p:nvSpPr>
          <p:cNvPr id="469" name="Shape 11"/>
          <p:cNvSpPr/>
          <p:nvPr/>
        </p:nvSpPr>
        <p:spPr>
          <a:xfrm>
            <a:off x="640080" y="2697480"/>
            <a:ext cx="3502152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9525">
            <a:solidFill>
              <a:srgbClr val="D9DFE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70" name="Text 12"/>
          <p:cNvSpPr/>
          <p:nvPr/>
        </p:nvSpPr>
        <p:spPr>
          <a:xfrm>
            <a:off x="914400" y="292608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b="1" dirty="0">
                <a:solidFill>
                  <a:srgbClr val="1746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区分性质</a:t>
            </a:r>
            <a:endParaRPr lang="en-US" dirty="0"/>
          </a:p>
        </p:txBody>
      </p:sp>
      <p:sp>
        <p:nvSpPr>
          <p:cNvPr id="471" name="Shape 13"/>
          <p:cNvSpPr/>
          <p:nvPr/>
        </p:nvSpPr>
        <p:spPr>
          <a:xfrm>
            <a:off x="914400" y="3337560"/>
            <a:ext cx="914400" cy="0"/>
          </a:xfrm>
          <a:prstGeom prst="line">
            <a:avLst/>
          </a:prstGeom>
          <a:noFill/>
          <a:ln w="19050">
            <a:solidFill>
              <a:srgbClr val="B78A3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72" name="Text 14"/>
          <p:cNvSpPr/>
          <p:nvPr/>
        </p:nvSpPr>
        <p:spPr>
          <a:xfrm>
            <a:off x="914400" y="3520440"/>
            <a:ext cx="2971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“请区分哪些是事实、哪些是假设、哪些需要进一步核实。”</a:t>
            </a:r>
            <a:endParaRPr lang="en-US" sz="1600" dirty="0"/>
          </a:p>
        </p:txBody>
      </p:sp>
      <p:sp>
        <p:nvSpPr>
          <p:cNvPr id="473" name="Shape 15"/>
          <p:cNvSpPr/>
          <p:nvPr/>
        </p:nvSpPr>
        <p:spPr>
          <a:xfrm>
            <a:off x="4343400" y="2697480"/>
            <a:ext cx="3502152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9525">
            <a:solidFill>
              <a:srgbClr val="D9DFE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74" name="Text 16"/>
          <p:cNvSpPr/>
          <p:nvPr/>
        </p:nvSpPr>
        <p:spPr>
          <a:xfrm>
            <a:off x="4617720" y="292608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b="1" dirty="0">
                <a:solidFill>
                  <a:srgbClr val="1746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标注来源</a:t>
            </a:r>
            <a:endParaRPr lang="en-US" dirty="0"/>
          </a:p>
        </p:txBody>
      </p:sp>
      <p:sp>
        <p:nvSpPr>
          <p:cNvPr id="475" name="Shape 17"/>
          <p:cNvSpPr/>
          <p:nvPr/>
        </p:nvSpPr>
        <p:spPr>
          <a:xfrm>
            <a:off x="4617720" y="3337560"/>
            <a:ext cx="914400" cy="0"/>
          </a:xfrm>
          <a:prstGeom prst="line">
            <a:avLst/>
          </a:prstGeom>
          <a:noFill/>
          <a:ln w="19050">
            <a:solidFill>
              <a:srgbClr val="B78A3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76" name="Text 18"/>
          <p:cNvSpPr/>
          <p:nvPr/>
        </p:nvSpPr>
        <p:spPr>
          <a:xfrm>
            <a:off x="4617720" y="3520440"/>
            <a:ext cx="2971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“请标注每一条结论的来源。”</a:t>
            </a:r>
            <a:endParaRPr lang="en-US" sz="1600" dirty="0"/>
          </a:p>
        </p:txBody>
      </p:sp>
      <p:sp>
        <p:nvSpPr>
          <p:cNvPr id="477" name="Shape 19"/>
          <p:cNvSpPr/>
          <p:nvPr/>
        </p:nvSpPr>
        <p:spPr>
          <a:xfrm>
            <a:off x="8046720" y="2697480"/>
            <a:ext cx="3502152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9525">
            <a:solidFill>
              <a:srgbClr val="D9DFE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78" name="Text 20"/>
          <p:cNvSpPr/>
          <p:nvPr/>
        </p:nvSpPr>
        <p:spPr>
          <a:xfrm>
            <a:off x="8321040" y="292608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b="1" dirty="0">
                <a:solidFill>
                  <a:srgbClr val="1746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寻找反例</a:t>
            </a:r>
            <a:endParaRPr lang="en-US" dirty="0"/>
          </a:p>
        </p:txBody>
      </p:sp>
      <p:sp>
        <p:nvSpPr>
          <p:cNvPr id="479" name="Shape 21"/>
          <p:cNvSpPr/>
          <p:nvPr/>
        </p:nvSpPr>
        <p:spPr>
          <a:xfrm>
            <a:off x="8321040" y="3337560"/>
            <a:ext cx="914400" cy="0"/>
          </a:xfrm>
          <a:prstGeom prst="line">
            <a:avLst/>
          </a:prstGeom>
          <a:noFill/>
          <a:ln w="19050">
            <a:solidFill>
              <a:srgbClr val="B78A3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80" name="Text 22"/>
          <p:cNvSpPr/>
          <p:nvPr/>
        </p:nvSpPr>
        <p:spPr>
          <a:xfrm>
            <a:off x="8321040" y="3520440"/>
            <a:ext cx="2971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“请列出判断中可能存在的反例和风险点。”</a:t>
            </a:r>
            <a:endParaRPr lang="en-US" sz="1600" dirty="0"/>
          </a:p>
        </p:txBody>
      </p:sp>
      <p:sp>
        <p:nvSpPr>
          <p:cNvPr id="481" name="Shape 23"/>
          <p:cNvSpPr/>
          <p:nvPr/>
        </p:nvSpPr>
        <p:spPr>
          <a:xfrm>
            <a:off x="5824728" y="4937760"/>
            <a:ext cx="548640" cy="384048"/>
          </a:xfrm>
          <a:prstGeom prst="downArrow">
            <a:avLst/>
          </a:prstGeom>
          <a:solidFill>
            <a:srgbClr val="10345E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82" name="Shape 24"/>
          <p:cNvSpPr/>
          <p:nvPr/>
        </p:nvSpPr>
        <p:spPr>
          <a:xfrm>
            <a:off x="640080" y="5468112"/>
            <a:ext cx="10911535" cy="713232"/>
          </a:xfrm>
          <a:prstGeom prst="rect">
            <a:avLst/>
          </a:prstGeom>
          <a:solidFill>
            <a:srgbClr val="10345E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83" name="Shape 25"/>
          <p:cNvSpPr/>
          <p:nvPr/>
        </p:nvSpPr>
        <p:spPr>
          <a:xfrm>
            <a:off x="640080" y="5468112"/>
            <a:ext cx="73152" cy="713232"/>
          </a:xfrm>
          <a:prstGeom prst="rect">
            <a:avLst/>
          </a:prstGeom>
          <a:solidFill>
            <a:srgbClr val="B78A3E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84" name="Text 26"/>
          <p:cNvSpPr/>
          <p:nvPr/>
        </p:nvSpPr>
        <p:spPr>
          <a:xfrm>
            <a:off x="896112" y="5468112"/>
            <a:ext cx="1045433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找线索、做归纳、提假设；重要判断回到原始来源，关键事实必须由人来确认。</a:t>
            </a:r>
            <a:endParaRPr lang="en-US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6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Shape 0"/>
          <p:cNvSpPr/>
          <p:nvPr/>
        </p:nvSpPr>
        <p:spPr>
          <a:xfrm>
            <a:off x="640080" y="457200"/>
            <a:ext cx="82296" cy="219456"/>
          </a:xfrm>
          <a:prstGeom prst="rect">
            <a:avLst/>
          </a:prstGeom>
          <a:solidFill>
            <a:srgbClr val="1E5AA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87" name="Text 1"/>
          <p:cNvSpPr/>
          <p:nvPr/>
        </p:nvSpPr>
        <p:spPr>
          <a:xfrm>
            <a:off x="804672" y="42976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1E5AA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第三部分 · 边界</a:t>
            </a:r>
            <a:endParaRPr lang="en-US" sz="1050" dirty="0"/>
          </a:p>
        </p:txBody>
      </p:sp>
      <p:sp>
        <p:nvSpPr>
          <p:cNvPr id="488" name="Text 2"/>
          <p:cNvSpPr/>
          <p:nvPr/>
        </p:nvSpPr>
        <p:spPr>
          <a:xfrm>
            <a:off x="640080" y="792000"/>
            <a:ext cx="1091153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决策边界：最终决策，不能由 AI 承担</a:t>
            </a:r>
            <a:endParaRPr lang="en-US" sz="2200" dirty="0"/>
          </a:p>
        </p:txBody>
      </p:sp>
      <p:sp>
        <p:nvSpPr>
          <p:cNvPr id="489" name="Shape 3"/>
          <p:cNvSpPr/>
          <p:nvPr/>
        </p:nvSpPr>
        <p:spPr>
          <a:xfrm>
            <a:off x="640080" y="1298448"/>
            <a:ext cx="10911535" cy="0"/>
          </a:xfrm>
          <a:prstGeom prst="line">
            <a:avLst/>
          </a:prstGeom>
          <a:noFill/>
          <a:ln w="9525">
            <a:solidFill>
              <a:srgbClr val="D9DFE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90" name="Shape 4"/>
          <p:cNvSpPr/>
          <p:nvPr/>
        </p:nvSpPr>
        <p:spPr>
          <a:xfrm>
            <a:off x="640080" y="1298448"/>
            <a:ext cx="1280160" cy="0"/>
          </a:xfrm>
          <a:prstGeom prst="line">
            <a:avLst/>
          </a:prstGeom>
          <a:noFill/>
          <a:ln w="28575">
            <a:solidFill>
              <a:srgbClr val="1E5AA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91" name="Shape 5"/>
          <p:cNvSpPr/>
          <p:nvPr/>
        </p:nvSpPr>
        <p:spPr>
          <a:xfrm>
            <a:off x="640080" y="6455664"/>
            <a:ext cx="10911535" cy="0"/>
          </a:xfrm>
          <a:prstGeom prst="line">
            <a:avLst/>
          </a:prstGeom>
          <a:noFill/>
          <a:ln w="7620">
            <a:solidFill>
              <a:srgbClr val="D9DFE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92" name="Text 6"/>
          <p:cNvSpPr/>
          <p:nvPr/>
        </p:nvSpPr>
        <p:spPr>
          <a:xfrm>
            <a:off x="640080" y="651052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8A94A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分行批发业务 AI 赋能与行内外系统实战</a:t>
            </a:r>
            <a:endParaRPr lang="en-US" sz="800" dirty="0"/>
          </a:p>
        </p:txBody>
      </p:sp>
      <p:sp>
        <p:nvSpPr>
          <p:cNvPr id="493" name="Text 7"/>
          <p:cNvSpPr/>
          <p:nvPr/>
        </p:nvSpPr>
        <p:spPr>
          <a:xfrm>
            <a:off x="11109960" y="6492240"/>
            <a:ext cx="438912" cy="237744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8A94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</a:t>
            </a:r>
            <a:endParaRPr lang="en-US" sz="900" dirty="0"/>
          </a:p>
        </p:txBody>
      </p:sp>
      <p:sp>
        <p:nvSpPr>
          <p:cNvPr id="494" name="Shape 8"/>
          <p:cNvSpPr/>
          <p:nvPr/>
        </p:nvSpPr>
        <p:spPr>
          <a:xfrm>
            <a:off x="640080" y="1691640"/>
            <a:ext cx="5330952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9DFE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95" name="Shape 9"/>
          <p:cNvSpPr/>
          <p:nvPr/>
        </p:nvSpPr>
        <p:spPr>
          <a:xfrm>
            <a:off x="640080" y="1691640"/>
            <a:ext cx="109728" cy="1463040"/>
          </a:xfrm>
          <a:prstGeom prst="rect">
            <a:avLst/>
          </a:prstGeom>
          <a:solidFill>
            <a:srgbClr val="B1433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96" name="Shape 10"/>
          <p:cNvSpPr/>
          <p:nvPr/>
        </p:nvSpPr>
        <p:spPr>
          <a:xfrm>
            <a:off x="987552" y="2167128"/>
            <a:ext cx="502920" cy="502920"/>
          </a:xfrm>
          <a:prstGeom prst="ellipse">
            <a:avLst/>
          </a:prstGeom>
          <a:solidFill>
            <a:srgbClr val="F7E9E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97" name="Text 11"/>
          <p:cNvSpPr/>
          <p:nvPr/>
        </p:nvSpPr>
        <p:spPr>
          <a:xfrm>
            <a:off x="987552" y="2148840"/>
            <a:ext cx="502920" cy="502920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B143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</a:t>
            </a:r>
            <a:endParaRPr lang="en-US" sz="1800" dirty="0"/>
          </a:p>
        </p:txBody>
      </p:sp>
      <p:sp>
        <p:nvSpPr>
          <p:cNvPr id="498" name="Text 12"/>
          <p:cNvSpPr/>
          <p:nvPr/>
        </p:nvSpPr>
        <p:spPr>
          <a:xfrm>
            <a:off x="1737360" y="1691640"/>
            <a:ext cx="40233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b="1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授信审批 · 客户准入 · 风险分类</a:t>
            </a:r>
            <a:endParaRPr lang="en-US" dirty="0"/>
          </a:p>
        </p:txBody>
      </p:sp>
      <p:sp>
        <p:nvSpPr>
          <p:cNvPr id="499" name="Shape 13"/>
          <p:cNvSpPr/>
          <p:nvPr/>
        </p:nvSpPr>
        <p:spPr>
          <a:xfrm>
            <a:off x="6217920" y="1691640"/>
            <a:ext cx="5330952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9DFE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00" name="Shape 14"/>
          <p:cNvSpPr/>
          <p:nvPr/>
        </p:nvSpPr>
        <p:spPr>
          <a:xfrm>
            <a:off x="6217920" y="1691640"/>
            <a:ext cx="109728" cy="1463040"/>
          </a:xfrm>
          <a:prstGeom prst="rect">
            <a:avLst/>
          </a:prstGeom>
          <a:solidFill>
            <a:srgbClr val="B1433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01" name="Shape 15"/>
          <p:cNvSpPr/>
          <p:nvPr/>
        </p:nvSpPr>
        <p:spPr>
          <a:xfrm>
            <a:off x="6565392" y="2167128"/>
            <a:ext cx="502920" cy="502920"/>
          </a:xfrm>
          <a:prstGeom prst="ellipse">
            <a:avLst/>
          </a:prstGeom>
          <a:solidFill>
            <a:srgbClr val="F7E9E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02" name="Text 16"/>
          <p:cNvSpPr/>
          <p:nvPr/>
        </p:nvSpPr>
        <p:spPr>
          <a:xfrm>
            <a:off x="6565392" y="2148840"/>
            <a:ext cx="502920" cy="502920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B143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</a:t>
            </a:r>
            <a:endParaRPr lang="en-US" sz="1800" dirty="0"/>
          </a:p>
        </p:txBody>
      </p:sp>
      <p:sp>
        <p:nvSpPr>
          <p:cNvPr id="503" name="Text 17"/>
          <p:cNvSpPr/>
          <p:nvPr/>
        </p:nvSpPr>
        <p:spPr>
          <a:xfrm>
            <a:off x="7315200" y="1691640"/>
            <a:ext cx="40233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b="1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合规判断 · 反洗钱判断 · 监管口径</a:t>
            </a:r>
            <a:endParaRPr lang="en-US" dirty="0"/>
          </a:p>
        </p:txBody>
      </p:sp>
      <p:sp>
        <p:nvSpPr>
          <p:cNvPr id="504" name="Shape 18"/>
          <p:cNvSpPr/>
          <p:nvPr/>
        </p:nvSpPr>
        <p:spPr>
          <a:xfrm>
            <a:off x="640080" y="3383280"/>
            <a:ext cx="5330952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9DFE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05" name="Shape 19"/>
          <p:cNvSpPr/>
          <p:nvPr/>
        </p:nvSpPr>
        <p:spPr>
          <a:xfrm>
            <a:off x="640080" y="3383280"/>
            <a:ext cx="109728" cy="1463040"/>
          </a:xfrm>
          <a:prstGeom prst="rect">
            <a:avLst/>
          </a:prstGeom>
          <a:solidFill>
            <a:srgbClr val="B1433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06" name="Shape 20"/>
          <p:cNvSpPr/>
          <p:nvPr/>
        </p:nvSpPr>
        <p:spPr>
          <a:xfrm>
            <a:off x="987552" y="3858768"/>
            <a:ext cx="502920" cy="502920"/>
          </a:xfrm>
          <a:prstGeom prst="ellipse">
            <a:avLst/>
          </a:prstGeom>
          <a:solidFill>
            <a:srgbClr val="F7E9E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07" name="Text 21"/>
          <p:cNvSpPr/>
          <p:nvPr/>
        </p:nvSpPr>
        <p:spPr>
          <a:xfrm>
            <a:off x="987552" y="3840480"/>
            <a:ext cx="502920" cy="502920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B143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</a:t>
            </a:r>
            <a:endParaRPr lang="en-US" sz="1800" dirty="0"/>
          </a:p>
        </p:txBody>
      </p:sp>
      <p:sp>
        <p:nvSpPr>
          <p:cNvPr id="508" name="Text 22"/>
          <p:cNvSpPr/>
          <p:nvPr/>
        </p:nvSpPr>
        <p:spPr>
          <a:xfrm>
            <a:off x="1737360" y="3383280"/>
            <a:ext cx="40233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b="1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产品适用性 · 定价策略 · 投资建议</a:t>
            </a:r>
            <a:endParaRPr lang="en-US" dirty="0"/>
          </a:p>
        </p:txBody>
      </p:sp>
      <p:sp>
        <p:nvSpPr>
          <p:cNvPr id="509" name="Shape 23"/>
          <p:cNvSpPr/>
          <p:nvPr/>
        </p:nvSpPr>
        <p:spPr>
          <a:xfrm>
            <a:off x="6217920" y="3383280"/>
            <a:ext cx="5330952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9DFE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10" name="Shape 24"/>
          <p:cNvSpPr/>
          <p:nvPr/>
        </p:nvSpPr>
        <p:spPr>
          <a:xfrm>
            <a:off x="6217920" y="3383280"/>
            <a:ext cx="109728" cy="1463040"/>
          </a:xfrm>
          <a:prstGeom prst="rect">
            <a:avLst/>
          </a:prstGeom>
          <a:solidFill>
            <a:srgbClr val="B1433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11" name="Shape 25"/>
          <p:cNvSpPr/>
          <p:nvPr/>
        </p:nvSpPr>
        <p:spPr>
          <a:xfrm>
            <a:off x="6565392" y="3858768"/>
            <a:ext cx="502920" cy="502920"/>
          </a:xfrm>
          <a:prstGeom prst="ellipse">
            <a:avLst/>
          </a:prstGeom>
          <a:solidFill>
            <a:srgbClr val="F7E9E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12" name="Text 26"/>
          <p:cNvSpPr/>
          <p:nvPr/>
        </p:nvSpPr>
        <p:spPr>
          <a:xfrm>
            <a:off x="6565392" y="3840480"/>
            <a:ext cx="502920" cy="502920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B143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</a:t>
            </a:r>
            <a:endParaRPr lang="en-US" sz="1800" dirty="0"/>
          </a:p>
        </p:txBody>
      </p:sp>
      <p:sp>
        <p:nvSpPr>
          <p:cNvPr id="513" name="Text 27"/>
          <p:cNvSpPr/>
          <p:nvPr/>
        </p:nvSpPr>
        <p:spPr>
          <a:xfrm>
            <a:off x="7315200" y="3383280"/>
            <a:ext cx="40233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b="1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合同签署 · 责任认定 · 最终对外承诺</a:t>
            </a:r>
            <a:endParaRPr lang="en-US" dirty="0"/>
          </a:p>
        </p:txBody>
      </p:sp>
      <p:sp>
        <p:nvSpPr>
          <p:cNvPr id="514" name="Shape 28"/>
          <p:cNvSpPr/>
          <p:nvPr/>
        </p:nvSpPr>
        <p:spPr>
          <a:xfrm>
            <a:off x="640080" y="5303520"/>
            <a:ext cx="10911535" cy="777240"/>
          </a:xfrm>
          <a:prstGeom prst="rect">
            <a:avLst/>
          </a:prstGeom>
          <a:solidFill>
            <a:srgbClr val="10345E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15" name="Shape 29"/>
          <p:cNvSpPr/>
          <p:nvPr/>
        </p:nvSpPr>
        <p:spPr>
          <a:xfrm>
            <a:off x="640080" y="5303520"/>
            <a:ext cx="73152" cy="777240"/>
          </a:xfrm>
          <a:prstGeom prst="rect">
            <a:avLst/>
          </a:prstGeom>
          <a:solidFill>
            <a:srgbClr val="B78A3E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16" name="Text 30"/>
          <p:cNvSpPr/>
          <p:nvPr/>
        </p:nvSpPr>
        <p:spPr>
          <a:xfrm>
            <a:off x="896112" y="5303520"/>
            <a:ext cx="104543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内容只能作为参考，不能直接作为审批依据、合规结论或对外承诺。</a:t>
            </a:r>
            <a:endParaRPr lang="en-US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6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" name="Shape 0"/>
          <p:cNvSpPr/>
          <p:nvPr/>
        </p:nvSpPr>
        <p:spPr>
          <a:xfrm>
            <a:off x="640080" y="457200"/>
            <a:ext cx="82296" cy="219456"/>
          </a:xfrm>
          <a:prstGeom prst="rect">
            <a:avLst/>
          </a:prstGeom>
          <a:solidFill>
            <a:srgbClr val="1E5AA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19" name="Text 1"/>
          <p:cNvSpPr/>
          <p:nvPr/>
        </p:nvSpPr>
        <p:spPr>
          <a:xfrm>
            <a:off x="804672" y="42976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1E5AA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第三部分 · 边界</a:t>
            </a:r>
            <a:endParaRPr lang="en-US" sz="1050" dirty="0"/>
          </a:p>
        </p:txBody>
      </p:sp>
      <p:sp>
        <p:nvSpPr>
          <p:cNvPr id="520" name="Text 2"/>
          <p:cNvSpPr/>
          <p:nvPr/>
        </p:nvSpPr>
        <p:spPr>
          <a:xfrm>
            <a:off x="640080" y="792000"/>
            <a:ext cx="1091153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系统边界：以行内权限和办公环境要求为准</a:t>
            </a:r>
            <a:endParaRPr lang="en-US" sz="2200" dirty="0"/>
          </a:p>
        </p:txBody>
      </p:sp>
      <p:sp>
        <p:nvSpPr>
          <p:cNvPr id="521" name="Shape 3"/>
          <p:cNvSpPr/>
          <p:nvPr/>
        </p:nvSpPr>
        <p:spPr>
          <a:xfrm>
            <a:off x="640080" y="1298448"/>
            <a:ext cx="10911535" cy="0"/>
          </a:xfrm>
          <a:prstGeom prst="line">
            <a:avLst/>
          </a:prstGeom>
          <a:noFill/>
          <a:ln w="9525">
            <a:solidFill>
              <a:srgbClr val="D9DFE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22" name="Shape 4"/>
          <p:cNvSpPr/>
          <p:nvPr/>
        </p:nvSpPr>
        <p:spPr>
          <a:xfrm>
            <a:off x="640080" y="1298448"/>
            <a:ext cx="1280160" cy="0"/>
          </a:xfrm>
          <a:prstGeom prst="line">
            <a:avLst/>
          </a:prstGeom>
          <a:noFill/>
          <a:ln w="28575">
            <a:solidFill>
              <a:srgbClr val="1E5AA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23" name="Shape 5"/>
          <p:cNvSpPr/>
          <p:nvPr/>
        </p:nvSpPr>
        <p:spPr>
          <a:xfrm>
            <a:off x="640080" y="6455664"/>
            <a:ext cx="10911535" cy="0"/>
          </a:xfrm>
          <a:prstGeom prst="line">
            <a:avLst/>
          </a:prstGeom>
          <a:noFill/>
          <a:ln w="7620">
            <a:solidFill>
              <a:srgbClr val="D9DFE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24" name="Text 6"/>
          <p:cNvSpPr/>
          <p:nvPr/>
        </p:nvSpPr>
        <p:spPr>
          <a:xfrm>
            <a:off x="640080" y="651052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8A94A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分行批发业务 AI 赋能与行内外系统实战</a:t>
            </a:r>
            <a:endParaRPr lang="en-US" sz="800" dirty="0"/>
          </a:p>
        </p:txBody>
      </p:sp>
      <p:sp>
        <p:nvSpPr>
          <p:cNvPr id="525" name="Text 7"/>
          <p:cNvSpPr/>
          <p:nvPr/>
        </p:nvSpPr>
        <p:spPr>
          <a:xfrm>
            <a:off x="11109960" y="6492240"/>
            <a:ext cx="438912" cy="237744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8A94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</a:t>
            </a:r>
            <a:endParaRPr lang="en-US" sz="900" dirty="0"/>
          </a:p>
        </p:txBody>
      </p:sp>
      <p:sp>
        <p:nvSpPr>
          <p:cNvPr id="526" name="Shape 8"/>
          <p:cNvSpPr/>
          <p:nvPr/>
        </p:nvSpPr>
        <p:spPr>
          <a:xfrm>
            <a:off x="640080" y="1503327"/>
            <a:ext cx="5330952" cy="4069080"/>
          </a:xfrm>
          <a:prstGeom prst="roundRect">
            <a:avLst>
              <a:gd name="adj" fmla="val 1798"/>
            </a:avLst>
          </a:prstGeom>
          <a:solidFill>
            <a:srgbClr val="FFFFFF"/>
          </a:solidFill>
          <a:ln w="9525">
            <a:solidFill>
              <a:srgbClr val="D9DFE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27" name="Text 9"/>
          <p:cNvSpPr/>
          <p:nvPr/>
        </p:nvSpPr>
        <p:spPr>
          <a:xfrm>
            <a:off x="932688" y="175564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1746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四件事，以行内为准</a:t>
            </a:r>
            <a:endParaRPr lang="en-US" sz="2000" dirty="0"/>
          </a:p>
        </p:txBody>
      </p:sp>
      <p:sp>
        <p:nvSpPr>
          <p:cNvPr id="528" name="Shape 10"/>
          <p:cNvSpPr/>
          <p:nvPr/>
        </p:nvSpPr>
        <p:spPr>
          <a:xfrm>
            <a:off x="932688" y="2286000"/>
            <a:ext cx="420624" cy="420624"/>
          </a:xfrm>
          <a:prstGeom prst="ellipse">
            <a:avLst/>
          </a:prstGeom>
          <a:solidFill>
            <a:srgbClr val="1E5AA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29" name="Text 11"/>
          <p:cNvSpPr/>
          <p:nvPr/>
        </p:nvSpPr>
        <p:spPr>
          <a:xfrm>
            <a:off x="932688" y="2286000"/>
            <a:ext cx="420624" cy="420624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530" name="Text 12"/>
          <p:cNvSpPr/>
          <p:nvPr/>
        </p:nvSpPr>
        <p:spPr>
          <a:xfrm>
            <a:off x="1535132" y="2157985"/>
            <a:ext cx="4160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哪些 AI 工具在行内允许使用</a:t>
            </a:r>
            <a:endParaRPr lang="en-US" sz="1600" dirty="0"/>
          </a:p>
        </p:txBody>
      </p:sp>
      <p:sp>
        <p:nvSpPr>
          <p:cNvPr id="531" name="Shape 13"/>
          <p:cNvSpPr/>
          <p:nvPr/>
        </p:nvSpPr>
        <p:spPr>
          <a:xfrm>
            <a:off x="932688" y="3035808"/>
            <a:ext cx="420624" cy="420624"/>
          </a:xfrm>
          <a:prstGeom prst="ellipse">
            <a:avLst/>
          </a:prstGeom>
          <a:solidFill>
            <a:srgbClr val="1E5AA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32" name="Text 14"/>
          <p:cNvSpPr/>
          <p:nvPr/>
        </p:nvSpPr>
        <p:spPr>
          <a:xfrm>
            <a:off x="932688" y="3035808"/>
            <a:ext cx="420624" cy="420624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533" name="Text 15"/>
          <p:cNvSpPr/>
          <p:nvPr/>
        </p:nvSpPr>
        <p:spPr>
          <a:xfrm>
            <a:off x="1499616" y="2930652"/>
            <a:ext cx="4160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哪些数据可以在什么环境下处理</a:t>
            </a:r>
            <a:endParaRPr lang="en-US" sz="1600" dirty="0"/>
          </a:p>
        </p:txBody>
      </p:sp>
      <p:sp>
        <p:nvSpPr>
          <p:cNvPr id="534" name="Shape 16"/>
          <p:cNvSpPr/>
          <p:nvPr/>
        </p:nvSpPr>
        <p:spPr>
          <a:xfrm>
            <a:off x="932688" y="3785616"/>
            <a:ext cx="420624" cy="420624"/>
          </a:xfrm>
          <a:prstGeom prst="ellipse">
            <a:avLst/>
          </a:prstGeom>
          <a:solidFill>
            <a:srgbClr val="1E5AA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35" name="Text 17"/>
          <p:cNvSpPr/>
          <p:nvPr/>
        </p:nvSpPr>
        <p:spPr>
          <a:xfrm>
            <a:off x="932688" y="3785616"/>
            <a:ext cx="420624" cy="420624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536" name="Text 18"/>
          <p:cNvSpPr/>
          <p:nvPr/>
        </p:nvSpPr>
        <p:spPr>
          <a:xfrm>
            <a:off x="1499616" y="3703319"/>
            <a:ext cx="4160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哪些插件、Agent、MCP、外部平台允许接入</a:t>
            </a:r>
            <a:endParaRPr lang="en-US" sz="1600" dirty="0"/>
          </a:p>
        </p:txBody>
      </p:sp>
      <p:sp>
        <p:nvSpPr>
          <p:cNvPr id="537" name="Shape 19"/>
          <p:cNvSpPr/>
          <p:nvPr/>
        </p:nvSpPr>
        <p:spPr>
          <a:xfrm>
            <a:off x="932688" y="4535424"/>
            <a:ext cx="420624" cy="420624"/>
          </a:xfrm>
          <a:prstGeom prst="ellipse">
            <a:avLst/>
          </a:prstGeom>
          <a:solidFill>
            <a:srgbClr val="1E5AA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38" name="Text 20"/>
          <p:cNvSpPr/>
          <p:nvPr/>
        </p:nvSpPr>
        <p:spPr>
          <a:xfrm>
            <a:off x="932688" y="4535424"/>
            <a:ext cx="420624" cy="420624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539" name="Text 21"/>
          <p:cNvSpPr/>
          <p:nvPr/>
        </p:nvSpPr>
        <p:spPr>
          <a:xfrm>
            <a:off x="1499616" y="4381761"/>
            <a:ext cx="4160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哪些操作需要审批、留痕或备案</a:t>
            </a:r>
            <a:endParaRPr lang="en-US" sz="1600" dirty="0"/>
          </a:p>
        </p:txBody>
      </p:sp>
      <p:sp>
        <p:nvSpPr>
          <p:cNvPr id="540" name="Shape 22"/>
          <p:cNvSpPr/>
          <p:nvPr/>
        </p:nvSpPr>
        <p:spPr>
          <a:xfrm>
            <a:off x="6220970" y="1518435"/>
            <a:ext cx="5330952" cy="4069080"/>
          </a:xfrm>
          <a:prstGeom prst="roundRect">
            <a:avLst>
              <a:gd name="adj" fmla="val 1798"/>
            </a:avLst>
          </a:prstGeom>
          <a:solidFill>
            <a:srgbClr val="FFFFFF"/>
          </a:solidFill>
          <a:ln w="9525">
            <a:solidFill>
              <a:srgbClr val="D9DFE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41" name="Text 23"/>
          <p:cNvSpPr/>
          <p:nvPr/>
        </p:nvSpPr>
        <p:spPr>
          <a:xfrm>
            <a:off x="6510528" y="175564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8A63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四条原则</a:t>
            </a:r>
            <a:endParaRPr lang="en-US" sz="2000" dirty="0"/>
          </a:p>
        </p:txBody>
      </p:sp>
      <p:sp>
        <p:nvSpPr>
          <p:cNvPr id="542" name="Shape 24"/>
          <p:cNvSpPr/>
          <p:nvPr/>
        </p:nvSpPr>
        <p:spPr>
          <a:xfrm>
            <a:off x="6528816" y="2432304"/>
            <a:ext cx="109728" cy="109728"/>
          </a:xfrm>
          <a:prstGeom prst="rect">
            <a:avLst/>
          </a:prstGeom>
          <a:solidFill>
            <a:srgbClr val="B78A3E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43" name="Text 25"/>
          <p:cNvSpPr/>
          <p:nvPr/>
        </p:nvSpPr>
        <p:spPr>
          <a:xfrm>
            <a:off x="6795452" y="2155268"/>
            <a:ext cx="4480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行内允许用什么，就用什么</a:t>
            </a:r>
            <a:endParaRPr lang="en-US" sz="1600" dirty="0"/>
          </a:p>
        </p:txBody>
      </p:sp>
      <p:sp>
        <p:nvSpPr>
          <p:cNvPr id="544" name="Shape 26"/>
          <p:cNvSpPr/>
          <p:nvPr/>
        </p:nvSpPr>
        <p:spPr>
          <a:xfrm>
            <a:off x="6528816" y="3182112"/>
            <a:ext cx="109728" cy="109728"/>
          </a:xfrm>
          <a:prstGeom prst="rect">
            <a:avLst/>
          </a:prstGeom>
          <a:solidFill>
            <a:srgbClr val="B78A3E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45" name="Text 27"/>
          <p:cNvSpPr/>
          <p:nvPr/>
        </p:nvSpPr>
        <p:spPr>
          <a:xfrm>
            <a:off x="6795452" y="2898648"/>
            <a:ext cx="4480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未经批准，不私自接入外部工具</a:t>
            </a:r>
            <a:endParaRPr lang="en-US" sz="1600" dirty="0"/>
          </a:p>
        </p:txBody>
      </p:sp>
      <p:sp>
        <p:nvSpPr>
          <p:cNvPr id="546" name="Shape 28"/>
          <p:cNvSpPr/>
          <p:nvPr/>
        </p:nvSpPr>
        <p:spPr>
          <a:xfrm>
            <a:off x="6528816" y="3931920"/>
            <a:ext cx="109728" cy="109728"/>
          </a:xfrm>
          <a:prstGeom prst="rect">
            <a:avLst/>
          </a:prstGeom>
          <a:solidFill>
            <a:srgbClr val="B78A3E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47" name="Text 29"/>
          <p:cNvSpPr/>
          <p:nvPr/>
        </p:nvSpPr>
        <p:spPr>
          <a:xfrm>
            <a:off x="6797835" y="3642028"/>
            <a:ext cx="4480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不绕过权限，不把行内数据带出</a:t>
            </a:r>
            <a:endParaRPr lang="en-US" sz="1600" dirty="0"/>
          </a:p>
        </p:txBody>
      </p:sp>
      <p:sp>
        <p:nvSpPr>
          <p:cNvPr id="548" name="Shape 30"/>
          <p:cNvSpPr/>
          <p:nvPr/>
        </p:nvSpPr>
        <p:spPr>
          <a:xfrm>
            <a:off x="6528816" y="4681728"/>
            <a:ext cx="109728" cy="109728"/>
          </a:xfrm>
          <a:prstGeom prst="rect">
            <a:avLst/>
          </a:prstGeom>
          <a:solidFill>
            <a:srgbClr val="B78A3E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49" name="Text 31"/>
          <p:cNvSpPr/>
          <p:nvPr/>
        </p:nvSpPr>
        <p:spPr>
          <a:xfrm>
            <a:off x="6784848" y="4535424"/>
            <a:ext cx="4480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不用个人账号、外部网盘、未授权 Agent 处理行内数据</a:t>
            </a:r>
            <a:endParaRPr lang="en-US" sz="1600" dirty="0"/>
          </a:p>
        </p:txBody>
      </p:sp>
      <p:sp>
        <p:nvSpPr>
          <p:cNvPr id="550" name="Shape 32"/>
          <p:cNvSpPr/>
          <p:nvPr/>
        </p:nvSpPr>
        <p:spPr>
          <a:xfrm>
            <a:off x="640080" y="5779008"/>
            <a:ext cx="10911535" cy="502920"/>
          </a:xfrm>
          <a:prstGeom prst="rect">
            <a:avLst/>
          </a:prstGeom>
          <a:solidFill>
            <a:srgbClr val="10345E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51" name="Shape 33"/>
          <p:cNvSpPr/>
          <p:nvPr/>
        </p:nvSpPr>
        <p:spPr>
          <a:xfrm>
            <a:off x="640080" y="5779008"/>
            <a:ext cx="73152" cy="502920"/>
          </a:xfrm>
          <a:prstGeom prst="rect">
            <a:avLst/>
          </a:prstGeom>
          <a:solidFill>
            <a:srgbClr val="B78A3E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52" name="Text 34"/>
          <p:cNvSpPr/>
          <p:nvPr/>
        </p:nvSpPr>
        <p:spPr>
          <a:xfrm>
            <a:off x="896112" y="5779008"/>
            <a:ext cx="1045433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系统边界的目的：让创新在安全范围内发生。</a:t>
            </a:r>
            <a:endParaRPr lang="en-US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4" name="图片 2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6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0" name="Shape 0"/>
          <p:cNvSpPr/>
          <p:nvPr/>
        </p:nvSpPr>
        <p:spPr>
          <a:xfrm>
            <a:off x="640080" y="457200"/>
            <a:ext cx="82296" cy="219456"/>
          </a:xfrm>
          <a:prstGeom prst="rect">
            <a:avLst/>
          </a:prstGeom>
          <a:solidFill>
            <a:srgbClr val="1E5AA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91" name="Text 1"/>
          <p:cNvSpPr/>
          <p:nvPr/>
        </p:nvSpPr>
        <p:spPr>
          <a:xfrm>
            <a:off x="804672" y="42976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1E5AA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第四部分 · 行内产品</a:t>
            </a:r>
            <a:endParaRPr lang="en-US" sz="1050" dirty="0"/>
          </a:p>
        </p:txBody>
      </p:sp>
      <p:sp>
        <p:nvSpPr>
          <p:cNvPr id="592" name="Text 2"/>
          <p:cNvSpPr/>
          <p:nvPr/>
        </p:nvSpPr>
        <p:spPr>
          <a:xfrm>
            <a:off x="640080" y="792000"/>
            <a:ext cx="1091153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zh-CN" sz="2200" b="1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产品上树系统：对公客户经营与营销的行内 AI 助手</a:t>
            </a:r>
            <a:endParaRPr lang="en-US" sz="2200" b="1" dirty="0">
              <a:solidFill>
                <a:srgbClr val="1B2733"/>
              </a:solidFill>
              <a:latin typeface="Microsoft YaHei" pitchFamily="34" charset="0"/>
              <a:ea typeface="Microsoft YaHei" pitchFamily="34" charset="-122"/>
              <a:cs typeface="Microsoft YaHei" pitchFamily="34" charset="-120"/>
            </a:endParaRPr>
          </a:p>
        </p:txBody>
      </p:sp>
      <p:sp>
        <p:nvSpPr>
          <p:cNvPr id="593" name="Shape 3"/>
          <p:cNvSpPr/>
          <p:nvPr/>
        </p:nvSpPr>
        <p:spPr>
          <a:xfrm>
            <a:off x="640080" y="1298448"/>
            <a:ext cx="10911535" cy="0"/>
          </a:xfrm>
          <a:prstGeom prst="line">
            <a:avLst/>
          </a:prstGeom>
          <a:noFill/>
          <a:ln w="9525">
            <a:solidFill>
              <a:srgbClr val="D9DFE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94" name="Shape 4"/>
          <p:cNvSpPr/>
          <p:nvPr/>
        </p:nvSpPr>
        <p:spPr>
          <a:xfrm>
            <a:off x="640080" y="1298448"/>
            <a:ext cx="1280160" cy="0"/>
          </a:xfrm>
          <a:prstGeom prst="line">
            <a:avLst/>
          </a:prstGeom>
          <a:noFill/>
          <a:ln w="28575">
            <a:solidFill>
              <a:srgbClr val="1E5AA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95" name="Shape 5"/>
          <p:cNvSpPr/>
          <p:nvPr/>
        </p:nvSpPr>
        <p:spPr>
          <a:xfrm>
            <a:off x="640080" y="6455664"/>
            <a:ext cx="10911535" cy="0"/>
          </a:xfrm>
          <a:prstGeom prst="line">
            <a:avLst/>
          </a:prstGeom>
          <a:noFill/>
          <a:ln w="7620">
            <a:solidFill>
              <a:srgbClr val="D9DFE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96" name="Text 6"/>
          <p:cNvSpPr/>
          <p:nvPr/>
        </p:nvSpPr>
        <p:spPr>
          <a:xfrm>
            <a:off x="640080" y="651052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8A94A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分行批发业务 AI 赋能与行内外系统实战</a:t>
            </a:r>
            <a:endParaRPr lang="en-US" sz="800" dirty="0"/>
          </a:p>
        </p:txBody>
      </p:sp>
      <p:sp>
        <p:nvSpPr>
          <p:cNvPr id="597" name="Text 7"/>
          <p:cNvSpPr/>
          <p:nvPr/>
        </p:nvSpPr>
        <p:spPr>
          <a:xfrm>
            <a:off x="11109960" y="6492240"/>
            <a:ext cx="438912" cy="237744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8A94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</a:t>
            </a:r>
            <a:endParaRPr lang="en-US" sz="900" dirty="0"/>
          </a:p>
        </p:txBody>
      </p:sp>
      <p:sp>
        <p:nvSpPr>
          <p:cNvPr id="598" name="Shape 8"/>
          <p:cNvSpPr/>
          <p:nvPr/>
        </p:nvSpPr>
        <p:spPr>
          <a:xfrm>
            <a:off x="640080" y="1920240"/>
            <a:ext cx="2615184" cy="3108960"/>
          </a:xfrm>
          <a:prstGeom prst="roundRect">
            <a:avLst>
              <a:gd name="adj" fmla="val 2797"/>
            </a:avLst>
          </a:prstGeom>
          <a:solidFill>
            <a:srgbClr val="FFFFFF"/>
          </a:solidFill>
          <a:ln w="9525">
            <a:solidFill>
              <a:srgbClr val="D9DFE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99" name="Shape 9"/>
          <p:cNvSpPr/>
          <p:nvPr/>
        </p:nvSpPr>
        <p:spPr>
          <a:xfrm>
            <a:off x="640080" y="1920240"/>
            <a:ext cx="2615184" cy="109728"/>
          </a:xfrm>
          <a:prstGeom prst="rect">
            <a:avLst/>
          </a:prstGeom>
          <a:solidFill>
            <a:srgbClr val="1E5AA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00" name="Shape 10"/>
          <p:cNvSpPr/>
          <p:nvPr/>
        </p:nvSpPr>
        <p:spPr>
          <a:xfrm>
            <a:off x="1645920" y="2331720"/>
            <a:ext cx="603504" cy="603504"/>
          </a:xfrm>
          <a:prstGeom prst="ellipse">
            <a:avLst/>
          </a:prstGeom>
          <a:solidFill>
            <a:srgbClr val="1E5AA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01" name="Text 11"/>
          <p:cNvSpPr/>
          <p:nvPr/>
        </p:nvSpPr>
        <p:spPr>
          <a:xfrm>
            <a:off x="1645920" y="2313432"/>
            <a:ext cx="603504" cy="603504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200" dirty="0"/>
          </a:p>
        </p:txBody>
      </p:sp>
      <p:sp>
        <p:nvSpPr>
          <p:cNvPr id="602" name="Text 12"/>
          <p:cNvSpPr/>
          <p:nvPr/>
        </p:nvSpPr>
        <p:spPr>
          <a:xfrm>
            <a:off x="822960" y="3154680"/>
            <a:ext cx="22494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zh-CN" sz="2000" b="1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综合金融服务报告</a:t>
            </a:r>
            <a:endParaRPr lang="en-US" sz="2000" b="1" dirty="0">
              <a:solidFill>
                <a:srgbClr val="1B2733"/>
              </a:solidFill>
              <a:latin typeface="Microsoft YaHei" pitchFamily="34" charset="0"/>
              <a:ea typeface="Microsoft YaHei" pitchFamily="34" charset="-122"/>
              <a:cs typeface="Microsoft YaHei" pitchFamily="34" charset="-120"/>
            </a:endParaRPr>
          </a:p>
        </p:txBody>
      </p:sp>
      <p:sp>
        <p:nvSpPr>
          <p:cNvPr id="603" name="Shape 13"/>
          <p:cNvSpPr/>
          <p:nvPr/>
        </p:nvSpPr>
        <p:spPr>
          <a:xfrm>
            <a:off x="1581912" y="3639312"/>
            <a:ext cx="731520" cy="0"/>
          </a:xfrm>
          <a:prstGeom prst="line">
            <a:avLst/>
          </a:prstGeom>
          <a:noFill/>
          <a:ln w="19050">
            <a:solidFill>
              <a:srgbClr val="1E5AA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04" name="Text 14"/>
          <p:cNvSpPr/>
          <p:nvPr/>
        </p:nvSpPr>
        <p:spPr>
          <a:xfrm>
            <a:off x="896112" y="3822192"/>
            <a:ext cx="2103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32000"/>
              </a:lnSpc>
              <a:buNone/>
            </a:pPr>
            <a:r>
              <a:rPr lang="zh-CN" sz="1100" dirty="0">
                <a:solidFill>
                  <a:srgbClr val="5C67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整合企业信息、经营财务、行业特征与合作情况，自动生成客户分析报告</a:t>
            </a:r>
            <a:endParaRPr lang="en-US" sz="1100" dirty="0">
              <a:solidFill>
                <a:srgbClr val="5C6778"/>
              </a:solidFill>
              <a:latin typeface="Microsoft YaHei" pitchFamily="34" charset="0"/>
              <a:ea typeface="Microsoft YaHei" pitchFamily="34" charset="-122"/>
              <a:cs typeface="Microsoft YaHei" pitchFamily="34" charset="-120"/>
            </a:endParaRPr>
          </a:p>
        </p:txBody>
      </p:sp>
      <p:sp>
        <p:nvSpPr>
          <p:cNvPr id="605" name="Shape 15"/>
          <p:cNvSpPr/>
          <p:nvPr/>
        </p:nvSpPr>
        <p:spPr>
          <a:xfrm>
            <a:off x="3408883" y="1920240"/>
            <a:ext cx="2615184" cy="3108960"/>
          </a:xfrm>
          <a:prstGeom prst="roundRect">
            <a:avLst>
              <a:gd name="adj" fmla="val 2797"/>
            </a:avLst>
          </a:prstGeom>
          <a:solidFill>
            <a:srgbClr val="FFFFFF"/>
          </a:solidFill>
          <a:ln w="9525">
            <a:solidFill>
              <a:srgbClr val="D9DFE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06" name="Shape 16"/>
          <p:cNvSpPr/>
          <p:nvPr/>
        </p:nvSpPr>
        <p:spPr>
          <a:xfrm>
            <a:off x="3408883" y="1920240"/>
            <a:ext cx="2615184" cy="109728"/>
          </a:xfrm>
          <a:prstGeom prst="rect">
            <a:avLst/>
          </a:prstGeom>
          <a:solidFill>
            <a:srgbClr val="1B467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07" name="Shape 17"/>
          <p:cNvSpPr/>
          <p:nvPr/>
        </p:nvSpPr>
        <p:spPr>
          <a:xfrm>
            <a:off x="4414723" y="2331720"/>
            <a:ext cx="603504" cy="603504"/>
          </a:xfrm>
          <a:prstGeom prst="ellipse">
            <a:avLst/>
          </a:prstGeom>
          <a:solidFill>
            <a:srgbClr val="1B467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08" name="Text 18"/>
          <p:cNvSpPr/>
          <p:nvPr/>
        </p:nvSpPr>
        <p:spPr>
          <a:xfrm>
            <a:off x="4414723" y="2313432"/>
            <a:ext cx="603504" cy="603504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200" dirty="0"/>
          </a:p>
        </p:txBody>
      </p:sp>
      <p:sp>
        <p:nvSpPr>
          <p:cNvPr id="609" name="Text 19"/>
          <p:cNvSpPr/>
          <p:nvPr/>
        </p:nvSpPr>
        <p:spPr>
          <a:xfrm>
            <a:off x="3591763" y="3154680"/>
            <a:ext cx="22494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zh-CN" sz="2000" b="1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产品介绍方案</a:t>
            </a:r>
            <a:endParaRPr lang="en-US" sz="2000" b="1" dirty="0">
              <a:solidFill>
                <a:srgbClr val="1B2733"/>
              </a:solidFill>
              <a:latin typeface="Microsoft YaHei" pitchFamily="34" charset="0"/>
              <a:ea typeface="Microsoft YaHei" pitchFamily="34" charset="-122"/>
              <a:cs typeface="Microsoft YaHei" pitchFamily="34" charset="-120"/>
            </a:endParaRPr>
          </a:p>
        </p:txBody>
      </p:sp>
      <p:sp>
        <p:nvSpPr>
          <p:cNvPr id="610" name="Shape 20"/>
          <p:cNvSpPr/>
          <p:nvPr/>
        </p:nvSpPr>
        <p:spPr>
          <a:xfrm>
            <a:off x="4350715" y="3639312"/>
            <a:ext cx="731520" cy="0"/>
          </a:xfrm>
          <a:prstGeom prst="line">
            <a:avLst/>
          </a:prstGeom>
          <a:noFill/>
          <a:ln w="19050">
            <a:solidFill>
              <a:srgbClr val="1B467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11" name="Text 21"/>
          <p:cNvSpPr/>
          <p:nvPr/>
        </p:nvSpPr>
        <p:spPr>
          <a:xfrm>
            <a:off x="3664915" y="3822192"/>
            <a:ext cx="2103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32000"/>
              </a:lnSpc>
              <a:buNone/>
            </a:pPr>
            <a:r>
              <a:rPr lang="zh-CN" sz="1100" dirty="0">
                <a:solidFill>
                  <a:srgbClr val="5C67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按客户情况匹配行内产品，形成对客 PPT 素材</a:t>
            </a:r>
            <a:endParaRPr lang="en-US" sz="1100" dirty="0">
              <a:solidFill>
                <a:srgbClr val="5C6778"/>
              </a:solidFill>
              <a:latin typeface="Microsoft YaHei" pitchFamily="34" charset="0"/>
              <a:ea typeface="Microsoft YaHei" pitchFamily="34" charset="-122"/>
              <a:cs typeface="Microsoft YaHei" pitchFamily="34" charset="-120"/>
            </a:endParaRPr>
          </a:p>
        </p:txBody>
      </p:sp>
      <p:sp>
        <p:nvSpPr>
          <p:cNvPr id="612" name="Shape 22"/>
          <p:cNvSpPr/>
          <p:nvPr/>
        </p:nvSpPr>
        <p:spPr>
          <a:xfrm>
            <a:off x="6177686" y="1920240"/>
            <a:ext cx="2615184" cy="3108960"/>
          </a:xfrm>
          <a:prstGeom prst="roundRect">
            <a:avLst>
              <a:gd name="adj" fmla="val 2797"/>
            </a:avLst>
          </a:prstGeom>
          <a:solidFill>
            <a:srgbClr val="FFFFFF"/>
          </a:solidFill>
          <a:ln w="9525">
            <a:solidFill>
              <a:srgbClr val="D9DFE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13" name="Shape 23"/>
          <p:cNvSpPr/>
          <p:nvPr/>
        </p:nvSpPr>
        <p:spPr>
          <a:xfrm>
            <a:off x="6177686" y="1920240"/>
            <a:ext cx="2615184" cy="109728"/>
          </a:xfrm>
          <a:prstGeom prst="rect">
            <a:avLst/>
          </a:prstGeom>
          <a:solidFill>
            <a:srgbClr val="2E7D6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14" name="Shape 24"/>
          <p:cNvSpPr/>
          <p:nvPr/>
        </p:nvSpPr>
        <p:spPr>
          <a:xfrm>
            <a:off x="7183526" y="2331720"/>
            <a:ext cx="603504" cy="603504"/>
          </a:xfrm>
          <a:prstGeom prst="ellipse">
            <a:avLst/>
          </a:prstGeom>
          <a:solidFill>
            <a:srgbClr val="2E7D6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15" name="Text 25"/>
          <p:cNvSpPr/>
          <p:nvPr/>
        </p:nvSpPr>
        <p:spPr>
          <a:xfrm>
            <a:off x="7183526" y="2313432"/>
            <a:ext cx="603504" cy="603504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200" dirty="0"/>
          </a:p>
        </p:txBody>
      </p:sp>
      <p:sp>
        <p:nvSpPr>
          <p:cNvPr id="616" name="Text 26"/>
          <p:cNvSpPr/>
          <p:nvPr/>
        </p:nvSpPr>
        <p:spPr>
          <a:xfrm>
            <a:off x="6360566" y="3154680"/>
            <a:ext cx="22494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zh-CN" sz="2000" b="1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产品知识问答</a:t>
            </a:r>
            <a:endParaRPr lang="en-US" sz="2000" b="1" dirty="0">
              <a:solidFill>
                <a:srgbClr val="1B2733"/>
              </a:solidFill>
              <a:latin typeface="Microsoft YaHei" pitchFamily="34" charset="0"/>
              <a:ea typeface="Microsoft YaHei" pitchFamily="34" charset="-122"/>
              <a:cs typeface="Microsoft YaHei" pitchFamily="34" charset="-120"/>
            </a:endParaRPr>
          </a:p>
        </p:txBody>
      </p:sp>
      <p:sp>
        <p:nvSpPr>
          <p:cNvPr id="617" name="Shape 27"/>
          <p:cNvSpPr/>
          <p:nvPr/>
        </p:nvSpPr>
        <p:spPr>
          <a:xfrm>
            <a:off x="7119518" y="3639312"/>
            <a:ext cx="731520" cy="0"/>
          </a:xfrm>
          <a:prstGeom prst="line">
            <a:avLst/>
          </a:prstGeom>
          <a:noFill/>
          <a:ln w="19050">
            <a:solidFill>
              <a:srgbClr val="2E7D6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18" name="Text 28"/>
          <p:cNvSpPr/>
          <p:nvPr/>
        </p:nvSpPr>
        <p:spPr>
          <a:xfrm>
            <a:off x="6433718" y="3822192"/>
            <a:ext cx="2103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32000"/>
              </a:lnSpc>
              <a:buNone/>
            </a:pPr>
            <a:r>
              <a:rPr lang="zh-CN" sz="1100" dirty="0">
                <a:solidFill>
                  <a:srgbClr val="5C67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自然语言查询产品定位、准入条件、办理流程与核心优势</a:t>
            </a:r>
            <a:endParaRPr lang="en-US" sz="1100" dirty="0">
              <a:solidFill>
                <a:srgbClr val="5C6778"/>
              </a:solidFill>
              <a:latin typeface="Microsoft YaHei" pitchFamily="34" charset="0"/>
              <a:ea typeface="Microsoft YaHei" pitchFamily="34" charset="-122"/>
              <a:cs typeface="Microsoft YaHei" pitchFamily="34" charset="-120"/>
            </a:endParaRPr>
          </a:p>
        </p:txBody>
      </p:sp>
      <p:sp>
        <p:nvSpPr>
          <p:cNvPr id="619" name="Shape 29"/>
          <p:cNvSpPr/>
          <p:nvPr/>
        </p:nvSpPr>
        <p:spPr>
          <a:xfrm>
            <a:off x="8946490" y="1920240"/>
            <a:ext cx="2615184" cy="3108960"/>
          </a:xfrm>
          <a:prstGeom prst="roundRect">
            <a:avLst>
              <a:gd name="adj" fmla="val 2797"/>
            </a:avLst>
          </a:prstGeom>
          <a:solidFill>
            <a:srgbClr val="FFFFFF"/>
          </a:solidFill>
          <a:ln w="9525">
            <a:solidFill>
              <a:srgbClr val="D9DFE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20" name="Shape 30"/>
          <p:cNvSpPr/>
          <p:nvPr/>
        </p:nvSpPr>
        <p:spPr>
          <a:xfrm>
            <a:off x="8946490" y="1920240"/>
            <a:ext cx="2615184" cy="109728"/>
          </a:xfrm>
          <a:prstGeom prst="rect">
            <a:avLst/>
          </a:prstGeom>
          <a:solidFill>
            <a:srgbClr val="B78A3E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21" name="Shape 31"/>
          <p:cNvSpPr/>
          <p:nvPr/>
        </p:nvSpPr>
        <p:spPr>
          <a:xfrm>
            <a:off x="9952330" y="2331720"/>
            <a:ext cx="603504" cy="603504"/>
          </a:xfrm>
          <a:prstGeom prst="ellipse">
            <a:avLst/>
          </a:prstGeom>
          <a:solidFill>
            <a:srgbClr val="B78A3E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22" name="Text 32"/>
          <p:cNvSpPr/>
          <p:nvPr/>
        </p:nvSpPr>
        <p:spPr>
          <a:xfrm>
            <a:off x="9952330" y="2313432"/>
            <a:ext cx="603504" cy="603504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200" dirty="0"/>
          </a:p>
        </p:txBody>
      </p:sp>
      <p:sp>
        <p:nvSpPr>
          <p:cNvPr id="623" name="Text 33"/>
          <p:cNvSpPr/>
          <p:nvPr/>
        </p:nvSpPr>
        <p:spPr>
          <a:xfrm>
            <a:off x="9129370" y="3154680"/>
            <a:ext cx="22494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zh-CN" sz="2000" b="1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金融服务方案问答</a:t>
            </a:r>
            <a:endParaRPr lang="en-US" sz="2000" b="1" dirty="0">
              <a:solidFill>
                <a:srgbClr val="1B2733"/>
              </a:solidFill>
              <a:latin typeface="Microsoft YaHei" pitchFamily="34" charset="0"/>
              <a:ea typeface="Microsoft YaHei" pitchFamily="34" charset="-122"/>
              <a:cs typeface="Microsoft YaHei" pitchFamily="34" charset="-120"/>
            </a:endParaRPr>
          </a:p>
        </p:txBody>
      </p:sp>
      <p:sp>
        <p:nvSpPr>
          <p:cNvPr id="624" name="Shape 34"/>
          <p:cNvSpPr/>
          <p:nvPr/>
        </p:nvSpPr>
        <p:spPr>
          <a:xfrm>
            <a:off x="9888322" y="3639312"/>
            <a:ext cx="731520" cy="0"/>
          </a:xfrm>
          <a:prstGeom prst="line">
            <a:avLst/>
          </a:prstGeom>
          <a:noFill/>
          <a:ln w="19050">
            <a:solidFill>
              <a:srgbClr val="B78A3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25" name="Text 35"/>
          <p:cNvSpPr/>
          <p:nvPr/>
        </p:nvSpPr>
        <p:spPr>
          <a:xfrm>
            <a:off x="9202522" y="3822192"/>
            <a:ext cx="2103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32000"/>
              </a:lnSpc>
              <a:buNone/>
            </a:pPr>
            <a:r>
              <a:rPr lang="zh-CN" sz="1100" dirty="0">
                <a:solidFill>
                  <a:srgbClr val="5C67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结合已生成方案，回答产品推荐原因与产业链诉求</a:t>
            </a:r>
            <a:endParaRPr lang="en-US" sz="1100" dirty="0">
              <a:solidFill>
                <a:srgbClr val="5C6778"/>
              </a:solidFill>
              <a:latin typeface="Microsoft YaHei" pitchFamily="34" charset="0"/>
              <a:ea typeface="Microsoft YaHei" pitchFamily="34" charset="-122"/>
              <a:cs typeface="Microsoft YaHei" pitchFamily="34" charset="-120"/>
            </a:endParaRPr>
          </a:p>
        </p:txBody>
      </p:sp>
      <p:sp>
        <p:nvSpPr>
          <p:cNvPr id="626" name="Shape 36"/>
          <p:cNvSpPr/>
          <p:nvPr/>
        </p:nvSpPr>
        <p:spPr>
          <a:xfrm>
            <a:off x="640080" y="5394960"/>
            <a:ext cx="10911535" cy="658368"/>
          </a:xfrm>
          <a:prstGeom prst="roundRect">
            <a:avLst>
              <a:gd name="adj" fmla="val 6944"/>
            </a:avLst>
          </a:prstGeom>
          <a:solidFill>
            <a:srgbClr val="E9F0F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27" name="Shape 37"/>
          <p:cNvSpPr/>
          <p:nvPr/>
        </p:nvSpPr>
        <p:spPr>
          <a:xfrm>
            <a:off x="640080" y="5394960"/>
            <a:ext cx="73152" cy="658368"/>
          </a:xfrm>
          <a:prstGeom prst="rect">
            <a:avLst/>
          </a:prstGeom>
          <a:solidFill>
            <a:srgbClr val="1E5AA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28" name="Text 38"/>
          <p:cNvSpPr/>
          <p:nvPr/>
        </p:nvSpPr>
        <p:spPr>
          <a:xfrm>
            <a:off x="896112" y="5394960"/>
            <a:ext cx="1045433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zh-CN" b="1" dirty="0">
                <a:solidFill>
                  <a:srgbClr val="1746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以行内外多源数据、标准化产品知识和大模型能力为基础，贯通客户分析、产品匹配、方案生成与营销应用。</a:t>
            </a:r>
            <a:endParaRPr lang="en-US" b="1" dirty="0">
              <a:solidFill>
                <a:srgbClr val="17467E"/>
              </a:solidFill>
              <a:latin typeface="Microsoft YaHei" pitchFamily="34" charset="0"/>
              <a:ea typeface="Microsoft YaHei" pitchFamily="34" charset="-122"/>
              <a:cs typeface="Microsoft YaHei" pitchFamily="34" charset="-120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6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0" name="Shape 0"/>
          <p:cNvSpPr/>
          <p:nvPr/>
        </p:nvSpPr>
        <p:spPr>
          <a:xfrm>
            <a:off x="640080" y="457200"/>
            <a:ext cx="82296" cy="219456"/>
          </a:xfrm>
          <a:prstGeom prst="rect">
            <a:avLst/>
          </a:prstGeom>
          <a:solidFill>
            <a:srgbClr val="1E5AA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31" name="Text 1"/>
          <p:cNvSpPr/>
          <p:nvPr/>
        </p:nvSpPr>
        <p:spPr>
          <a:xfrm>
            <a:off x="804672" y="42976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1E5AA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第四部分 · 行内产品</a:t>
            </a:r>
            <a:endParaRPr lang="en-US" sz="1050" dirty="0"/>
          </a:p>
        </p:txBody>
      </p:sp>
      <p:sp>
        <p:nvSpPr>
          <p:cNvPr id="632" name="Text 2"/>
          <p:cNvSpPr/>
          <p:nvPr/>
        </p:nvSpPr>
        <p:spPr>
          <a:xfrm>
            <a:off x="640080" y="792000"/>
            <a:ext cx="1091153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zh-CN" sz="2200" b="1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报告版本与典型用途</a:t>
            </a:r>
            <a:endParaRPr lang="en-US" sz="2200" b="1" dirty="0">
              <a:solidFill>
                <a:srgbClr val="1B2733"/>
              </a:solidFill>
              <a:latin typeface="Microsoft YaHei" pitchFamily="34" charset="0"/>
              <a:ea typeface="Microsoft YaHei" pitchFamily="34" charset="-122"/>
              <a:cs typeface="Microsoft YaHei" pitchFamily="34" charset="-120"/>
            </a:endParaRPr>
          </a:p>
        </p:txBody>
      </p:sp>
      <p:sp>
        <p:nvSpPr>
          <p:cNvPr id="633" name="Shape 3"/>
          <p:cNvSpPr/>
          <p:nvPr/>
        </p:nvSpPr>
        <p:spPr>
          <a:xfrm>
            <a:off x="640080" y="1298448"/>
            <a:ext cx="10911535" cy="0"/>
          </a:xfrm>
          <a:prstGeom prst="line">
            <a:avLst/>
          </a:prstGeom>
          <a:noFill/>
          <a:ln w="9525">
            <a:solidFill>
              <a:srgbClr val="D9DFE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34" name="Shape 4"/>
          <p:cNvSpPr/>
          <p:nvPr/>
        </p:nvSpPr>
        <p:spPr>
          <a:xfrm>
            <a:off x="640080" y="1298448"/>
            <a:ext cx="1280160" cy="0"/>
          </a:xfrm>
          <a:prstGeom prst="line">
            <a:avLst/>
          </a:prstGeom>
          <a:noFill/>
          <a:ln w="28575">
            <a:solidFill>
              <a:srgbClr val="1E5AA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35" name="Shape 5"/>
          <p:cNvSpPr/>
          <p:nvPr/>
        </p:nvSpPr>
        <p:spPr>
          <a:xfrm>
            <a:off x="640080" y="6455664"/>
            <a:ext cx="10911535" cy="0"/>
          </a:xfrm>
          <a:prstGeom prst="line">
            <a:avLst/>
          </a:prstGeom>
          <a:noFill/>
          <a:ln w="7620">
            <a:solidFill>
              <a:srgbClr val="D9DFE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36" name="Text 6"/>
          <p:cNvSpPr/>
          <p:nvPr/>
        </p:nvSpPr>
        <p:spPr>
          <a:xfrm>
            <a:off x="640080" y="651052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8A94A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分行批发业务 AI 赋能与行内外系统实战</a:t>
            </a:r>
            <a:endParaRPr lang="en-US" sz="800" dirty="0"/>
          </a:p>
        </p:txBody>
      </p:sp>
      <p:sp>
        <p:nvSpPr>
          <p:cNvPr id="637" name="Text 7"/>
          <p:cNvSpPr/>
          <p:nvPr/>
        </p:nvSpPr>
        <p:spPr>
          <a:xfrm>
            <a:off x="11109960" y="6492240"/>
            <a:ext cx="438912" cy="237744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8A94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</a:t>
            </a:r>
            <a:endParaRPr lang="en-US" sz="900" dirty="0"/>
          </a:p>
        </p:txBody>
      </p:sp>
      <p:graphicFrame>
        <p:nvGraphicFramePr>
          <p:cNvPr id="638" name="Table 0"/>
          <p:cNvGraphicFramePr>
            <a:graphicFrameLocks noGrp="1"/>
          </p:cNvGraphicFramePr>
          <p:nvPr/>
        </p:nvGraphicFramePr>
        <p:xfrm>
          <a:off x="640079" y="1572767"/>
          <a:ext cx="10911537" cy="3392422"/>
        </p:xfrm>
        <a:graphic>
          <a:graphicData uri="http://schemas.openxmlformats.org/drawingml/2006/table">
            <a:tbl>
              <a:tblPr/>
              <a:tblGrid>
                <a:gridCol w="2264642">
                  <a:extLst>
                    <a:ext uri="{9D8B030D-6E8A-4147-A177-3AD203B41FA5}">
                      <a16:colId xmlns:a16="http://schemas.microsoft.com/office/drawing/2014/main" val="1"/>
                    </a:ext>
                  </a:extLst>
                </a:gridCol>
                <a:gridCol w="4815845">
                  <a:extLst>
                    <a:ext uri="{9D8B030D-6E8A-4147-A177-3AD203B41FA5}">
                      <a16:colId xmlns:a16="http://schemas.microsoft.com/office/drawing/2014/main" val="2"/>
                    </a:ext>
                  </a:extLst>
                </a:gridCol>
                <a:gridCol w="3831050">
                  <a:extLst>
                    <a:ext uri="{9D8B030D-6E8A-4147-A177-3AD203B41FA5}">
                      <a16:colId xmlns:a16="http://schemas.microsoft.com/office/drawing/2014/main" val="3"/>
                    </a:ext>
                  </a:extLst>
                </a:gridCol>
              </a:tblGrid>
              <a:tr h="588767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 err="1">
                          <a:solidFill>
                            <a:schemeClr val="bg1"/>
                          </a:solidFill>
                        </a:rPr>
                        <a:t>报告版本</a:t>
                      </a:r>
                      <a:endParaRPr sz="1800" b="1" dirty="0">
                        <a:solidFill>
                          <a:schemeClr val="bg1"/>
                        </a:solidFill>
                      </a:endParaRPr>
                    </a:p>
                  </a:txBody>
                  <a:tcPr marL="73152" marR="73152" marT="54864" marB="54864" anchor="ctr">
                    <a:lnL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5AA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 err="1">
                          <a:solidFill>
                            <a:schemeClr val="bg1"/>
                          </a:solidFill>
                        </a:rPr>
                        <a:t>主要内容</a:t>
                      </a:r>
                      <a:endParaRPr sz="1800" b="1" dirty="0">
                        <a:solidFill>
                          <a:schemeClr val="bg1"/>
                        </a:solidFill>
                      </a:endParaRPr>
                    </a:p>
                  </a:txBody>
                  <a:tcPr marL="73152" marR="73152" marT="54864" marB="54864" anchor="ctr">
                    <a:lnL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5AA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 err="1">
                          <a:solidFill>
                            <a:schemeClr val="bg1"/>
                          </a:solidFill>
                        </a:rPr>
                        <a:t>适用场景</a:t>
                      </a:r>
                      <a:endParaRPr sz="1800" b="1" dirty="0">
                        <a:solidFill>
                          <a:schemeClr val="bg1"/>
                        </a:solidFill>
                      </a:endParaRPr>
                    </a:p>
                  </a:txBody>
                  <a:tcPr marL="73152" marR="73152" marT="54864" marB="54864" anchor="ctr">
                    <a:lnL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5A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"/>
                  </a:ext>
                </a:extLst>
              </a:tr>
              <a:tr h="560731">
                <a:tc>
                  <a:txBody>
                    <a:bodyPr/>
                    <a:lstStyle/>
                    <a:p>
                      <a:r>
                        <a:rPr lang="en-US" sz="1600" dirty="0" err="1"/>
                        <a:t>领导（标准版</a:t>
                      </a:r>
                      <a:r>
                        <a:rPr lang="en-US" sz="1600" dirty="0"/>
                        <a:t>）</a:t>
                      </a:r>
                      <a:endParaRPr sz="1600" dirty="0"/>
                    </a:p>
                  </a:txBody>
                  <a:tcPr marL="73152" marR="73152" anchor="ctr">
                    <a:lnL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 err="1"/>
                        <a:t>较完整展示企业、行业、财务、产品和风险分析</a:t>
                      </a:r>
                      <a:endParaRPr sz="1600" dirty="0"/>
                    </a:p>
                  </a:txBody>
                  <a:tcPr marL="73152" marR="73152" anchor="ctr">
                    <a:lnL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 err="1"/>
                        <a:t>重点客户拜访、高层营销、综合研判</a:t>
                      </a:r>
                      <a:endParaRPr sz="1600" dirty="0"/>
                    </a:p>
                  </a:txBody>
                  <a:tcPr marL="73152" marR="73152" anchor="ctr">
                    <a:lnL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"/>
                  </a:ext>
                </a:extLst>
              </a:tr>
              <a:tr h="560731">
                <a:tc>
                  <a:txBody>
                    <a:bodyPr/>
                    <a:lstStyle/>
                    <a:p>
                      <a:r>
                        <a:rPr lang="en-US" sz="1600"/>
                        <a:t>领导（速览版）</a:t>
                      </a:r>
                      <a:endParaRPr sz="1600"/>
                    </a:p>
                  </a:txBody>
                  <a:tcPr marL="73152" marR="73152" anchor="ctr">
                    <a:lnL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保留客户核心情况、主要结论和营销方向</a:t>
                      </a:r>
                      <a:endParaRPr sz="1600"/>
                    </a:p>
                  </a:txBody>
                  <a:tcPr marL="73152" marR="73152" anchor="ctr">
                    <a:lnL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领导会前快速阅览</a:t>
                      </a:r>
                      <a:endParaRPr sz="1600"/>
                    </a:p>
                  </a:txBody>
                  <a:tcPr marL="73152" marR="73152" anchor="ctr">
                    <a:lnL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"/>
                  </a:ext>
                </a:extLst>
              </a:tr>
              <a:tr h="560731">
                <a:tc>
                  <a:txBody>
                    <a:bodyPr/>
                    <a:lstStyle/>
                    <a:p>
                      <a:r>
                        <a:rPr lang="en-US" sz="1600"/>
                        <a:t>客户经理（标准版）</a:t>
                      </a:r>
                      <a:endParaRPr sz="1600"/>
                    </a:p>
                  </a:txBody>
                  <a:tcPr marL="73152" marR="73152" anchor="ctr">
                    <a:lnL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完整客户分析、产品研判和营销准备</a:t>
                      </a:r>
                      <a:endParaRPr sz="1600"/>
                    </a:p>
                  </a:txBody>
                  <a:tcPr marL="73152" marR="73152" anchor="ctr">
                    <a:lnL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拜访准备、方案研究、后续跟进</a:t>
                      </a:r>
                      <a:endParaRPr sz="1600"/>
                    </a:p>
                  </a:txBody>
                  <a:tcPr marL="73152" marR="73152" anchor="ctr">
                    <a:lnL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"/>
                  </a:ext>
                </a:extLst>
              </a:tr>
              <a:tr h="560731">
                <a:tc>
                  <a:txBody>
                    <a:bodyPr/>
                    <a:lstStyle/>
                    <a:p>
                      <a:r>
                        <a:rPr lang="en-US" sz="1600" dirty="0" err="1"/>
                        <a:t>客户经理（速览版</a:t>
                      </a:r>
                      <a:r>
                        <a:rPr lang="en-US" sz="1600" dirty="0"/>
                        <a:t>）</a:t>
                      </a:r>
                      <a:endParaRPr sz="1600" dirty="0"/>
                    </a:p>
                  </a:txBody>
                  <a:tcPr marL="73152" marR="73152" anchor="ctr">
                    <a:lnL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 err="1"/>
                        <a:t>提炼企业和产品关键信息</a:t>
                      </a:r>
                      <a:endParaRPr sz="1600" dirty="0"/>
                    </a:p>
                  </a:txBody>
                  <a:tcPr marL="73152" marR="73152" anchor="ctr">
                    <a:lnL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日常营销、现场沟通、快速查阅</a:t>
                      </a:r>
                      <a:endParaRPr sz="1600"/>
                    </a:p>
                  </a:txBody>
                  <a:tcPr marL="73152" marR="73152" anchor="ctr">
                    <a:lnL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"/>
                  </a:ext>
                </a:extLst>
              </a:tr>
              <a:tr h="560731">
                <a:tc>
                  <a:txBody>
                    <a:bodyPr/>
                    <a:lstStyle/>
                    <a:p>
                      <a:r>
                        <a:rPr lang="en-US" sz="1600"/>
                        <a:t>PPT素材版</a:t>
                      </a:r>
                      <a:endParaRPr sz="1600"/>
                    </a:p>
                  </a:txBody>
                  <a:tcPr marL="73152" marR="73152" anchor="ctr">
                    <a:lnL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企业画像、产业链、财务指标和产品推荐素材</a:t>
                      </a:r>
                      <a:endParaRPr sz="1600"/>
                    </a:p>
                  </a:txBody>
                  <a:tcPr marL="73152" marR="73152" anchor="ctr">
                    <a:lnL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 err="1"/>
                        <a:t>制作对客PPT和综合营销材料</a:t>
                      </a:r>
                      <a:endParaRPr sz="1600" dirty="0"/>
                    </a:p>
                  </a:txBody>
                  <a:tcPr marL="73152" marR="73152" anchor="ctr">
                    <a:lnL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"/>
                  </a:ext>
                </a:extLst>
              </a:tr>
            </a:tbl>
          </a:graphicData>
        </a:graphic>
      </p:graphicFrame>
      <p:sp>
        <p:nvSpPr>
          <p:cNvPr id="639" name="Text 8"/>
          <p:cNvSpPr/>
          <p:nvPr/>
        </p:nvSpPr>
        <p:spPr>
          <a:xfrm>
            <a:off x="641312" y="5213935"/>
            <a:ext cx="109115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zh-CN" sz="1400" i="1" dirty="0">
                <a:solidFill>
                  <a:srgbClr val="8A94A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注：系统生成内容主要作为业务辅助，不替代客户尽职调查、产品制度要求、业务准入审核和正式审批。</a:t>
            </a:r>
            <a:endParaRPr lang="en-US" sz="1400" i="1" dirty="0">
              <a:solidFill>
                <a:srgbClr val="8A94A3"/>
              </a:solidFill>
              <a:latin typeface="Microsoft YaHei" pitchFamily="34" charset="0"/>
              <a:ea typeface="Microsoft YaHei" pitchFamily="34" charset="-122"/>
              <a:cs typeface="Microsoft YaHei" pitchFamily="34" charset="-120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1" name="图片 2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6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3" name="Shape 0"/>
          <p:cNvSpPr/>
          <p:nvPr/>
        </p:nvSpPr>
        <p:spPr>
          <a:xfrm>
            <a:off x="640080" y="457200"/>
            <a:ext cx="82296" cy="219456"/>
          </a:xfrm>
          <a:prstGeom prst="rect">
            <a:avLst/>
          </a:prstGeom>
          <a:solidFill>
            <a:srgbClr val="1E5AA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44" name="Text 1"/>
          <p:cNvSpPr/>
          <p:nvPr/>
        </p:nvSpPr>
        <p:spPr>
          <a:xfrm>
            <a:off x="804672" y="42976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1E5AA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第五部分 · 实战</a:t>
            </a:r>
            <a:endParaRPr lang="en-US" sz="1050" dirty="0"/>
          </a:p>
        </p:txBody>
      </p:sp>
      <p:sp>
        <p:nvSpPr>
          <p:cNvPr id="645" name="Text 2"/>
          <p:cNvSpPr/>
          <p:nvPr/>
        </p:nvSpPr>
        <p:spPr>
          <a:xfrm>
            <a:off x="640080" y="792000"/>
            <a:ext cx="1091153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三个实战案例：自然语言 → 规划步骤 → 调用能力 → 可用成果</a:t>
            </a:r>
            <a:endParaRPr lang="en-US" sz="2200" dirty="0"/>
          </a:p>
        </p:txBody>
      </p:sp>
      <p:sp>
        <p:nvSpPr>
          <p:cNvPr id="646" name="Shape 3"/>
          <p:cNvSpPr/>
          <p:nvPr/>
        </p:nvSpPr>
        <p:spPr>
          <a:xfrm>
            <a:off x="640080" y="1298448"/>
            <a:ext cx="10911535" cy="0"/>
          </a:xfrm>
          <a:prstGeom prst="line">
            <a:avLst/>
          </a:prstGeom>
          <a:noFill/>
          <a:ln w="9525">
            <a:solidFill>
              <a:srgbClr val="D9DFE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47" name="Shape 4"/>
          <p:cNvSpPr/>
          <p:nvPr/>
        </p:nvSpPr>
        <p:spPr>
          <a:xfrm>
            <a:off x="640080" y="1298448"/>
            <a:ext cx="1280160" cy="0"/>
          </a:xfrm>
          <a:prstGeom prst="line">
            <a:avLst/>
          </a:prstGeom>
          <a:noFill/>
          <a:ln w="28575">
            <a:solidFill>
              <a:srgbClr val="1E5AA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48" name="Shape 5"/>
          <p:cNvSpPr/>
          <p:nvPr/>
        </p:nvSpPr>
        <p:spPr>
          <a:xfrm>
            <a:off x="640080" y="6455664"/>
            <a:ext cx="10911535" cy="0"/>
          </a:xfrm>
          <a:prstGeom prst="line">
            <a:avLst/>
          </a:prstGeom>
          <a:noFill/>
          <a:ln w="7620">
            <a:solidFill>
              <a:srgbClr val="D9DFE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49" name="Text 6"/>
          <p:cNvSpPr/>
          <p:nvPr/>
        </p:nvSpPr>
        <p:spPr>
          <a:xfrm>
            <a:off x="640080" y="651052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8A94A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分行批发业务 AI 赋能与行内外系统实战</a:t>
            </a:r>
            <a:endParaRPr lang="en-US" sz="800" dirty="0"/>
          </a:p>
        </p:txBody>
      </p:sp>
      <p:sp>
        <p:nvSpPr>
          <p:cNvPr id="650" name="Text 7"/>
          <p:cNvSpPr/>
          <p:nvPr/>
        </p:nvSpPr>
        <p:spPr>
          <a:xfrm>
            <a:off x="11109960" y="6492240"/>
            <a:ext cx="438912" cy="237744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8A94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</a:t>
            </a:r>
            <a:endParaRPr lang="en-US" sz="900" dirty="0"/>
          </a:p>
        </p:txBody>
      </p:sp>
      <p:sp>
        <p:nvSpPr>
          <p:cNvPr id="651" name="Shape 8"/>
          <p:cNvSpPr/>
          <p:nvPr/>
        </p:nvSpPr>
        <p:spPr>
          <a:xfrm>
            <a:off x="640080" y="1737360"/>
            <a:ext cx="3502152" cy="3977640"/>
          </a:xfrm>
          <a:prstGeom prst="roundRect">
            <a:avLst>
              <a:gd name="adj" fmla="val 2089"/>
            </a:avLst>
          </a:prstGeom>
          <a:solidFill>
            <a:srgbClr val="FFFFFF"/>
          </a:solidFill>
          <a:ln w="9525">
            <a:solidFill>
              <a:srgbClr val="D9DFE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52" name="Shape 9"/>
          <p:cNvSpPr/>
          <p:nvPr/>
        </p:nvSpPr>
        <p:spPr>
          <a:xfrm>
            <a:off x="640080" y="1737360"/>
            <a:ext cx="3502152" cy="658368"/>
          </a:xfrm>
          <a:prstGeom prst="rect">
            <a:avLst/>
          </a:prstGeom>
          <a:solidFill>
            <a:srgbClr val="1E5AA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53" name="Text 10"/>
          <p:cNvSpPr/>
          <p:nvPr/>
        </p:nvSpPr>
        <p:spPr>
          <a:xfrm>
            <a:off x="914400" y="1737360"/>
            <a:ext cx="1828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DCE6F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案例一</a:t>
            </a:r>
            <a:endParaRPr lang="en-US" sz="1600" dirty="0"/>
          </a:p>
        </p:txBody>
      </p:sp>
      <p:sp>
        <p:nvSpPr>
          <p:cNvPr id="654" name="Text 11"/>
          <p:cNvSpPr/>
          <p:nvPr/>
        </p:nvSpPr>
        <p:spPr>
          <a:xfrm>
            <a:off x="914400" y="2606040"/>
            <a:ext cx="2971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650" b="1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VBA 统计表格数据</a:t>
            </a:r>
            <a:endParaRPr lang="en-US" sz="1650" dirty="0"/>
          </a:p>
        </p:txBody>
      </p:sp>
      <p:sp>
        <p:nvSpPr>
          <p:cNvPr id="655" name="Shape 12"/>
          <p:cNvSpPr/>
          <p:nvPr/>
        </p:nvSpPr>
        <p:spPr>
          <a:xfrm>
            <a:off x="914400" y="3429000"/>
            <a:ext cx="1005840" cy="0"/>
          </a:xfrm>
          <a:prstGeom prst="line">
            <a:avLst/>
          </a:prstGeom>
          <a:noFill/>
          <a:ln w="22860">
            <a:solidFill>
              <a:srgbClr val="1E5AA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56" name="Text 13"/>
          <p:cNvSpPr/>
          <p:nvPr/>
        </p:nvSpPr>
        <p:spPr>
          <a:xfrm>
            <a:off x="914400" y="3639312"/>
            <a:ext cx="2971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5C67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重复性表格统计工作，用自然语言描述需求，AI 自动生成脚本——原本反复手动的操作，一秒完成。</a:t>
            </a:r>
            <a:endParaRPr lang="en-US" sz="1400" dirty="0"/>
          </a:p>
        </p:txBody>
      </p:sp>
      <p:sp>
        <p:nvSpPr>
          <p:cNvPr id="657" name="Shape 14"/>
          <p:cNvSpPr/>
          <p:nvPr/>
        </p:nvSpPr>
        <p:spPr>
          <a:xfrm>
            <a:off x="914400" y="5074920"/>
            <a:ext cx="1234440" cy="365760"/>
          </a:xfrm>
          <a:prstGeom prst="roundRect">
            <a:avLst>
              <a:gd name="adj" fmla="val 50000"/>
            </a:avLst>
          </a:prstGeom>
          <a:solidFill>
            <a:srgbClr val="1E5AA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58" name="Text 15"/>
          <p:cNvSpPr/>
          <p:nvPr/>
        </p:nvSpPr>
        <p:spPr>
          <a:xfrm>
            <a:off x="914400" y="5074920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现场演示</a:t>
            </a:r>
            <a:endParaRPr lang="en-US" sz="1050" dirty="0"/>
          </a:p>
        </p:txBody>
      </p:sp>
      <p:sp>
        <p:nvSpPr>
          <p:cNvPr id="659" name="Shape 16"/>
          <p:cNvSpPr/>
          <p:nvPr/>
        </p:nvSpPr>
        <p:spPr>
          <a:xfrm>
            <a:off x="4343400" y="1737360"/>
            <a:ext cx="3502152" cy="3977640"/>
          </a:xfrm>
          <a:prstGeom prst="roundRect">
            <a:avLst>
              <a:gd name="adj" fmla="val 2089"/>
            </a:avLst>
          </a:prstGeom>
          <a:solidFill>
            <a:srgbClr val="FFFFFF"/>
          </a:solidFill>
          <a:ln w="9525">
            <a:solidFill>
              <a:srgbClr val="D9DFE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60" name="Shape 17"/>
          <p:cNvSpPr/>
          <p:nvPr/>
        </p:nvSpPr>
        <p:spPr>
          <a:xfrm>
            <a:off x="4343400" y="1737360"/>
            <a:ext cx="3502152" cy="658368"/>
          </a:xfrm>
          <a:prstGeom prst="rect">
            <a:avLst/>
          </a:prstGeom>
          <a:solidFill>
            <a:srgbClr val="2E7D6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61" name="Text 18"/>
          <p:cNvSpPr/>
          <p:nvPr/>
        </p:nvSpPr>
        <p:spPr>
          <a:xfrm>
            <a:off x="4617720" y="1737360"/>
            <a:ext cx="1828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DCE6F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案例二</a:t>
            </a:r>
            <a:endParaRPr lang="en-US" sz="1600" dirty="0"/>
          </a:p>
        </p:txBody>
      </p:sp>
      <p:sp>
        <p:nvSpPr>
          <p:cNvPr id="662" name="Text 19"/>
          <p:cNvSpPr/>
          <p:nvPr/>
        </p:nvSpPr>
        <p:spPr>
          <a:xfrm>
            <a:off x="4617720" y="2606040"/>
            <a:ext cx="2971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650" b="1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WorkBuddy 音视频转文字</a:t>
            </a:r>
            <a:endParaRPr lang="en-US" sz="1650" dirty="0"/>
          </a:p>
        </p:txBody>
      </p:sp>
      <p:sp>
        <p:nvSpPr>
          <p:cNvPr id="663" name="Shape 20"/>
          <p:cNvSpPr/>
          <p:nvPr/>
        </p:nvSpPr>
        <p:spPr>
          <a:xfrm>
            <a:off x="4617720" y="3429000"/>
            <a:ext cx="1005840" cy="0"/>
          </a:xfrm>
          <a:prstGeom prst="line">
            <a:avLst/>
          </a:prstGeom>
          <a:noFill/>
          <a:ln w="22860">
            <a:solidFill>
              <a:srgbClr val="2E7D6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64" name="Text 21"/>
          <p:cNvSpPr/>
          <p:nvPr/>
        </p:nvSpPr>
        <p:spPr>
          <a:xfrm>
            <a:off x="4617720" y="3639312"/>
            <a:ext cx="2971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5C67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把会议录音、视频交给 AI 办公任务执行，自动转写并整理成可编辑的文字纪要。</a:t>
            </a:r>
            <a:endParaRPr lang="en-US" sz="1400" dirty="0"/>
          </a:p>
        </p:txBody>
      </p:sp>
      <p:sp>
        <p:nvSpPr>
          <p:cNvPr id="665" name="Shape 22"/>
          <p:cNvSpPr/>
          <p:nvPr/>
        </p:nvSpPr>
        <p:spPr>
          <a:xfrm>
            <a:off x="4617720" y="5074920"/>
            <a:ext cx="1234440" cy="365760"/>
          </a:xfrm>
          <a:prstGeom prst="roundRect">
            <a:avLst>
              <a:gd name="adj" fmla="val 50000"/>
            </a:avLst>
          </a:prstGeom>
          <a:solidFill>
            <a:srgbClr val="2E7D6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66" name="Text 23"/>
          <p:cNvSpPr/>
          <p:nvPr/>
        </p:nvSpPr>
        <p:spPr>
          <a:xfrm>
            <a:off x="4617720" y="5074920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现场演示</a:t>
            </a:r>
            <a:endParaRPr lang="en-US" sz="1050" dirty="0"/>
          </a:p>
        </p:txBody>
      </p:sp>
      <p:sp>
        <p:nvSpPr>
          <p:cNvPr id="667" name="Shape 24"/>
          <p:cNvSpPr/>
          <p:nvPr/>
        </p:nvSpPr>
        <p:spPr>
          <a:xfrm>
            <a:off x="8046720" y="1737360"/>
            <a:ext cx="3502152" cy="3977640"/>
          </a:xfrm>
          <a:prstGeom prst="roundRect">
            <a:avLst>
              <a:gd name="adj" fmla="val 2089"/>
            </a:avLst>
          </a:prstGeom>
          <a:solidFill>
            <a:srgbClr val="FFFFFF"/>
          </a:solidFill>
          <a:ln w="9525">
            <a:solidFill>
              <a:srgbClr val="D9DFE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68" name="Shape 25"/>
          <p:cNvSpPr/>
          <p:nvPr/>
        </p:nvSpPr>
        <p:spPr>
          <a:xfrm>
            <a:off x="8046720" y="1737360"/>
            <a:ext cx="3502152" cy="658368"/>
          </a:xfrm>
          <a:prstGeom prst="rect">
            <a:avLst/>
          </a:prstGeom>
          <a:solidFill>
            <a:srgbClr val="B78A3E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69" name="Text 26"/>
          <p:cNvSpPr/>
          <p:nvPr/>
        </p:nvSpPr>
        <p:spPr>
          <a:xfrm>
            <a:off x="8321040" y="1737360"/>
            <a:ext cx="1828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DCE6F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案例三</a:t>
            </a:r>
            <a:endParaRPr lang="en-US" sz="1600" dirty="0"/>
          </a:p>
        </p:txBody>
      </p:sp>
      <p:sp>
        <p:nvSpPr>
          <p:cNvPr id="670" name="Text 27"/>
          <p:cNvSpPr/>
          <p:nvPr/>
        </p:nvSpPr>
        <p:spPr>
          <a:xfrm>
            <a:off x="8321040" y="2606040"/>
            <a:ext cx="2971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650" b="1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Trae 网站开发</a:t>
            </a:r>
            <a:endParaRPr lang="en-US" sz="1650" dirty="0"/>
          </a:p>
        </p:txBody>
      </p:sp>
      <p:sp>
        <p:nvSpPr>
          <p:cNvPr id="671" name="Shape 28"/>
          <p:cNvSpPr/>
          <p:nvPr/>
        </p:nvSpPr>
        <p:spPr>
          <a:xfrm>
            <a:off x="8321040" y="3429000"/>
            <a:ext cx="1005840" cy="0"/>
          </a:xfrm>
          <a:prstGeom prst="line">
            <a:avLst/>
          </a:prstGeom>
          <a:noFill/>
          <a:ln w="22860">
            <a:solidFill>
              <a:srgbClr val="B78A3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72" name="Text 29"/>
          <p:cNvSpPr/>
          <p:nvPr/>
        </p:nvSpPr>
        <p:spPr>
          <a:xfrm>
            <a:off x="8321040" y="3639312"/>
            <a:ext cx="2971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5C67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只描述想要的网站，AI 理解任务、规划页面、编写代码，交付一个可以运行的网站原型。</a:t>
            </a:r>
            <a:endParaRPr lang="en-US" sz="1400" dirty="0"/>
          </a:p>
        </p:txBody>
      </p:sp>
      <p:sp>
        <p:nvSpPr>
          <p:cNvPr id="673" name="Shape 30"/>
          <p:cNvSpPr/>
          <p:nvPr/>
        </p:nvSpPr>
        <p:spPr>
          <a:xfrm>
            <a:off x="8321040" y="5074920"/>
            <a:ext cx="1234440" cy="365760"/>
          </a:xfrm>
          <a:prstGeom prst="roundRect">
            <a:avLst>
              <a:gd name="adj" fmla="val 50000"/>
            </a:avLst>
          </a:prstGeom>
          <a:solidFill>
            <a:srgbClr val="B78A3E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74" name="Text 31"/>
          <p:cNvSpPr/>
          <p:nvPr/>
        </p:nvSpPr>
        <p:spPr>
          <a:xfrm>
            <a:off x="8321040" y="5074920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现场演示</a:t>
            </a:r>
            <a:endParaRPr lang="en-US" sz="1050" dirty="0"/>
          </a:p>
        </p:txBody>
      </p:sp>
      <p:sp>
        <p:nvSpPr>
          <p:cNvPr id="675" name="Text 32"/>
          <p:cNvSpPr/>
          <p:nvPr/>
        </p:nvSpPr>
        <p:spPr>
          <a:xfrm>
            <a:off x="640080" y="5943600"/>
            <a:ext cx="109115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i="1" dirty="0">
                <a:solidFill>
                  <a:srgbClr val="8A94A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三个案例均以现场演示为准，展示 AI 如何从“一步步指挥”走向“自己规划和执行”。</a:t>
            </a:r>
            <a:endParaRPr lang="en-US" sz="9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6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7" name="Shape 0"/>
          <p:cNvSpPr/>
          <p:nvPr/>
        </p:nvSpPr>
        <p:spPr>
          <a:xfrm>
            <a:off x="640080" y="457200"/>
            <a:ext cx="82296" cy="219456"/>
          </a:xfrm>
          <a:prstGeom prst="rect">
            <a:avLst/>
          </a:prstGeom>
          <a:solidFill>
            <a:srgbClr val="1E5AA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78" name="Text 1"/>
          <p:cNvSpPr/>
          <p:nvPr/>
        </p:nvSpPr>
        <p:spPr>
          <a:xfrm>
            <a:off x="804672" y="42976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1E5AA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结尾 · 收束</a:t>
            </a:r>
            <a:endParaRPr lang="en-US" sz="1050" dirty="0"/>
          </a:p>
        </p:txBody>
      </p:sp>
      <p:sp>
        <p:nvSpPr>
          <p:cNvPr id="679" name="Text 2"/>
          <p:cNvSpPr/>
          <p:nvPr/>
        </p:nvSpPr>
        <p:spPr>
          <a:xfrm>
            <a:off x="640080" y="792000"/>
            <a:ext cx="1091153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如果只记一句话：先发现真问题，再带着问题用 AI</a:t>
            </a:r>
            <a:endParaRPr lang="en-US" sz="2200" dirty="0"/>
          </a:p>
        </p:txBody>
      </p:sp>
      <p:sp>
        <p:nvSpPr>
          <p:cNvPr id="680" name="Shape 3"/>
          <p:cNvSpPr/>
          <p:nvPr/>
        </p:nvSpPr>
        <p:spPr>
          <a:xfrm>
            <a:off x="640080" y="1298448"/>
            <a:ext cx="10911535" cy="0"/>
          </a:xfrm>
          <a:prstGeom prst="line">
            <a:avLst/>
          </a:prstGeom>
          <a:noFill/>
          <a:ln w="9525">
            <a:solidFill>
              <a:srgbClr val="D9DFE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81" name="Shape 4"/>
          <p:cNvSpPr/>
          <p:nvPr/>
        </p:nvSpPr>
        <p:spPr>
          <a:xfrm>
            <a:off x="640080" y="1298448"/>
            <a:ext cx="1280160" cy="0"/>
          </a:xfrm>
          <a:prstGeom prst="line">
            <a:avLst/>
          </a:prstGeom>
          <a:noFill/>
          <a:ln w="28575">
            <a:solidFill>
              <a:srgbClr val="1E5AA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82" name="Shape 5"/>
          <p:cNvSpPr/>
          <p:nvPr/>
        </p:nvSpPr>
        <p:spPr>
          <a:xfrm>
            <a:off x="640080" y="6455664"/>
            <a:ext cx="10911535" cy="0"/>
          </a:xfrm>
          <a:prstGeom prst="line">
            <a:avLst/>
          </a:prstGeom>
          <a:noFill/>
          <a:ln w="7620">
            <a:solidFill>
              <a:srgbClr val="D9DFE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83" name="Text 6"/>
          <p:cNvSpPr/>
          <p:nvPr/>
        </p:nvSpPr>
        <p:spPr>
          <a:xfrm>
            <a:off x="640080" y="651052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8A94A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分行批发业务 AI 赋能与行内外系统实战</a:t>
            </a:r>
            <a:endParaRPr lang="en-US" sz="800" dirty="0"/>
          </a:p>
        </p:txBody>
      </p:sp>
      <p:sp>
        <p:nvSpPr>
          <p:cNvPr id="684" name="Text 7"/>
          <p:cNvSpPr/>
          <p:nvPr/>
        </p:nvSpPr>
        <p:spPr>
          <a:xfrm>
            <a:off x="11109960" y="6492240"/>
            <a:ext cx="438912" cy="237744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8A94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</a:t>
            </a:r>
            <a:endParaRPr lang="en-US" sz="900" dirty="0"/>
          </a:p>
        </p:txBody>
      </p:sp>
      <p:sp>
        <p:nvSpPr>
          <p:cNvPr id="685" name="Shape 8"/>
          <p:cNvSpPr/>
          <p:nvPr/>
        </p:nvSpPr>
        <p:spPr>
          <a:xfrm>
            <a:off x="640080" y="1691640"/>
            <a:ext cx="2084832" cy="292608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9525">
            <a:solidFill>
              <a:srgbClr val="D9DFE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86" name="Shape 9"/>
          <p:cNvSpPr/>
          <p:nvPr/>
        </p:nvSpPr>
        <p:spPr>
          <a:xfrm>
            <a:off x="640080" y="1691640"/>
            <a:ext cx="2084832" cy="91440"/>
          </a:xfrm>
          <a:prstGeom prst="rect">
            <a:avLst/>
          </a:prstGeom>
          <a:solidFill>
            <a:srgbClr val="1E5AA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87" name="Text 10"/>
          <p:cNvSpPr/>
          <p:nvPr/>
        </p:nvSpPr>
        <p:spPr>
          <a:xfrm>
            <a:off x="841248" y="1965960"/>
            <a:ext cx="1645920" cy="548640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E5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600" dirty="0"/>
          </a:p>
        </p:txBody>
      </p:sp>
      <p:sp>
        <p:nvSpPr>
          <p:cNvPr id="688" name="Shape 11"/>
          <p:cNvSpPr/>
          <p:nvPr/>
        </p:nvSpPr>
        <p:spPr>
          <a:xfrm>
            <a:off x="859536" y="2670048"/>
            <a:ext cx="822960" cy="0"/>
          </a:xfrm>
          <a:prstGeom prst="line">
            <a:avLst/>
          </a:prstGeom>
          <a:noFill/>
          <a:ln w="19050">
            <a:solidFill>
              <a:srgbClr val="1E5AA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89" name="Text 12"/>
          <p:cNvSpPr/>
          <p:nvPr/>
        </p:nvSpPr>
        <p:spPr>
          <a:xfrm>
            <a:off x="841248" y="2834640"/>
            <a:ext cx="16824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认知 AI</a:t>
            </a:r>
            <a:endParaRPr lang="en-US" sz="2000" dirty="0"/>
          </a:p>
        </p:txBody>
      </p:sp>
      <p:sp>
        <p:nvSpPr>
          <p:cNvPr id="690" name="Text 13"/>
          <p:cNvSpPr/>
          <p:nvPr/>
        </p:nvSpPr>
        <p:spPr>
          <a:xfrm>
            <a:off x="841248" y="3273552"/>
            <a:ext cx="170078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5C67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大模型是底子，工具按任务选</a:t>
            </a:r>
            <a:endParaRPr lang="en-US" sz="1600" dirty="0"/>
          </a:p>
        </p:txBody>
      </p:sp>
      <p:sp>
        <p:nvSpPr>
          <p:cNvPr id="691" name="Shape 14"/>
          <p:cNvSpPr/>
          <p:nvPr/>
        </p:nvSpPr>
        <p:spPr>
          <a:xfrm>
            <a:off x="2846527" y="1691640"/>
            <a:ext cx="2084832" cy="292608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9525">
            <a:solidFill>
              <a:srgbClr val="D9DFE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92" name="Shape 15"/>
          <p:cNvSpPr/>
          <p:nvPr/>
        </p:nvSpPr>
        <p:spPr>
          <a:xfrm>
            <a:off x="2846527" y="1691640"/>
            <a:ext cx="2084832" cy="91440"/>
          </a:xfrm>
          <a:prstGeom prst="rect">
            <a:avLst/>
          </a:prstGeom>
          <a:solidFill>
            <a:srgbClr val="1B467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93" name="Text 16"/>
          <p:cNvSpPr/>
          <p:nvPr/>
        </p:nvSpPr>
        <p:spPr>
          <a:xfrm>
            <a:off x="3047695" y="1965960"/>
            <a:ext cx="1645920" cy="548640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B46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600" dirty="0"/>
          </a:p>
        </p:txBody>
      </p:sp>
      <p:sp>
        <p:nvSpPr>
          <p:cNvPr id="694" name="Shape 17"/>
          <p:cNvSpPr/>
          <p:nvPr/>
        </p:nvSpPr>
        <p:spPr>
          <a:xfrm>
            <a:off x="3065983" y="2670048"/>
            <a:ext cx="822960" cy="0"/>
          </a:xfrm>
          <a:prstGeom prst="line">
            <a:avLst/>
          </a:prstGeom>
          <a:noFill/>
          <a:ln w="19050">
            <a:solidFill>
              <a:srgbClr val="1B467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95" name="Text 18"/>
          <p:cNvSpPr/>
          <p:nvPr/>
        </p:nvSpPr>
        <p:spPr>
          <a:xfrm>
            <a:off x="3047695" y="2834640"/>
            <a:ext cx="16824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学习方法</a:t>
            </a:r>
            <a:endParaRPr lang="en-US" sz="2000" dirty="0"/>
          </a:p>
        </p:txBody>
      </p:sp>
      <p:sp>
        <p:nvSpPr>
          <p:cNvPr id="696" name="Text 19"/>
          <p:cNvSpPr/>
          <p:nvPr/>
        </p:nvSpPr>
        <p:spPr>
          <a:xfrm>
            <a:off x="3047695" y="3273552"/>
            <a:ext cx="170078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5C67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从“给我一个答案”到“一起把事情做好”</a:t>
            </a:r>
            <a:endParaRPr lang="en-US" sz="1600" dirty="0"/>
          </a:p>
        </p:txBody>
      </p:sp>
      <p:sp>
        <p:nvSpPr>
          <p:cNvPr id="697" name="Shape 20"/>
          <p:cNvSpPr/>
          <p:nvPr/>
        </p:nvSpPr>
        <p:spPr>
          <a:xfrm>
            <a:off x="5052974" y="1691640"/>
            <a:ext cx="2084832" cy="292608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9525">
            <a:solidFill>
              <a:srgbClr val="D9DFE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98" name="Shape 21"/>
          <p:cNvSpPr/>
          <p:nvPr/>
        </p:nvSpPr>
        <p:spPr>
          <a:xfrm>
            <a:off x="5052974" y="1691640"/>
            <a:ext cx="2084832" cy="91440"/>
          </a:xfrm>
          <a:prstGeom prst="rect">
            <a:avLst/>
          </a:prstGeom>
          <a:solidFill>
            <a:srgbClr val="2E7D6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99" name="Text 22"/>
          <p:cNvSpPr/>
          <p:nvPr/>
        </p:nvSpPr>
        <p:spPr>
          <a:xfrm>
            <a:off x="5254142" y="1965960"/>
            <a:ext cx="1645920" cy="548640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2E7D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600" dirty="0"/>
          </a:p>
        </p:txBody>
      </p:sp>
      <p:sp>
        <p:nvSpPr>
          <p:cNvPr id="700" name="Shape 23"/>
          <p:cNvSpPr/>
          <p:nvPr/>
        </p:nvSpPr>
        <p:spPr>
          <a:xfrm>
            <a:off x="5272430" y="2670048"/>
            <a:ext cx="822960" cy="0"/>
          </a:xfrm>
          <a:prstGeom prst="line">
            <a:avLst/>
          </a:prstGeom>
          <a:noFill/>
          <a:ln w="19050">
            <a:solidFill>
              <a:srgbClr val="2E7D6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01" name="Text 24"/>
          <p:cNvSpPr/>
          <p:nvPr/>
        </p:nvSpPr>
        <p:spPr>
          <a:xfrm>
            <a:off x="5254142" y="2834640"/>
            <a:ext cx="16824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守住边界</a:t>
            </a:r>
            <a:endParaRPr lang="en-US" sz="2000" dirty="0"/>
          </a:p>
        </p:txBody>
      </p:sp>
      <p:sp>
        <p:nvSpPr>
          <p:cNvPr id="702" name="Text 25"/>
          <p:cNvSpPr/>
          <p:nvPr/>
        </p:nvSpPr>
        <p:spPr>
          <a:xfrm>
            <a:off x="5254142" y="3273552"/>
            <a:ext cx="170078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5C67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数据、事实、决策、系统四道边界</a:t>
            </a:r>
            <a:endParaRPr lang="en-US" sz="1600" dirty="0"/>
          </a:p>
        </p:txBody>
      </p:sp>
      <p:sp>
        <p:nvSpPr>
          <p:cNvPr id="703" name="Shape 26"/>
          <p:cNvSpPr/>
          <p:nvPr/>
        </p:nvSpPr>
        <p:spPr>
          <a:xfrm>
            <a:off x="7259422" y="1691640"/>
            <a:ext cx="2084832" cy="292608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9525">
            <a:solidFill>
              <a:srgbClr val="D9DFE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04" name="Shape 27"/>
          <p:cNvSpPr/>
          <p:nvPr/>
        </p:nvSpPr>
        <p:spPr>
          <a:xfrm>
            <a:off x="7259422" y="1691640"/>
            <a:ext cx="2084832" cy="91440"/>
          </a:xfrm>
          <a:prstGeom prst="rect">
            <a:avLst/>
          </a:prstGeom>
          <a:solidFill>
            <a:srgbClr val="B78A3E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05" name="Text 28"/>
          <p:cNvSpPr/>
          <p:nvPr/>
        </p:nvSpPr>
        <p:spPr>
          <a:xfrm>
            <a:off x="7460590" y="1965960"/>
            <a:ext cx="1645920" cy="548640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B78A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2600" dirty="0"/>
          </a:p>
        </p:txBody>
      </p:sp>
      <p:sp>
        <p:nvSpPr>
          <p:cNvPr id="706" name="Shape 29"/>
          <p:cNvSpPr/>
          <p:nvPr/>
        </p:nvSpPr>
        <p:spPr>
          <a:xfrm>
            <a:off x="7478878" y="2670048"/>
            <a:ext cx="822960" cy="0"/>
          </a:xfrm>
          <a:prstGeom prst="line">
            <a:avLst/>
          </a:prstGeom>
          <a:noFill/>
          <a:ln w="19050">
            <a:solidFill>
              <a:srgbClr val="B78A3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07" name="Text 30"/>
          <p:cNvSpPr/>
          <p:nvPr/>
        </p:nvSpPr>
        <p:spPr>
          <a:xfrm>
            <a:off x="7460590" y="2834640"/>
            <a:ext cx="16824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行内产品</a:t>
            </a:r>
            <a:endParaRPr lang="en-US" sz="2000" dirty="0"/>
          </a:p>
        </p:txBody>
      </p:sp>
      <p:sp>
        <p:nvSpPr>
          <p:cNvPr id="708" name="Text 31"/>
          <p:cNvSpPr/>
          <p:nvPr/>
        </p:nvSpPr>
        <p:spPr>
          <a:xfrm>
            <a:off x="7460590" y="3273552"/>
            <a:ext cx="170078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5C67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在合规环境里放大能力</a:t>
            </a:r>
            <a:endParaRPr lang="en-US" sz="1600" dirty="0"/>
          </a:p>
        </p:txBody>
      </p:sp>
      <p:sp>
        <p:nvSpPr>
          <p:cNvPr id="709" name="Shape 32"/>
          <p:cNvSpPr/>
          <p:nvPr/>
        </p:nvSpPr>
        <p:spPr>
          <a:xfrm>
            <a:off x="9465869" y="1691640"/>
            <a:ext cx="2084832" cy="292608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9525">
            <a:solidFill>
              <a:srgbClr val="D9DFE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10" name="Shape 33"/>
          <p:cNvSpPr/>
          <p:nvPr/>
        </p:nvSpPr>
        <p:spPr>
          <a:xfrm>
            <a:off x="9465869" y="1691640"/>
            <a:ext cx="2084832" cy="91440"/>
          </a:xfrm>
          <a:prstGeom prst="rect">
            <a:avLst/>
          </a:prstGeom>
          <a:solidFill>
            <a:srgbClr val="8A6A35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11" name="Text 34"/>
          <p:cNvSpPr/>
          <p:nvPr/>
        </p:nvSpPr>
        <p:spPr>
          <a:xfrm>
            <a:off x="9667037" y="1965960"/>
            <a:ext cx="1645920" cy="548640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8A6A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2600" dirty="0"/>
          </a:p>
        </p:txBody>
      </p:sp>
      <p:sp>
        <p:nvSpPr>
          <p:cNvPr id="712" name="Shape 35"/>
          <p:cNvSpPr/>
          <p:nvPr/>
        </p:nvSpPr>
        <p:spPr>
          <a:xfrm>
            <a:off x="9685325" y="2670048"/>
            <a:ext cx="822960" cy="0"/>
          </a:xfrm>
          <a:prstGeom prst="line">
            <a:avLst/>
          </a:prstGeom>
          <a:noFill/>
          <a:ln w="19050">
            <a:solidFill>
              <a:srgbClr val="8A6A3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13" name="Text 36"/>
          <p:cNvSpPr/>
          <p:nvPr/>
        </p:nvSpPr>
        <p:spPr>
          <a:xfrm>
            <a:off x="9667037" y="2834640"/>
            <a:ext cx="16824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实战进阶</a:t>
            </a:r>
            <a:endParaRPr lang="en-US" sz="2000" dirty="0"/>
          </a:p>
        </p:txBody>
      </p:sp>
      <p:sp>
        <p:nvSpPr>
          <p:cNvPr id="714" name="Text 37"/>
          <p:cNvSpPr/>
          <p:nvPr/>
        </p:nvSpPr>
        <p:spPr>
          <a:xfrm>
            <a:off x="9667037" y="3273552"/>
            <a:ext cx="170078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5C67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 AI 自己规划、执行、形成成果</a:t>
            </a:r>
            <a:endParaRPr lang="en-US" sz="1600" dirty="0"/>
          </a:p>
        </p:txBody>
      </p:sp>
      <p:sp>
        <p:nvSpPr>
          <p:cNvPr id="715" name="Shape 38"/>
          <p:cNvSpPr/>
          <p:nvPr/>
        </p:nvSpPr>
        <p:spPr>
          <a:xfrm>
            <a:off x="640080" y="4983480"/>
            <a:ext cx="10911535" cy="868680"/>
          </a:xfrm>
          <a:prstGeom prst="rect">
            <a:avLst/>
          </a:prstGeom>
          <a:solidFill>
            <a:srgbClr val="10345E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16" name="Shape 39"/>
          <p:cNvSpPr/>
          <p:nvPr/>
        </p:nvSpPr>
        <p:spPr>
          <a:xfrm>
            <a:off x="640080" y="4983480"/>
            <a:ext cx="73152" cy="868680"/>
          </a:xfrm>
          <a:prstGeom prst="rect">
            <a:avLst/>
          </a:prstGeom>
          <a:solidFill>
            <a:srgbClr val="B78A3E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17" name="Text 40"/>
          <p:cNvSpPr/>
          <p:nvPr/>
        </p:nvSpPr>
        <p:spPr>
          <a:xfrm>
            <a:off x="896112" y="4983480"/>
            <a:ext cx="1045433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行动建议：找一件最耗时间、最重复、最需要动脑的事，</a:t>
            </a:r>
            <a:r>
              <a:rPr lang="zh-CN" alt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</a:t>
            </a:r>
            <a:r>
              <a:rPr lang="en-US" altLang="zh-CN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</a:t>
            </a: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试</a:t>
            </a:r>
            <a:r>
              <a:rPr lang="zh-CN" alt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着处理</a:t>
            </a: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r>
              <a:rPr lang="en-US" altLang="zh-CN" sz="1600" b="1" dirty="0">
                <a:solidFill>
                  <a:schemeClr val="bg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做完之后，你会有属于自己的答案。</a:t>
            </a:r>
            <a:endParaRPr lang="en-US" altLang="zh-CN" sz="1600" b="1" dirty="0">
              <a:solidFill>
                <a:schemeClr val="bg1"/>
              </a:solidFill>
            </a:endParaRPr>
          </a:p>
          <a:p>
            <a:pPr marL="0" indent="0">
              <a:lnSpc>
                <a:spcPct val="110000"/>
              </a:lnSpc>
              <a:buNone/>
            </a:pPr>
            <a:endParaRPr lang="en-US" sz="1500" dirty="0"/>
          </a:p>
        </p:txBody>
      </p:sp>
      <p:sp>
        <p:nvSpPr>
          <p:cNvPr id="718" name="Text 41"/>
          <p:cNvSpPr/>
          <p:nvPr/>
        </p:nvSpPr>
        <p:spPr>
          <a:xfrm>
            <a:off x="640080" y="5989320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endParaRPr lang="en-US" sz="12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6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0" name="Shape 0"/>
          <p:cNvSpPr/>
          <p:nvPr/>
        </p:nvSpPr>
        <p:spPr>
          <a:xfrm>
            <a:off x="640080" y="457200"/>
            <a:ext cx="82296" cy="219456"/>
          </a:xfrm>
          <a:prstGeom prst="rect">
            <a:avLst/>
          </a:prstGeom>
          <a:solidFill>
            <a:srgbClr val="1E5AA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21" name="Text 1"/>
          <p:cNvSpPr/>
          <p:nvPr/>
        </p:nvSpPr>
        <p:spPr>
          <a:xfrm>
            <a:off x="804672" y="42976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1E5AA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结尾 · 收束</a:t>
            </a:r>
            <a:endParaRPr lang="en-US" sz="1050" dirty="0"/>
          </a:p>
        </p:txBody>
      </p:sp>
      <p:sp>
        <p:nvSpPr>
          <p:cNvPr id="722" name="Text 2"/>
          <p:cNvSpPr/>
          <p:nvPr/>
        </p:nvSpPr>
        <p:spPr>
          <a:xfrm>
            <a:off x="640080" y="792000"/>
            <a:ext cx="1091153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请记住这四句话</a:t>
            </a:r>
            <a:endParaRPr lang="en-US" sz="2200" dirty="0"/>
          </a:p>
        </p:txBody>
      </p:sp>
      <p:sp>
        <p:nvSpPr>
          <p:cNvPr id="723" name="Shape 3"/>
          <p:cNvSpPr/>
          <p:nvPr/>
        </p:nvSpPr>
        <p:spPr>
          <a:xfrm>
            <a:off x="640080" y="1298448"/>
            <a:ext cx="10911535" cy="0"/>
          </a:xfrm>
          <a:prstGeom prst="line">
            <a:avLst/>
          </a:prstGeom>
          <a:noFill/>
          <a:ln w="9525">
            <a:solidFill>
              <a:srgbClr val="D9DFE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24" name="Shape 4"/>
          <p:cNvSpPr/>
          <p:nvPr/>
        </p:nvSpPr>
        <p:spPr>
          <a:xfrm>
            <a:off x="640080" y="1298448"/>
            <a:ext cx="1280160" cy="0"/>
          </a:xfrm>
          <a:prstGeom prst="line">
            <a:avLst/>
          </a:prstGeom>
          <a:noFill/>
          <a:ln w="28575">
            <a:solidFill>
              <a:srgbClr val="1E5AA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25" name="Shape 5"/>
          <p:cNvSpPr/>
          <p:nvPr/>
        </p:nvSpPr>
        <p:spPr>
          <a:xfrm>
            <a:off x="640080" y="6455664"/>
            <a:ext cx="10911535" cy="0"/>
          </a:xfrm>
          <a:prstGeom prst="line">
            <a:avLst/>
          </a:prstGeom>
          <a:noFill/>
          <a:ln w="7620">
            <a:solidFill>
              <a:srgbClr val="D9DFE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26" name="Text 6"/>
          <p:cNvSpPr/>
          <p:nvPr/>
        </p:nvSpPr>
        <p:spPr>
          <a:xfrm>
            <a:off x="640080" y="651052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8A94A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分行批发业务 AI 赋能与行内外系统实战</a:t>
            </a:r>
            <a:endParaRPr lang="en-US" sz="800" dirty="0"/>
          </a:p>
        </p:txBody>
      </p:sp>
      <p:sp>
        <p:nvSpPr>
          <p:cNvPr id="727" name="Text 7"/>
          <p:cNvSpPr/>
          <p:nvPr/>
        </p:nvSpPr>
        <p:spPr>
          <a:xfrm>
            <a:off x="11109960" y="6492240"/>
            <a:ext cx="438912" cy="237744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8A94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37</a:t>
            </a:r>
            <a:endParaRPr lang="en-US" sz="900" dirty="0"/>
          </a:p>
        </p:txBody>
      </p:sp>
      <p:sp>
        <p:nvSpPr>
          <p:cNvPr id="728" name="Shape 8"/>
          <p:cNvSpPr/>
          <p:nvPr/>
        </p:nvSpPr>
        <p:spPr>
          <a:xfrm>
            <a:off x="640080" y="1572768"/>
            <a:ext cx="10911535" cy="786384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 w="9525">
            <a:solidFill>
              <a:srgbClr val="D9DFE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29" name="Shape 9"/>
          <p:cNvSpPr/>
          <p:nvPr/>
        </p:nvSpPr>
        <p:spPr>
          <a:xfrm>
            <a:off x="640080" y="1572768"/>
            <a:ext cx="91440" cy="786384"/>
          </a:xfrm>
          <a:prstGeom prst="rect">
            <a:avLst/>
          </a:prstGeom>
          <a:solidFill>
            <a:srgbClr val="1E5AA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30" name="Shape 10"/>
          <p:cNvSpPr/>
          <p:nvPr/>
        </p:nvSpPr>
        <p:spPr>
          <a:xfrm>
            <a:off x="960120" y="1728216"/>
            <a:ext cx="1554480" cy="475488"/>
          </a:xfrm>
          <a:prstGeom prst="roundRect">
            <a:avLst>
              <a:gd name="adj" fmla="val 15385"/>
            </a:avLst>
          </a:prstGeom>
          <a:solidFill>
            <a:srgbClr val="1E5AA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31" name="Text 11"/>
          <p:cNvSpPr/>
          <p:nvPr/>
        </p:nvSpPr>
        <p:spPr>
          <a:xfrm>
            <a:off x="960120" y="1728216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数据边界</a:t>
            </a:r>
            <a:endParaRPr lang="en-US" sz="1350" dirty="0"/>
          </a:p>
        </p:txBody>
      </p:sp>
      <p:sp>
        <p:nvSpPr>
          <p:cNvPr id="732" name="Text 12"/>
          <p:cNvSpPr/>
          <p:nvPr/>
        </p:nvSpPr>
        <p:spPr>
          <a:xfrm>
            <a:off x="2788920" y="1572768"/>
            <a:ext cx="84124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先确认能不能给，再考虑怎么给。</a:t>
            </a:r>
            <a:endParaRPr lang="en-US" sz="1500" dirty="0"/>
          </a:p>
        </p:txBody>
      </p:sp>
      <p:sp>
        <p:nvSpPr>
          <p:cNvPr id="733" name="Shape 13"/>
          <p:cNvSpPr/>
          <p:nvPr/>
        </p:nvSpPr>
        <p:spPr>
          <a:xfrm>
            <a:off x="640080" y="2532888"/>
            <a:ext cx="10911535" cy="786384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 w="9525">
            <a:solidFill>
              <a:srgbClr val="D9DFE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34" name="Shape 14"/>
          <p:cNvSpPr/>
          <p:nvPr/>
        </p:nvSpPr>
        <p:spPr>
          <a:xfrm>
            <a:off x="640080" y="2532888"/>
            <a:ext cx="91440" cy="786384"/>
          </a:xfrm>
          <a:prstGeom prst="rect">
            <a:avLst/>
          </a:prstGeom>
          <a:solidFill>
            <a:srgbClr val="1B467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35" name="Shape 15"/>
          <p:cNvSpPr/>
          <p:nvPr/>
        </p:nvSpPr>
        <p:spPr>
          <a:xfrm>
            <a:off x="960120" y="2688336"/>
            <a:ext cx="1554480" cy="475488"/>
          </a:xfrm>
          <a:prstGeom prst="roundRect">
            <a:avLst>
              <a:gd name="adj" fmla="val 15385"/>
            </a:avLst>
          </a:prstGeom>
          <a:solidFill>
            <a:srgbClr val="1B467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36" name="Text 16"/>
          <p:cNvSpPr/>
          <p:nvPr/>
        </p:nvSpPr>
        <p:spPr>
          <a:xfrm>
            <a:off x="960120" y="2688336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事实边界</a:t>
            </a:r>
            <a:endParaRPr lang="en-US" sz="1350" dirty="0"/>
          </a:p>
        </p:txBody>
      </p:sp>
      <p:sp>
        <p:nvSpPr>
          <p:cNvPr id="737" name="Text 17"/>
          <p:cNvSpPr/>
          <p:nvPr/>
        </p:nvSpPr>
        <p:spPr>
          <a:xfrm>
            <a:off x="2788920" y="2532888"/>
            <a:ext cx="84124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可以找线索，但不能替我们证明事实。</a:t>
            </a:r>
            <a:endParaRPr lang="en-US" sz="1500" dirty="0"/>
          </a:p>
        </p:txBody>
      </p:sp>
      <p:sp>
        <p:nvSpPr>
          <p:cNvPr id="738" name="Shape 18"/>
          <p:cNvSpPr/>
          <p:nvPr/>
        </p:nvSpPr>
        <p:spPr>
          <a:xfrm>
            <a:off x="640080" y="3493008"/>
            <a:ext cx="10911535" cy="786384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 w="9525">
            <a:solidFill>
              <a:srgbClr val="D9DFE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39" name="Shape 19"/>
          <p:cNvSpPr/>
          <p:nvPr/>
        </p:nvSpPr>
        <p:spPr>
          <a:xfrm>
            <a:off x="640080" y="3493008"/>
            <a:ext cx="91440" cy="786384"/>
          </a:xfrm>
          <a:prstGeom prst="rect">
            <a:avLst/>
          </a:prstGeom>
          <a:solidFill>
            <a:srgbClr val="B78A3E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40" name="Shape 20"/>
          <p:cNvSpPr/>
          <p:nvPr/>
        </p:nvSpPr>
        <p:spPr>
          <a:xfrm>
            <a:off x="960120" y="3648456"/>
            <a:ext cx="1554480" cy="475488"/>
          </a:xfrm>
          <a:prstGeom prst="roundRect">
            <a:avLst>
              <a:gd name="adj" fmla="val 15385"/>
            </a:avLst>
          </a:prstGeom>
          <a:solidFill>
            <a:srgbClr val="B78A3E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41" name="Text 21"/>
          <p:cNvSpPr/>
          <p:nvPr/>
        </p:nvSpPr>
        <p:spPr>
          <a:xfrm>
            <a:off x="960120" y="3648456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决策边界</a:t>
            </a:r>
            <a:endParaRPr lang="en-US" sz="1350" dirty="0"/>
          </a:p>
        </p:txBody>
      </p:sp>
      <p:sp>
        <p:nvSpPr>
          <p:cNvPr id="742" name="Text 22"/>
          <p:cNvSpPr/>
          <p:nvPr/>
        </p:nvSpPr>
        <p:spPr>
          <a:xfrm>
            <a:off x="2788920" y="3493008"/>
            <a:ext cx="84124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负责辅助，人负责拍板。</a:t>
            </a:r>
            <a:endParaRPr lang="en-US" sz="1500" dirty="0"/>
          </a:p>
        </p:txBody>
      </p:sp>
      <p:sp>
        <p:nvSpPr>
          <p:cNvPr id="743" name="Shape 23"/>
          <p:cNvSpPr/>
          <p:nvPr/>
        </p:nvSpPr>
        <p:spPr>
          <a:xfrm>
            <a:off x="640080" y="4453128"/>
            <a:ext cx="10911535" cy="786384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 w="9525">
            <a:solidFill>
              <a:srgbClr val="D9DFE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44" name="Shape 24"/>
          <p:cNvSpPr/>
          <p:nvPr/>
        </p:nvSpPr>
        <p:spPr>
          <a:xfrm>
            <a:off x="640080" y="4453128"/>
            <a:ext cx="91440" cy="786384"/>
          </a:xfrm>
          <a:prstGeom prst="rect">
            <a:avLst/>
          </a:prstGeom>
          <a:solidFill>
            <a:srgbClr val="2E7D6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45" name="Shape 25"/>
          <p:cNvSpPr/>
          <p:nvPr/>
        </p:nvSpPr>
        <p:spPr>
          <a:xfrm>
            <a:off x="960120" y="4608576"/>
            <a:ext cx="1554480" cy="475488"/>
          </a:xfrm>
          <a:prstGeom prst="roundRect">
            <a:avLst>
              <a:gd name="adj" fmla="val 15385"/>
            </a:avLst>
          </a:prstGeom>
          <a:solidFill>
            <a:srgbClr val="2E7D6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46" name="Text 26"/>
          <p:cNvSpPr/>
          <p:nvPr/>
        </p:nvSpPr>
        <p:spPr>
          <a:xfrm>
            <a:off x="960120" y="4608576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系统边界</a:t>
            </a:r>
            <a:endParaRPr lang="en-US" sz="1350" dirty="0"/>
          </a:p>
        </p:txBody>
      </p:sp>
      <p:sp>
        <p:nvSpPr>
          <p:cNvPr id="747" name="Text 27"/>
          <p:cNvSpPr/>
          <p:nvPr/>
        </p:nvSpPr>
        <p:spPr>
          <a:xfrm>
            <a:off x="2788920" y="4453128"/>
            <a:ext cx="84124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 err="1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行内允许用什么，就用什么</a:t>
            </a:r>
            <a:r>
              <a:rPr lang="en-US" sz="1500" b="1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5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9" name="图片 2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45</TotalTime>
  <Words>3057</Words>
  <Application>Microsoft Office PowerPoint</Application>
  <PresentationFormat>宽屏</PresentationFormat>
  <Paragraphs>702</Paragraphs>
  <Slides>36</Slides>
  <Notes>36</Notes>
  <HiddenSlides>0</HiddenSlides>
  <MMClips>1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36</vt:i4>
      </vt:variant>
    </vt:vector>
  </HeadingPairs>
  <TitlesOfParts>
    <vt:vector size="40" baseType="lpstr">
      <vt:lpstr>等线</vt:lpstr>
      <vt:lpstr>Microsoft YaHei</vt:lpstr>
      <vt:lpstr>Arial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cp:lastModifiedBy>zou benhan</cp:lastModifiedBy>
  <cp:revision>10</cp:revision>
  <dcterms:created xsi:type="dcterms:W3CDTF">2026-10-18T00:09:54Z</dcterms:created>
  <dcterms:modified xsi:type="dcterms:W3CDTF">2026-10-18T02:06:49Z</dcterms:modified>
</cp:coreProperties>
</file>